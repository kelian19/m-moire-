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[0:20] Ne pas lire la slide. Se presenter, annoncer la duree, et poser la</a:t>
            </a:r>
          </a:p>
          <a:p>
            <a:r>
              <a:t>question tout de suite : combien coute en capital de ne pas se conformer a DORA,</a:t>
            </a:r>
          </a:p>
          <a:p>
            <a:r>
              <a:t>et jusqu'ou ce chiffre peut-il etre affirme.</a:t>
            </a:r>
          </a:p>
          <a:p>
            <a:r>
              <a:t>La date entre crochets est a renseigner avant la soutenance.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[0:25] Annoncer le plan en six temps et la duree de chacun, puis passer. Ne pas</a:t>
            </a:r>
          </a:p>
          <a:p>
            <a:r>
              <a:t>commenter les entrees une par une : le jury les relira sur le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[1:30] Le point a faire passer est le MAILLON MANQUANT, pas le reglement. DORA</a:t>
            </a:r>
          </a:p>
          <a:p>
            <a:r>
              <a:t>impose la maitrise de cinq domaines depuis janvier 2025. Aucun module prudentiel</a:t>
            </a:r>
          </a:p>
          <a:p>
            <a:r>
              <a:t>ne traduit ce niveau de maitrise en capital : la Formule Standard charge le</a:t>
            </a:r>
          </a:p>
          <a:p>
            <a:r>
              <a:t>risque operationnel par un pourcentage de primes ou de provisions, donc elle donne</a:t>
            </a:r>
          </a:p>
          <a:p>
            <a:r>
              <a:t>le meme chiffre a une entite exemplaire et a une entite defaillante.</a:t>
            </a:r>
          </a:p>
          <a:p>
            <a:r>
              <a:t>Dire « besoin de capital ORSA au titre de DORA », jamais « le SCR DORA ».</a:t>
            </a:r>
          </a:p>
          <a:p>
            <a:r>
              <a:t>Transition : « la question de ce memoire est donc celle du maillon du milieu.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[1:20] Insister sur la SECONDE moitie de la question. Beaucoup de memoires</a:t>
            </a:r>
          </a:p>
          <a:p>
            <a:r>
              <a:t>repondent a la premiere. Celui-ci mesure aussi ce qu'il ne peut pas affirmer, et</a:t>
            </a:r>
          </a:p>
          <a:p>
            <a:r>
              <a:t>c'est ce qui produit la contribution.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[1:00] Ne PAS reciter le reglement. Le seul point : ce sont des domaines de</a:t>
            </a:r>
          </a:p>
          <a:p>
            <a:r>
              <a:t>CONTROLE, et ils interagissent. Les deux piliers en rouge, gouvernance et tiers,</a:t>
            </a:r>
          </a:p>
          <a:p>
            <a:r>
              <a:t>sont ceux qui emettent le plus dans la matrice calibree. Si on demande pourquoi,</a:t>
            </a:r>
          </a:p>
          <a:p>
            <a:r>
              <a:t>la reponse est au chapitre 6 et la figure est en sauvegarde.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[1:30] C'est la slide qui PREPARE le coeur. Annoncer les deux colonnes, et</a:t>
            </a:r>
          </a:p>
          <a:p>
            <a:r>
              <a:t>surtout dire que la colonne de droite n'est pas un manque de donnees a combler</a:t>
            </a:r>
          </a:p>
          <a:p>
            <a:r>
              <a:t>par plus de donnees du meme type : elle est structurelle. La demonstration</a:t>
            </a:r>
          </a:p>
          <a:p>
            <a:r>
              <a:t>arrive deux slides plus loin.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[1:30] Donner la chaine complete en une fois, sans notation. Le point a ne pas</a:t>
            </a:r>
          </a:p>
          <a:p>
            <a:r>
              <a:t>rater : deux canaux CALIBRABLES, deux canaux BORNES. C'est la distinction qui</a:t>
            </a:r>
          </a:p>
          <a:p>
            <a:r>
              <a:t>revient a la fin sur les limites, et c'est elle qui interdit d'additionner les</a:t>
            </a:r>
          </a:p>
          <a:p>
            <a:r>
              <a:t>quatre leviers pour chiffrer une remediation partielle.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[1:30] Le point intuitif : une gouvernance defaillante retarde la detection des</a:t>
            </a:r>
          </a:p>
          <a:p>
            <a:r>
              <a:t>incidents ; l'inverse n'est pas vrai au meme degre. Une dependance symetrique</a:t>
            </a:r>
          </a:p>
          <a:p>
            <a:r>
              <a:t>donne le meme nombre dans les deux sens, donc elle ne peut pas servir a</a:t>
            </a:r>
          </a:p>
          <a:p>
            <a:r>
              <a:t>prioriser une remediation. La cascade, si.</a:t>
            </a:r>
          </a:p>
          <a:p>
            <a:r>
              <a:t>Ne PAS entrer dans la normalisation de Leontief : slide de sauvegarde.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[2:00] LA SLIDE DU MEMOIRE. Prendre le temps.</a:t>
            </a:r>
          </a:p>
          <a:p>
            <a:r>
              <a:t>Trois phrases : la matrice se decompose en symetrique plus antisymetrique ; la</a:t>
            </a:r>
          </a:p>
          <a:p>
            <a:r>
              <a:t>donnee identifie la co-occurrence, donc la partie symetrique ; une matrice et sa</a:t>
            </a:r>
          </a:p>
          <a:p>
            <a:r>
              <a:t>transposee sont indistinguables pour la donnee et donnent pourtant un capital et</a:t>
            </a:r>
          </a:p>
          <a:p>
            <a:r>
              <a:t>une decision DIFFERENTS.</a:t>
            </a:r>
          </a:p>
          <a:p>
            <a:r>
              <a:t>Dire explicitement : ce n'est pas un echec, c'est un resultat d'identification.</a:t>
            </a:r>
          </a:p>
          <a:p>
            <a:r>
              <a:t>Transition : « la question devient donc : que publie-t-on quand on ne peut pas</a:t>
            </a:r>
          </a:p>
          <a:p>
            <a:r>
              <a:t>identifier ? 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[2:00] Le mecanisme : plutot que de poser la direction, on borne le capital sur</a:t>
            </a:r>
          </a:p>
          <a:p>
            <a:r>
              <a:t>l'ENSEMBLE des matrices compatibles avec ce que la donnee identifie. 1 024</a:t>
            </a:r>
          </a:p>
          <a:p>
            <a:r>
              <a:t>sommets, enumeration exhaustive, donc pas un echantillonnage.</a:t>
            </a:r>
          </a:p>
          <a:p>
            <a:r>
              <a:t>Le point qui plait a un jury : le cout de l'ignorance est LINEAIRE et son maximum</a:t>
            </a:r>
          </a:p>
          <a:p>
            <a:r>
              <a:t>est connu d'avance, ce qui est plus favorable qu'un intervalle de confiance</a:t>
            </a:r>
          </a:p>
          <a:p>
            <a:r>
              <a:t>ordinaire.</a:t>
            </a:r>
          </a:p>
          <a:p>
            <a:r>
              <a:t>Precaution a exprimer : le NIVEAU affiche est illustratif ; c'est le rapport et la</a:t>
            </a:r>
          </a:p>
          <a:p>
            <a:r>
              <a:t>hierarchie qui sont defendus.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[1:40] Trois nombres, pas plus : 9 138, 14 139, 5 001.</a:t>
            </a:r>
          </a:p>
          <a:p>
            <a:r>
              <a:t>Dire d'abord AU SECTEUR. Sans ce mot, le jury lit vingt milliards pour une entite</a:t>
            </a:r>
          </a:p>
          <a:p>
            <a:r>
              <a:t>et la question de l'echelle part avant qu'on ait pu la cadrer.</a:t>
            </a:r>
          </a:p>
          <a:p>
            <a:r>
              <a:t>Dire le mecanisme : les canaux isoles ne somment pas au total parce que la</a:t>
            </a:r>
          </a:p>
          <a:p>
            <a:r>
              <a:t>cascade est super-additive SUR SES CANAUX. Ajouter aussitot la nuance qui evite</a:t>
            </a:r>
          </a:p>
          <a:p>
            <a:r>
              <a:t>une erreur : elle est quasi additive sur les PILIERS, et l'additivite des COUTS</a:t>
            </a:r>
          </a:p>
          <a:p>
            <a:r>
              <a:t>au sein d'un sinistre est une troisieme chose, une hypothese non testee.</a:t>
            </a:r>
          </a:p>
          <a:p>
            <a:r>
              <a:t>NE JAMAIS additionner les quatre leviers pour chiffrer une remediation partielle :</a:t>
            </a:r>
          </a:p>
          <a:p>
            <a:r>
              <a:t>deux des quatre sont des bornes posees, pas des budgets.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[1:00] Distinguer les deux mecanismes, parce qu'un jury les confond souvent :</a:t>
            </a:r>
          </a:p>
          <a:p>
            <a:r>
              <a:t>la CONTAGION va d'un pilier a l'autre dans une meme entite ; l'ACCUMULATION vient</a:t>
            </a:r>
          </a:p>
          <a:p>
            <a:r>
              <a:t>d'un prestataire commun a plusieurs entites. Le modele porte les deux, par deux</a:t>
            </a:r>
          </a:p>
          <a:p>
            <a:r>
              <a:t>canaux differents.</a:t>
            </a:r>
          </a:p>
          <a:p>
            <a:r>
              <a:t>Reserve a exprimer si on insiste : le canal d'accumulation est une borne posee,</a:t>
            </a:r>
          </a:p>
          <a:p>
            <a:r>
              <a:t>pas une calibration.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[1:40] L'UNE DES DEUX SLIDES LES PLUS IMPORTANTES, avec la non-identifiabilite.</a:t>
            </a:r>
          </a:p>
          <a:p>
            <a:r>
              <a:t>C'est la que la limite devient un livrable : le modele ne dit pas seulement</a:t>
            </a:r>
          </a:p>
          <a:p>
            <a:r>
              <a:t>« il manque une donnee », il dit LAQUELLE et CE QU'ELLE RAPPORTE en resserrement</a:t>
            </a:r>
          </a:p>
          <a:p>
            <a:r>
              <a:t>de bande.</a:t>
            </a:r>
          </a:p>
          <a:p>
            <a:r>
              <a:t>C'est aussi la recommandation la plus directement actionnable par une direction</a:t>
            </a:r>
          </a:p>
          <a:p>
            <a:r>
              <a:t>des risques, et celle qu'une relecture de praticien a confirmee comme deja</a:t>
            </a:r>
          </a:p>
          <a:p>
            <a:r>
              <a:t>pratiquee sous une autre forme.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[1:20] Les trois decisions, puis la mise en garde, qui est le vrai message.</a:t>
            </a:r>
          </a:p>
          <a:p>
            <a:r>
              <a:t>Si on demande un chiffre de retour sur investissement : le retour calcule sur le</a:t>
            </a:r>
          </a:p>
          <a:p>
            <a:r>
              <a:t>seul portage de capital est un MAJORANT, pas un plancher, parce que la seconde</a:t>
            </a:r>
          </a:p>
          <a:p>
            <a:r>
              <a:t>composante du benefice, la sinistralite evitee, n'est pas monetisee dans ce</a:t>
            </a:r>
          </a:p>
          <a:p>
            <a:r>
              <a:t>calcul. Ne pas donner le nombre d'annees sans dire le sens de la borne.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[1:10] Presenter les deux colonnes ENSEMBLE, jamais la gauche seule.</a:t>
            </a:r>
          </a:p>
          <a:p>
            <a:r>
              <a:t>Insister sur un point que le texte de l'Institut recompense explicitement : la</a:t>
            </a:r>
          </a:p>
          <a:p>
            <a:r>
              <a:t>non-transitivite, qui donnait son titre au projet, a ete REFUTEE par son auteur,</a:t>
            </a:r>
          </a:p>
          <a:p>
            <a:r>
              <a:t>et le chiffre d'entite a ete requalifie en borne superieure. Ce sont des</a:t>
            </a:r>
          </a:p>
          <a:p>
            <a:r>
              <a:t>resultats, pas des faiblesses.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[0:30] Trois phrases, puis la phrase encadree, dite lentement et sans la lire mot</a:t>
            </a:r>
          </a:p>
          <a:p>
            <a:r>
              <a:t>a mot. C'est la derniere chose que le jury entend avant les questions : elle doit</a:t>
            </a:r>
          </a:p>
          <a:p>
            <a:r>
              <a:t>etre la reponse a la question posee au debut.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sobre. Garder l'ecran dessus pendant les questions.</a:t>
            </a:r>
          </a:p>
          <a:p>
            <a:r>
              <a:t>Les dix slides de sauvegarde suivent, et elles s'appellent a la voix.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 le jury demande la tracabilite : chaque nombre publie sort d'un script versionne, et un harnais verifie les 2 346 nombres du document.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point qui desamorce la question sur les valeurs posees : la these ne depend pas de leur niveau mais de leur ORDRE, et la monotonie est demontree.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theoremes autorisent l'extrapolation au-dela du plus grand sinistre observe. L'ajustement passe Anderson-Darling et Kolmogorov-Smirnov. Le backtest hors echantillon valide la FORME de la queue ; le NIVEAU derive, et c'est declare.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Rayon spectral 0,506, taux de reproduction 0,054 : la cascade s'eteint. La normalisation de Leontief garantit que le pilier le plus prolifique engendre au plus g descendants directs.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corpus donne un signal de direction, mais il porte un biais de narration : une narration choisit un ordre. Le biais est MESURE, borne et non leve. Une relecture de praticien a donne un exemple compatible avec les deux explications, ce qui corrobore la frontiere et non la matrice.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etages a ne jamais fondre en une seule barre : le bruit de calcul, reductible par la machine ; l'incertitude de parametre, portable par un intervalle ; et l'ambiguite de famille, epistemique, qui ne se moyenne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Isolee, fermeture et Shapley repondent a trois questions differentes. Shapley est la seule colonne additive, mais c'est une CONVENTION d'attribution : deux canaux sur quatre sont des bornes, leur part n'est pas un budget. L'intuition suffit, ne pas ecrire la formule.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PIEGE DE PREMISSE FREQUENT. A l'etat non conforme, 62,31 % des sinistres touchent plus d'un pilier, contre 31,15 % a l'etat conforme. La loi est EXACTE, par enumeration de la progeniture, donc citable sans bruit.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Resultat contre-intuitif a assumer : la fragilite est dans l'ajustement de valeurs extremes, PAS dans la contagion. L'hypothese la plus lourde et non testee est l'additivite des couts au sein d'un sinistre.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distinction en rouge est celle qui a produit une confusion en seance le 7 aout 2026 : le quantile de severite d'un sinistre n'est pas une mesure de capital.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1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2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3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13.png"/><Relationship Id="rId4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hoto_couverture.jpg"/>
          <p:cNvPicPr>
            <a:picLocks noChangeAspect="1"/>
          </p:cNvPicPr>
          <p:nvPr/>
        </p:nvPicPr>
        <p:blipFill>
          <a:blip r:embed="rId2"/>
          <a:srcRect l="19194" r="19194"/>
          <a:stretch>
            <a:fillRect/>
          </a:stretch>
        </p:blipFill>
        <p:spPr>
          <a:xfrm>
            <a:off x="5852160" y="0"/>
            <a:ext cx="6339535" cy="6858000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5852160" y="0"/>
            <a:ext cx="2423160" cy="6858000"/>
          </a:xfrm>
          <a:custGeom>
            <a:avLst/>
            <a:gdLst/>
            <a:ahLst/>
            <a:cxnLst/>
            <a:rect l="l" t="t" r="r" b="b"/>
            <a:pathLst>
              <a:path w="2423160" h="6858000">
                <a:moveTo>
                  <a:pt x="0" y="0"/>
                </a:moveTo>
                <a:lnTo>
                  <a:pt x="0" y="6858000"/>
                </a:lnTo>
                <a:lnTo>
                  <a:pt x="2423160" y="6858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0" y="0"/>
            <a:ext cx="603504" cy="896112"/>
          </a:xfrm>
          <a:custGeom>
            <a:avLst/>
            <a:gdLst/>
            <a:ahLst/>
            <a:cxnLst/>
            <a:rect l="l" t="t" r="r" b="b"/>
            <a:pathLst>
              <a:path w="603504" h="896112">
                <a:moveTo>
                  <a:pt x="0" y="0"/>
                </a:moveTo>
                <a:lnTo>
                  <a:pt x="603504" y="0"/>
                </a:lnTo>
                <a:lnTo>
                  <a:pt x="0" y="896112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institut_actuai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164592"/>
            <a:ext cx="1325880" cy="566928"/>
          </a:xfrm>
          <a:prstGeom prst="rect">
            <a:avLst/>
          </a:prstGeom>
        </p:spPr>
      </p:pic>
      <p:pic>
        <p:nvPicPr>
          <p:cNvPr id="7" name="Picture 6" descr="nexialo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804672"/>
            <a:ext cx="1783080" cy="649224"/>
          </a:xfrm>
          <a:prstGeom prst="rect">
            <a:avLst/>
          </a:prstGeom>
        </p:spPr>
      </p:pic>
      <p:pic>
        <p:nvPicPr>
          <p:cNvPr id="8" name="Picture 7" descr="ensa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0" y="384048"/>
            <a:ext cx="1005840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84048" y="2788920"/>
            <a:ext cx="640080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 i="0">
                <a:solidFill>
                  <a:srgbClr val="223E55"/>
                </a:solidFill>
                <a:latin typeface="Georgia"/>
              </a:rPr>
              <a:t>Quantification du SCR lié à la non-conformité</a:t>
            </a:r>
          </a:p>
          <a:p>
            <a:pPr algn="l">
              <a:spcBef>
                <a:spcPts val="0"/>
              </a:spcBef>
            </a:pPr>
            <a:r>
              <a:rPr sz="2100" b="1" i="0">
                <a:solidFill>
                  <a:srgbClr val="223E55"/>
                </a:solidFill>
                <a:latin typeface="Georgia"/>
              </a:rPr>
              <a:t>au règlement DORA (UE 2022/2554)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005072"/>
            <a:ext cx="5212080" cy="420624"/>
          </a:xfrm>
          <a:prstGeom prst="rect">
            <a:avLst/>
          </a:pr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Segoe UI"/>
              </a:rPr>
              <a:t>Une cascade dirigée entre les cinq piliers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4681728"/>
            <a:ext cx="59893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1600" b="0" i="1">
                <a:solidFill>
                  <a:srgbClr val="223E55"/>
                </a:solidFill>
                <a:latin typeface="Georgia"/>
              </a:rPr>
              <a:t>Présenté par :  Kélian KADDOURI</a:t>
            </a:r>
          </a:p>
          <a:p>
            <a:pPr algn="ctr">
              <a:spcBef>
                <a:spcPts val="800"/>
              </a:spcBef>
            </a:pPr>
            <a:r>
              <a:rPr sz="1400" b="0" i="1">
                <a:solidFill>
                  <a:srgbClr val="223E55"/>
                </a:solidFill>
                <a:latin typeface="Georgia"/>
              </a:rPr>
              <a:t>ENSAE Paris, filière Actuariat  ·  Nexialog Consulting</a:t>
            </a:r>
          </a:p>
          <a:p>
            <a:pPr algn="ctr">
              <a:spcBef>
                <a:spcPts val="1000"/>
              </a:spcBef>
            </a:pPr>
            <a:r>
              <a:rPr sz="1400" b="1" i="1">
                <a:solidFill>
                  <a:srgbClr val="B10031"/>
                </a:solidFill>
                <a:latin typeface="Georgia"/>
              </a:rPr>
              <a:t>[jj / mm / 2026]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" y="5806440"/>
            <a:ext cx="26517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1">
                <a:solidFill>
                  <a:srgbClr val="223E55"/>
                </a:solidFill>
                <a:latin typeface="Georgia"/>
              </a:rPr>
              <a:t>Sous la supervision de :</a:t>
            </a:r>
          </a:p>
          <a:p>
            <a:pPr algn="l">
              <a:spcBef>
                <a:spcPts val="600"/>
              </a:spcBef>
            </a:pPr>
            <a:r>
              <a:rPr sz="1400" b="1" i="1">
                <a:solidFill>
                  <a:srgbClr val="223E55"/>
                </a:solidFill>
                <a:latin typeface="Georgia"/>
              </a:rPr>
              <a:t>M. Hugo RAPIOR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5806440"/>
            <a:ext cx="27889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300" b="0" i="1">
                <a:solidFill>
                  <a:srgbClr val="223E55"/>
                </a:solidFill>
                <a:latin typeface="Georgia"/>
              </a:rPr>
              <a:t>Tutrice académique :</a:t>
            </a:r>
          </a:p>
          <a:p>
            <a:pPr algn="r">
              <a:spcBef>
                <a:spcPts val="600"/>
              </a:spcBef>
            </a:pPr>
            <a:r>
              <a:rPr sz="1400" b="1" i="1">
                <a:solidFill>
                  <a:srgbClr val="223E55"/>
                </a:solidFill>
                <a:latin typeface="Georgia"/>
              </a:rPr>
              <a:t>Caroline HILLAIRET</a:t>
            </a:r>
          </a:p>
        </p:txBody>
      </p:sp>
      <p:pic>
        <p:nvPicPr>
          <p:cNvPr id="14" name="Picture 13" descr="think_smar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3120" y="6446520"/>
            <a:ext cx="2331720" cy="31089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hoto_section.jpg"/>
          <p:cNvPicPr>
            <a:picLocks noChangeAspect="1"/>
          </p:cNvPicPr>
          <p:nvPr/>
        </p:nvPicPr>
        <p:blipFill>
          <a:blip r:embed="rId2"/>
          <a:srcRect l="27966" r="27966"/>
          <a:stretch>
            <a:fillRect/>
          </a:stretch>
        </p:blipFill>
        <p:spPr>
          <a:xfrm>
            <a:off x="0" y="0"/>
            <a:ext cx="3931920" cy="6858000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1874519" y="0"/>
            <a:ext cx="2057401" cy="1463040"/>
          </a:xfrm>
          <a:custGeom>
            <a:avLst/>
            <a:gdLst/>
            <a:ahLst/>
            <a:cxnLst/>
            <a:rect l="l" t="t" r="r" b="b"/>
            <a:pathLst>
              <a:path w="2057401" h="1463040">
                <a:moveTo>
                  <a:pt x="0" y="0"/>
                </a:moveTo>
                <a:lnTo>
                  <a:pt x="2057401" y="0"/>
                </a:lnTo>
                <a:lnTo>
                  <a:pt x="2057401" y="146304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1051560" y="3246120"/>
            <a:ext cx="2880360" cy="3611880"/>
          </a:xfrm>
          <a:custGeom>
            <a:avLst/>
            <a:gdLst/>
            <a:ahLst/>
            <a:cxnLst/>
            <a:rect l="l" t="t" r="r" b="b"/>
            <a:pathLst>
              <a:path w="2880360" h="3611880">
                <a:moveTo>
                  <a:pt x="2880360" y="0"/>
                </a:moveTo>
                <a:lnTo>
                  <a:pt x="2880360" y="3611880"/>
                </a:lnTo>
                <a:lnTo>
                  <a:pt x="0" y="361188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exial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7447" y="182880"/>
            <a:ext cx="1481328" cy="5394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754880" y="731520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</a:pPr>
            <a:r>
              <a:rPr sz="4000" b="0" i="0">
                <a:solidFill>
                  <a:srgbClr val="B10031"/>
                </a:solidFill>
                <a:latin typeface="Georgia"/>
              </a:rPr>
              <a:t>SOMMAIRE</a:t>
            </a:r>
          </a:p>
        </p:txBody>
      </p:sp>
      <p:sp>
        <p:nvSpPr>
          <p:cNvPr id="8" name="Rectangle 7"/>
          <p:cNvSpPr/>
          <p:nvPr/>
        </p:nvSpPr>
        <p:spPr>
          <a:xfrm>
            <a:off x="1463040" y="1965960"/>
            <a:ext cx="10195560" cy="269748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463040" y="4663440"/>
            <a:ext cx="10195560" cy="109728"/>
          </a:xfrm>
          <a:prstGeom prst="rect">
            <a:avLst/>
          </a:pr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83080" y="233172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000" b="1" i="0">
                <a:solidFill>
                  <a:srgbClr val="B10031"/>
                </a:solidFill>
                <a:latin typeface="Georgia"/>
              </a:rPr>
              <a:t>01</a:t>
            </a:r>
          </a:p>
          <a:p>
            <a:pPr algn="l">
              <a:spcBef>
                <a:spcPts val="200"/>
              </a:spcBef>
            </a:pPr>
            <a:r>
              <a:rPr sz="1400" b="1" i="0">
                <a:solidFill>
                  <a:srgbClr val="223E55"/>
                </a:solidFill>
                <a:latin typeface="Segoe UI"/>
              </a:rPr>
              <a:t>Le vide prudentiel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93208" y="233172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000" b="1" i="0">
                <a:solidFill>
                  <a:srgbClr val="B10031"/>
                </a:solidFill>
                <a:latin typeface="Georgia"/>
              </a:rPr>
              <a:t>02</a:t>
            </a:r>
          </a:p>
          <a:p>
            <a:pPr algn="l">
              <a:spcBef>
                <a:spcPts val="200"/>
              </a:spcBef>
            </a:pPr>
            <a:r>
              <a:rPr sz="1400" b="1" i="0">
                <a:solidFill>
                  <a:srgbClr val="223E55"/>
                </a:solidFill>
                <a:latin typeface="Segoe UI"/>
              </a:rPr>
              <a:t>La donnée et sa frontière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03336" y="233172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000" b="1" i="0">
                <a:solidFill>
                  <a:srgbClr val="B10031"/>
                </a:solidFill>
                <a:latin typeface="Georgia"/>
              </a:rPr>
              <a:t>03</a:t>
            </a:r>
          </a:p>
          <a:p>
            <a:pPr algn="l">
              <a:spcBef>
                <a:spcPts val="200"/>
              </a:spcBef>
            </a:pPr>
            <a:r>
              <a:rPr sz="1400" b="1" i="0">
                <a:solidFill>
                  <a:srgbClr val="223E55"/>
                </a:solidFill>
                <a:latin typeface="Segoe UI"/>
              </a:rPr>
              <a:t>La cascade dirigée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38328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000" b="1" i="0">
                <a:solidFill>
                  <a:srgbClr val="B10031"/>
                </a:solidFill>
                <a:latin typeface="Georgia"/>
              </a:rPr>
              <a:t>04</a:t>
            </a:r>
          </a:p>
          <a:p>
            <a:pPr algn="l">
              <a:spcBef>
                <a:spcPts val="200"/>
              </a:spcBef>
            </a:pPr>
            <a:r>
              <a:rPr sz="1400" b="1" i="0">
                <a:solidFill>
                  <a:srgbClr val="223E55"/>
                </a:solidFill>
                <a:latin typeface="Segoe UI"/>
              </a:rPr>
              <a:t>Borner plutôt que poser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93208" y="338328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000" b="1" i="0">
                <a:solidFill>
                  <a:srgbClr val="B10031"/>
                </a:solidFill>
                <a:latin typeface="Georgia"/>
              </a:rPr>
              <a:t>05</a:t>
            </a:r>
          </a:p>
          <a:p>
            <a:pPr algn="l">
              <a:spcBef>
                <a:spcPts val="200"/>
              </a:spcBef>
            </a:pPr>
            <a:r>
              <a:rPr sz="1400" b="1" i="0">
                <a:solidFill>
                  <a:srgbClr val="223E55"/>
                </a:solidFill>
                <a:latin typeface="Segoe UI"/>
              </a:rPr>
              <a:t>Quatre canaux et le capital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03336" y="3383280"/>
            <a:ext cx="3017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000" b="1" i="0">
                <a:solidFill>
                  <a:srgbClr val="B10031"/>
                </a:solidFill>
                <a:latin typeface="Georgia"/>
              </a:rPr>
              <a:t>06</a:t>
            </a:r>
          </a:p>
          <a:p>
            <a:pPr algn="l">
              <a:spcBef>
                <a:spcPts val="200"/>
              </a:spcBef>
            </a:pPr>
            <a:r>
              <a:rPr sz="1400" b="1" i="0">
                <a:solidFill>
                  <a:srgbClr val="223E55"/>
                </a:solidFill>
                <a:latin typeface="Segoe UI"/>
              </a:rPr>
              <a:t>Décision, limites et suites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85855" y="6428232"/>
            <a:ext cx="502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00" b="0" i="0">
                <a:solidFill>
                  <a:srgbClr val="A5A5A5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0" y="0"/>
                </a:moveTo>
                <a:lnTo>
                  <a:pt x="566928" y="0"/>
                </a:lnTo>
                <a:lnTo>
                  <a:pt x="0" y="841248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274320" y="0"/>
                </a:moveTo>
                <a:lnTo>
                  <a:pt x="566928" y="0"/>
                </a:lnTo>
                <a:lnTo>
                  <a:pt x="0" y="841248"/>
                </a:lnTo>
                <a:lnTo>
                  <a:pt x="0" y="438912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x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447" y="182880"/>
            <a:ext cx="1481328" cy="539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85855" y="6428232"/>
            <a:ext cx="502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00" b="0" i="0">
                <a:solidFill>
                  <a:srgbClr val="A5A5A5"/>
                </a:solidFill>
                <a:latin typeface="Segoe U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92608"/>
            <a:ext cx="895471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 i="0">
                <a:solidFill>
                  <a:srgbClr val="223E55"/>
                </a:solidFill>
                <a:latin typeface="Georgia"/>
              </a:rPr>
              <a:t>DORA impose une maîtrise, aucun dispositif n'en fait du capital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804672"/>
            <a:ext cx="895471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1" i="0">
                <a:solidFill>
                  <a:srgbClr val="B10031"/>
                </a:solidFill>
                <a:latin typeface="Georgia"/>
              </a:rPr>
              <a:t>Règlement (UE) 2022/2554, applicable depuis janvier 2025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5847" y="1335024"/>
            <a:ext cx="0" cy="4288536"/>
          </a:xfrm>
          <a:prstGeom prst="line">
            <a:avLst/>
          </a:prstGeom>
          <a:ln w="15875">
            <a:solidFill>
              <a:srgbClr val="9DC3C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749808" y="1389888"/>
            <a:ext cx="507171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B10031"/>
                </a:solidFill>
                <a:latin typeface="Segoe UI"/>
              </a:rPr>
              <a:t>① </a:t>
            </a:r>
            <a:r>
              <a:rPr sz="1500" b="1" i="0">
                <a:solidFill>
                  <a:srgbClr val="223E55"/>
                </a:solidFill>
                <a:latin typeface="Segoe UI"/>
              </a:rPr>
              <a:t>Un déplacement du centre de gravité prudentiel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719072"/>
            <a:ext cx="5071719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spcBef>
                <a:spcPts val="0"/>
              </a:spcBef>
            </a:pPr>
            <a:r>
              <a:rPr sz="14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400" b="0" i="0">
                <a:solidFill>
                  <a:srgbClr val="122738"/>
                </a:solidFill>
                <a:latin typeface="Segoe UI"/>
              </a:rPr>
              <a:t>Bâle, puis Solvabilité II, puis DORA : de la couverture financière du risque vers la continuité opérationnelle</a:t>
            </a:r>
          </a:p>
          <a:p>
            <a:pPr algn="l" marL="219456" indent="-219456">
              <a:spcBef>
                <a:spcPts val="800"/>
              </a:spcBef>
            </a:pPr>
            <a:r>
              <a:rPr sz="14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400" b="0" i="0">
                <a:solidFill>
                  <a:srgbClr val="122738"/>
                </a:solidFill>
                <a:latin typeface="Segoe UI"/>
              </a:rPr>
              <a:t>DORA ne remplace pas l'exigence de capital, il en révèle l'angle mort : la dynamique propre des défaillances technologiques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79571"/>
            <a:ext cx="507171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B10031"/>
                </a:solidFill>
                <a:latin typeface="Segoe UI"/>
              </a:rPr>
              <a:t>② </a:t>
            </a:r>
            <a:r>
              <a:rPr sz="1500" b="1" i="0">
                <a:solidFill>
                  <a:srgbClr val="223E55"/>
                </a:solidFill>
                <a:latin typeface="Segoe UI"/>
              </a:rPr>
              <a:t>L'espace laissé libre par Solvabilité 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508755"/>
            <a:ext cx="5071719" cy="2142237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spcBef>
                <a:spcPts val="0"/>
              </a:spcBef>
            </a:pPr>
            <a:r>
              <a:rPr sz="14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400" b="0" i="0">
                <a:solidFill>
                  <a:srgbClr val="122738"/>
                </a:solidFill>
                <a:latin typeface="Segoe UI"/>
              </a:rPr>
              <a:t>Dans la Formule Standard, la charge opérationnelle est forfaitaire : elle n'exprime rien de l'état de conformité de l'entité</a:t>
            </a:r>
          </a:p>
          <a:p>
            <a:pPr algn="l" marL="219456" indent="-219456">
              <a:spcBef>
                <a:spcPts val="800"/>
              </a:spcBef>
            </a:pPr>
            <a:r>
              <a:rPr sz="14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400" b="0" i="0">
                <a:solidFill>
                  <a:srgbClr val="122738"/>
                </a:solidFill>
                <a:latin typeface="Segoe UI"/>
              </a:rPr>
              <a:t>Un score qualitatif de conformité ne dit rien du capital qu'une direction des risques doit immobiliser</a:t>
            </a:r>
          </a:p>
          <a:p>
            <a:pPr algn="l" marL="219456" indent="-219456">
              <a:spcBef>
                <a:spcPts val="800"/>
              </a:spcBef>
            </a:pPr>
            <a:r>
              <a:rPr sz="14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400" b="0" i="0">
                <a:solidFill>
                  <a:srgbClr val="122738"/>
                </a:solidFill>
                <a:latin typeface="Segoe UI"/>
              </a:rPr>
              <a:t>Le secteur conserve en revanche le choix méthodologique, et c'est cet espace que le mémoire occupe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1879" y="1389888"/>
            <a:ext cx="509000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B10031"/>
                </a:solidFill>
                <a:latin typeface="Segoe UI"/>
              </a:rPr>
              <a:t>③ </a:t>
            </a:r>
            <a:r>
              <a:rPr sz="1500" b="1" i="0">
                <a:solidFill>
                  <a:srgbClr val="223E55"/>
                </a:solidFill>
                <a:latin typeface="Segoe UI"/>
              </a:rPr>
              <a:t>Le maillon manquant, étape par étape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1879" y="1719072"/>
            <a:ext cx="1572768" cy="347472"/>
          </a:xfrm>
          <a:prstGeom prst="rect">
            <a:avLst/>
          </a:prstGeom>
          <a:solidFill>
            <a:srgbClr val="223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1200" b="1" i="0">
                <a:solidFill>
                  <a:srgbClr val="FFFFFF"/>
                </a:solidFill>
                <a:latin typeface="Segoe UI"/>
              </a:rPr>
              <a:t>Non-conformité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70951" y="1801368"/>
            <a:ext cx="33709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595959"/>
                </a:solidFill>
                <a:latin typeface="Segoe UI"/>
              </a:rPr>
              <a:t>à un ou plusieurs des cinq piliers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1879" y="2139696"/>
            <a:ext cx="1572768" cy="347472"/>
          </a:xfrm>
          <a:prstGeom prst="rect">
            <a:avLst/>
          </a:prstGeom>
          <a:solidFill>
            <a:srgbClr val="223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1200" b="1" i="0">
                <a:solidFill>
                  <a:srgbClr val="FFFFFF"/>
                </a:solidFill>
                <a:latin typeface="Segoe UI"/>
              </a:rPr>
              <a:t>Incident TIC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70951" y="2221992"/>
            <a:ext cx="33709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595959"/>
                </a:solidFill>
                <a:latin typeface="Segoe UI"/>
              </a:rPr>
              <a:t>défaillance, puis propagation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1879" y="2560320"/>
            <a:ext cx="1572768" cy="347472"/>
          </a:xfrm>
          <a:prstGeom prst="rect">
            <a:avLst/>
          </a:prstGeom>
          <a:solidFill>
            <a:srgbClr val="223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1200" b="1" i="0">
                <a:solidFill>
                  <a:srgbClr val="FFFFFF"/>
                </a:solidFill>
                <a:latin typeface="Segoe UI"/>
              </a:rPr>
              <a:t>Perte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70951" y="2642616"/>
            <a:ext cx="33709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595959"/>
                </a:solidFill>
                <a:latin typeface="Segoe UI"/>
              </a:rPr>
              <a:t>opérationnelle et cyber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51879" y="2980944"/>
            <a:ext cx="1572768" cy="347472"/>
          </a:xfrm>
          <a:prstGeom prst="rect">
            <a:avLst/>
          </a:pr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1200" b="1" i="0">
                <a:solidFill>
                  <a:srgbClr val="FFFFFF"/>
                </a:solidFill>
                <a:latin typeface="Segoe UI"/>
              </a:rPr>
              <a:t>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70951" y="3063240"/>
            <a:ext cx="33709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595959"/>
                </a:solidFill>
                <a:latin typeface="Segoe UI"/>
              </a:rPr>
              <a:t>exigence de couverture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51879" y="3401568"/>
            <a:ext cx="1572768" cy="347472"/>
          </a:xfrm>
          <a:prstGeom prst="rect">
            <a:avLst/>
          </a:prstGeom>
          <a:solidFill>
            <a:srgbClr val="223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1200" b="1" i="0">
                <a:solidFill>
                  <a:srgbClr val="FFFFFF"/>
                </a:solidFill>
                <a:latin typeface="Segoe UI"/>
              </a:rPr>
              <a:t>Décision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70951" y="3483864"/>
            <a:ext cx="337093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595959"/>
                </a:solidFill>
                <a:latin typeface="Segoe UI"/>
              </a:rPr>
              <a:t>remédier, détenir ou transférer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7010247" y="3822192"/>
            <a:ext cx="256032" cy="237744"/>
          </a:xfrm>
          <a:prstGeom prst="downArrow">
            <a:avLst/>
          </a:prstGeom>
          <a:solidFill>
            <a:srgbClr val="435B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51879" y="4169664"/>
            <a:ext cx="5090007" cy="420624"/>
          </a:xfrm>
          <a:prstGeom prst="rect">
            <a:avLst/>
          </a:pr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Segoe UI"/>
              </a:rPr>
              <a:t>Besoin de capital ORSA au titre de DORA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1879" y="4754880"/>
            <a:ext cx="5090007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595959"/>
                </a:solidFill>
                <a:latin typeface="Segoe UI"/>
              </a:rPr>
              <a:t>La Formule Standard donne le même chiffre à une entité exemplaire et à une entité défaillante : c'est la définition d'un angle mort.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66928" y="5788152"/>
            <a:ext cx="11057839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66928" y="5788152"/>
            <a:ext cx="76200" cy="548640"/>
          </a:xfrm>
          <a:prstGeom prst="rect">
            <a:avLst/>
          </a:pr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4672" y="5907024"/>
            <a:ext cx="1078351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B10031"/>
                </a:solidFill>
                <a:latin typeface="Segoe UI"/>
              </a:rPr>
              <a:t>Message clé   </a:t>
            </a:r>
            <a:r>
              <a:rPr sz="1400" b="0" i="0">
                <a:solidFill>
                  <a:srgbClr val="595959"/>
                </a:solidFill>
                <a:latin typeface="Segoe UI"/>
              </a:rPr>
              <a:t>une exigence de maîtrise sans traduction prudentielle, et c'est le vide que ce travail comble.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6428232"/>
            <a:ext cx="100519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1">
                <a:solidFill>
                  <a:srgbClr val="A5A5A5"/>
                </a:solidFill>
                <a:latin typeface="Segoe UI"/>
              </a:rPr>
              <a:t>Sources : mémoire, chapitres 1 et 2.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0" y="0"/>
                </a:moveTo>
                <a:lnTo>
                  <a:pt x="566928" y="0"/>
                </a:lnTo>
                <a:lnTo>
                  <a:pt x="0" y="841248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274320" y="0"/>
                </a:moveTo>
                <a:lnTo>
                  <a:pt x="566928" y="0"/>
                </a:lnTo>
                <a:lnTo>
                  <a:pt x="0" y="841248"/>
                </a:lnTo>
                <a:lnTo>
                  <a:pt x="0" y="438912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x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447" y="182880"/>
            <a:ext cx="1481328" cy="539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85855" y="6428232"/>
            <a:ext cx="502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00" b="0" i="0">
                <a:solidFill>
                  <a:srgbClr val="A5A5A5"/>
                </a:solidFill>
                <a:latin typeface="Segoe U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92608"/>
            <a:ext cx="895471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600" b="1" i="0">
                <a:solidFill>
                  <a:srgbClr val="223E55"/>
                </a:solidFill>
                <a:latin typeface="Georgia"/>
              </a:rPr>
              <a:t>Une question en deux temps, et trois apports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804672"/>
            <a:ext cx="895471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1" i="0">
                <a:solidFill>
                  <a:srgbClr val="B10031"/>
                </a:solidFill>
                <a:latin typeface="Georgia"/>
              </a:rPr>
              <a:t>Ce qui se chiffre, et ce qui peut être affirmé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389888"/>
            <a:ext cx="10692079" cy="65836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Bef>
                <a:spcPts val="0"/>
              </a:spcBef>
            </a:pPr>
            <a:r>
              <a:rPr sz="1900" b="1" i="0">
                <a:solidFill>
                  <a:srgbClr val="223E55"/>
                </a:solidFill>
                <a:latin typeface="Georgia"/>
              </a:rPr>
              <a:t>Combien coûte en capital de ne pas se conformer à DORA, et jusqu'où ce chiffre peut-il être affirmé ?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1389888"/>
            <a:ext cx="76200" cy="658368"/>
          </a:xfrm>
          <a:prstGeom prst="rect">
            <a:avLst/>
          </a:pr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560320"/>
            <a:ext cx="3381146" cy="310896"/>
          </a:xfrm>
          <a:prstGeom prst="rect">
            <a:avLst/>
          </a:prstGeom>
          <a:solidFill>
            <a:srgbClr val="223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Segoe UI"/>
              </a:rPr>
              <a:t>Méthodologique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871216"/>
            <a:ext cx="3381146" cy="1563623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/>
          <a:lstStyle/>
          <a:p>
            <a:pPr algn="ctr">
              <a:spcBef>
                <a:spcPts val="0"/>
              </a:spcBef>
            </a:pPr>
            <a:r>
              <a:rPr sz="1300" b="0" i="0">
                <a:solidFill>
                  <a:srgbClr val="122738"/>
                </a:solidFill>
                <a:latin typeface="Segoe UI"/>
              </a:rPr>
              <a:t>Une cascade dirigée entre domaines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122738"/>
                </a:solidFill>
                <a:latin typeface="Segoe UI"/>
              </a:rPr>
              <a:t>de contrôle, trois propriétés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122738"/>
                </a:solidFill>
                <a:latin typeface="Segoe UI"/>
              </a:rPr>
              <a:t>démontrées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05274" y="2560320"/>
            <a:ext cx="3381146" cy="310896"/>
          </a:xfrm>
          <a:prstGeom prst="rect">
            <a:avLst/>
          </a:pr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Segoe UI"/>
              </a:rPr>
              <a:t>Empirique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5274" y="2871216"/>
            <a:ext cx="3381146" cy="1563623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/>
          <a:lstStyle/>
          <a:p>
            <a:pPr algn="ctr">
              <a:spcBef>
                <a:spcPts val="0"/>
              </a:spcBef>
            </a:pPr>
            <a:r>
              <a:rPr sz="1300" b="0" i="0">
                <a:solidFill>
                  <a:srgbClr val="122738"/>
                </a:solidFill>
                <a:latin typeface="Segoe UI"/>
              </a:rPr>
              <a:t>Une frontière d'identifiabilité :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122738"/>
                </a:solidFill>
                <a:latin typeface="Segoe UI"/>
              </a:rPr>
              <a:t>ce que la donnée ne dit pas,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122738"/>
                </a:solidFill>
                <a:latin typeface="Segoe UI"/>
              </a:rPr>
              <a:t>et ce qu'elle ne dira jamais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60740" y="2560320"/>
            <a:ext cx="3381146" cy="310896"/>
          </a:xfrm>
          <a:prstGeom prst="rect">
            <a:avLst/>
          </a:prstGeom>
          <a:solidFill>
            <a:srgbClr val="223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Segoe UI"/>
              </a:rPr>
              <a:t>Opérationnelle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0740" y="2871216"/>
            <a:ext cx="3381146" cy="1563623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/>
          <a:lstStyle/>
          <a:p>
            <a:pPr algn="ctr">
              <a:spcBef>
                <a:spcPts val="0"/>
              </a:spcBef>
            </a:pPr>
            <a:r>
              <a:rPr sz="1300" b="0" i="0">
                <a:solidFill>
                  <a:srgbClr val="122738"/>
                </a:solidFill>
                <a:latin typeface="Segoe UI"/>
              </a:rPr>
              <a:t>La donnée manquante devient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122738"/>
                </a:solidFill>
                <a:latin typeface="Segoe UI"/>
              </a:rPr>
              <a:t>une exigence de reporting,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122738"/>
                </a:solidFill>
                <a:latin typeface="Segoe UI"/>
              </a:rPr>
              <a:t>hiérarchisée par son apport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892040"/>
            <a:ext cx="10692079" cy="7589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223E55"/>
                </a:solidFill>
                <a:latin typeface="Segoe UI"/>
              </a:rPr>
              <a:t>La seconde moitié de la question fait le travail : elle interdit de publier une précision que la donnée ne porte pas.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788152"/>
            <a:ext cx="11057839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5788152"/>
            <a:ext cx="76200" cy="548640"/>
          </a:xfrm>
          <a:prstGeom prst="rect">
            <a:avLst/>
          </a:pr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907024"/>
            <a:ext cx="1078351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B10031"/>
                </a:solidFill>
                <a:latin typeface="Segoe UI"/>
              </a:rPr>
              <a:t>Message clé   </a:t>
            </a:r>
            <a:r>
              <a:rPr sz="1400" b="0" i="0">
                <a:solidFill>
                  <a:srgbClr val="595959"/>
                </a:solidFill>
                <a:latin typeface="Segoe UI"/>
              </a:rPr>
              <a:t>répondre à la première moitié sans la seconde produirait un chiffre indéfendable.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28232"/>
            <a:ext cx="100519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1">
                <a:solidFill>
                  <a:srgbClr val="A5A5A5"/>
                </a:solidFill>
                <a:latin typeface="Segoe UI"/>
              </a:rPr>
              <a:t>Sources : mémoire, chapitre 1, section contribution et plan.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0" y="0"/>
                </a:moveTo>
                <a:lnTo>
                  <a:pt x="566928" y="0"/>
                </a:lnTo>
                <a:lnTo>
                  <a:pt x="0" y="841248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274320" y="0"/>
                </a:moveTo>
                <a:lnTo>
                  <a:pt x="566928" y="0"/>
                </a:lnTo>
                <a:lnTo>
                  <a:pt x="0" y="841248"/>
                </a:lnTo>
                <a:lnTo>
                  <a:pt x="0" y="438912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x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447" y="182880"/>
            <a:ext cx="1481328" cy="539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85855" y="6428232"/>
            <a:ext cx="502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00" b="0" i="0">
                <a:solidFill>
                  <a:srgbClr val="A5A5A5"/>
                </a:solidFill>
                <a:latin typeface="Segoe U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92608"/>
            <a:ext cx="895471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600" b="1" i="0">
                <a:solidFill>
                  <a:srgbClr val="223E55"/>
                </a:solidFill>
                <a:latin typeface="Georgia"/>
              </a:rPr>
              <a:t>Cinq domaines de contrôle, pas cinq cases à cocher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804672"/>
            <a:ext cx="895471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1" i="0">
                <a:solidFill>
                  <a:srgbClr val="B10031"/>
                </a:solidFill>
                <a:latin typeface="Georgia"/>
              </a:rPr>
              <a:t>Et la défaillance de l'un dégrade la tenue des autres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709928"/>
            <a:ext cx="1992111" cy="310896"/>
          </a:xfrm>
          <a:prstGeom prst="rect">
            <a:avLst/>
          </a:pr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Segoe UI"/>
              </a:rPr>
              <a:t>P1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2020824"/>
            <a:ext cx="1992111" cy="1563623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/>
          <a:lstStyle/>
          <a:p>
            <a:pPr algn="ctr">
              <a:spcBef>
                <a:spcPts val="0"/>
              </a:spcBef>
            </a:pPr>
            <a:r>
              <a:rPr sz="1400" b="0" i="0">
                <a:solidFill>
                  <a:srgbClr val="122738"/>
                </a:solidFill>
                <a:latin typeface="Segoe UI"/>
              </a:rPr>
              <a:t>Gouvernance</a:t>
            </a:r>
          </a:p>
          <a:p>
            <a:pPr algn="ctr">
              <a:spcBef>
                <a:spcPts val="500"/>
              </a:spcBef>
            </a:pPr>
            <a:r>
              <a:rPr sz="1400" b="0" i="0">
                <a:solidFill>
                  <a:srgbClr val="122738"/>
                </a:solidFill>
                <a:latin typeface="Segoe UI"/>
              </a:rPr>
              <a:t>du risque TIC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4799" y="1709928"/>
            <a:ext cx="1992111" cy="310896"/>
          </a:xfrm>
          <a:prstGeom prst="rect">
            <a:avLst/>
          </a:prstGeom>
          <a:solidFill>
            <a:srgbClr val="223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Segoe UI"/>
              </a:rPr>
              <a:t>P2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4799" y="2020824"/>
            <a:ext cx="1992111" cy="1563623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/>
          <a:lstStyle/>
          <a:p>
            <a:pPr algn="ctr">
              <a:spcBef>
                <a:spcPts val="0"/>
              </a:spcBef>
            </a:pPr>
            <a:r>
              <a:rPr sz="1400" b="0" i="0">
                <a:solidFill>
                  <a:srgbClr val="122738"/>
                </a:solidFill>
                <a:latin typeface="Segoe UI"/>
              </a:rPr>
              <a:t>Incidents</a:t>
            </a:r>
          </a:p>
          <a:p>
            <a:pPr algn="ctr">
              <a:spcBef>
                <a:spcPts val="500"/>
              </a:spcBef>
            </a:pPr>
            <a:r>
              <a:rPr sz="1400" b="0" i="0">
                <a:solidFill>
                  <a:srgbClr val="122738"/>
                </a:solidFill>
                <a:latin typeface="Segoe UI"/>
              </a:rPr>
              <a:t>gestion, notification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99791" y="1709928"/>
            <a:ext cx="1992111" cy="310896"/>
          </a:xfrm>
          <a:prstGeom prst="rect">
            <a:avLst/>
          </a:prstGeom>
          <a:solidFill>
            <a:srgbClr val="223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Segoe UI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99791" y="2020824"/>
            <a:ext cx="1992111" cy="1563623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/>
          <a:lstStyle/>
          <a:p>
            <a:pPr algn="ctr">
              <a:spcBef>
                <a:spcPts val="0"/>
              </a:spcBef>
            </a:pPr>
            <a:r>
              <a:rPr sz="1400" b="0" i="0">
                <a:solidFill>
                  <a:srgbClr val="122738"/>
                </a:solidFill>
                <a:latin typeface="Segoe UI"/>
              </a:rPr>
              <a:t>Tests</a:t>
            </a:r>
          </a:p>
          <a:p>
            <a:pPr algn="ctr">
              <a:spcBef>
                <a:spcPts val="500"/>
              </a:spcBef>
            </a:pPr>
            <a:r>
              <a:rPr sz="1400" b="0" i="0">
                <a:solidFill>
                  <a:srgbClr val="122738"/>
                </a:solidFill>
                <a:latin typeface="Segoe UI"/>
              </a:rPr>
              <a:t>de résilience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74783" y="1709928"/>
            <a:ext cx="1992111" cy="310896"/>
          </a:xfrm>
          <a:prstGeom prst="rect">
            <a:avLst/>
          </a:pr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Segoe UI"/>
              </a:rPr>
              <a:t>P4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74783" y="2020824"/>
            <a:ext cx="1992111" cy="1563623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/>
          <a:lstStyle/>
          <a:p>
            <a:pPr algn="ctr">
              <a:spcBef>
                <a:spcPts val="0"/>
              </a:spcBef>
            </a:pPr>
            <a:r>
              <a:rPr sz="1400" b="0" i="0">
                <a:solidFill>
                  <a:srgbClr val="122738"/>
                </a:solidFill>
                <a:latin typeface="Segoe UI"/>
              </a:rPr>
              <a:t>Tiers</a:t>
            </a:r>
          </a:p>
          <a:p>
            <a:pPr algn="ctr">
              <a:spcBef>
                <a:spcPts val="500"/>
              </a:spcBef>
            </a:pPr>
            <a:r>
              <a:rPr sz="1400" b="0" i="0">
                <a:solidFill>
                  <a:srgbClr val="122738"/>
                </a:solidFill>
                <a:latin typeface="Segoe UI"/>
              </a:rPr>
              <a:t>prestataires TIC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49775" y="1709928"/>
            <a:ext cx="1992111" cy="310896"/>
          </a:xfrm>
          <a:prstGeom prst="rect">
            <a:avLst/>
          </a:prstGeom>
          <a:solidFill>
            <a:srgbClr val="223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Segoe UI"/>
              </a:rPr>
              <a:t>P5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49775" y="2020824"/>
            <a:ext cx="1992111" cy="1563623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/>
          <a:lstStyle/>
          <a:p>
            <a:pPr algn="ctr">
              <a:spcBef>
                <a:spcPts val="0"/>
              </a:spcBef>
            </a:pPr>
            <a:r>
              <a:rPr sz="1400" b="0" i="0">
                <a:solidFill>
                  <a:srgbClr val="122738"/>
                </a:solidFill>
                <a:latin typeface="Segoe UI"/>
              </a:rPr>
              <a:t>Partage</a:t>
            </a:r>
          </a:p>
          <a:p>
            <a:pPr algn="ctr">
              <a:spcBef>
                <a:spcPts val="500"/>
              </a:spcBef>
            </a:pPr>
            <a:r>
              <a:rPr sz="1400" b="0" i="0">
                <a:solidFill>
                  <a:srgbClr val="122738"/>
                </a:solidFill>
                <a:latin typeface="Segoe UI"/>
              </a:rPr>
              <a:t>sur les cybermenaces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4160520"/>
            <a:ext cx="10692079" cy="1490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0" i="0">
                <a:solidFill>
                  <a:srgbClr val="122738"/>
                </a:solidFill>
                <a:latin typeface="Segoe UI"/>
              </a:rPr>
              <a:t>Une gouvernance défaillante retarde la détection des incidents ; une dépendance non maîtrisée ouvre une porte que les tests n'ont pas explorée ; un partage d'information absent prive des trois autres.</a:t>
            </a:r>
          </a:p>
          <a:p>
            <a:pPr algn="l">
              <a:spcBef>
                <a:spcPts val="1400"/>
              </a:spcBef>
            </a:pPr>
            <a:r>
              <a:rPr sz="1600" b="1" i="0">
                <a:solidFill>
                  <a:srgbClr val="B10031"/>
                </a:solidFill>
                <a:latin typeface="Segoe UI"/>
              </a:rPr>
              <a:t>En rouge, les deux piliers qui émettent le plus dans la matrice calibrée.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5788152"/>
            <a:ext cx="11057839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5788152"/>
            <a:ext cx="76200" cy="548640"/>
          </a:xfrm>
          <a:prstGeom prst="rect">
            <a:avLst/>
          </a:pr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5907024"/>
            <a:ext cx="1078351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B10031"/>
                </a:solidFill>
                <a:latin typeface="Segoe UI"/>
              </a:rPr>
              <a:t>Message clé   </a:t>
            </a:r>
            <a:r>
              <a:rPr sz="1400" b="0" i="0">
                <a:solidFill>
                  <a:srgbClr val="595959"/>
                </a:solidFill>
                <a:latin typeface="Segoe UI"/>
              </a:rPr>
              <a:t>la non-conformité ne reste pas dans son pilier, elle se propage, et c'est ce que le modèle doit porter.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428232"/>
            <a:ext cx="100519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1">
                <a:solidFill>
                  <a:srgbClr val="A5A5A5"/>
                </a:solidFill>
                <a:latin typeface="Segoe UI"/>
              </a:rPr>
              <a:t>Sources : mémoire, chapitres 1 et 2 ; matrice de propagation, chapitre 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0" y="0"/>
                </a:moveTo>
                <a:lnTo>
                  <a:pt x="566928" y="0"/>
                </a:lnTo>
                <a:lnTo>
                  <a:pt x="0" y="841248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274320" y="0"/>
                </a:moveTo>
                <a:lnTo>
                  <a:pt x="566928" y="0"/>
                </a:lnTo>
                <a:lnTo>
                  <a:pt x="0" y="841248"/>
                </a:lnTo>
                <a:lnTo>
                  <a:pt x="0" y="438912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x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447" y="182880"/>
            <a:ext cx="1481328" cy="539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85855" y="6428232"/>
            <a:ext cx="502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00" b="0" i="0">
                <a:solidFill>
                  <a:srgbClr val="A5A5A5"/>
                </a:solidFill>
                <a:latin typeface="Segoe U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92608"/>
            <a:ext cx="895471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 i="0">
                <a:solidFill>
                  <a:srgbClr val="223E55"/>
                </a:solidFill>
                <a:latin typeface="Georgia"/>
              </a:rPr>
              <a:t>La donnée montre la co-occurrence, jamais la direction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804672"/>
            <a:ext cx="895471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1" i="0">
                <a:solidFill>
                  <a:srgbClr val="B10031"/>
                </a:solidFill>
                <a:latin typeface="Georgia"/>
              </a:rPr>
              <a:t>Sept sources, et chacune avec son statut de preuve déclaré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5847" y="1335024"/>
            <a:ext cx="0" cy="4288536"/>
          </a:xfrm>
          <a:prstGeom prst="line">
            <a:avLst/>
          </a:prstGeom>
          <a:ln w="15875">
            <a:solidFill>
              <a:srgbClr val="9DC3C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49808" y="1389888"/>
            <a:ext cx="5071719" cy="310896"/>
          </a:xfrm>
          <a:prstGeom prst="rect">
            <a:avLst/>
          </a:prstGeom>
          <a:solidFill>
            <a:srgbClr val="223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Segoe UI"/>
              </a:rPr>
              <a:t>Observable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865376"/>
            <a:ext cx="5071719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spcBef>
                <a:spcPts val="0"/>
              </a:spcBef>
            </a:pPr>
            <a:r>
              <a:rPr sz="15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500" b="0" i="0">
                <a:solidFill>
                  <a:srgbClr val="122738"/>
                </a:solidFill>
                <a:latin typeface="Segoe UI"/>
              </a:rPr>
              <a:t>Fréquence des incidents, par année et par entité</a:t>
            </a:r>
          </a:p>
          <a:p>
            <a:pPr algn="l" marL="219456" indent="-219456">
              <a:spcBef>
                <a:spcPts val="1300"/>
              </a:spcBef>
            </a:pPr>
            <a:r>
              <a:rPr sz="15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500" b="0" i="0">
                <a:solidFill>
                  <a:srgbClr val="122738"/>
                </a:solidFill>
                <a:latin typeface="Segoe UI"/>
              </a:rPr>
              <a:t>Sévérité des pertes, en euros, au-delà d'un seuil</a:t>
            </a:r>
          </a:p>
          <a:p>
            <a:pPr algn="l" marL="219456" indent="-219456">
              <a:spcBef>
                <a:spcPts val="1300"/>
              </a:spcBef>
            </a:pPr>
            <a:r>
              <a:rPr sz="15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500" b="0" i="0">
                <a:solidFill>
                  <a:srgbClr val="122738"/>
                </a:solidFill>
                <a:latin typeface="Segoe UI"/>
              </a:rPr>
              <a:t>Co-occurrence entre piliers dans un même sinistre</a:t>
            </a:r>
          </a:p>
          <a:p>
            <a:pPr algn="l" marL="219456" indent="-219456">
              <a:spcBef>
                <a:spcPts val="1300"/>
              </a:spcBef>
            </a:pPr>
            <a:r>
              <a:rPr sz="15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500" b="0" i="0">
                <a:solidFill>
                  <a:srgbClr val="122738"/>
                </a:solidFill>
                <a:latin typeface="Segoe UI"/>
              </a:rPr>
              <a:t>Structure du risque par vecteur d'attaque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1879" y="1389888"/>
            <a:ext cx="5090007" cy="310896"/>
          </a:xfrm>
          <a:prstGeom prst="rect">
            <a:avLst/>
          </a:pr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Segoe UI"/>
              </a:rPr>
              <a:t>Non identifiable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1879" y="1865376"/>
            <a:ext cx="5090007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spcBef>
                <a:spcPts val="0"/>
              </a:spcBef>
            </a:pPr>
            <a:r>
              <a:rPr sz="15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500" b="0" i="0">
                <a:solidFill>
                  <a:srgbClr val="122738"/>
                </a:solidFill>
                <a:latin typeface="Segoe UI"/>
              </a:rPr>
              <a:t>La DIRECTION de la contagion</a:t>
            </a:r>
          </a:p>
          <a:p>
            <a:pPr algn="l" marL="219456" indent="-219456">
              <a:spcBef>
                <a:spcPts val="1300"/>
              </a:spcBef>
            </a:pPr>
            <a:r>
              <a:rPr sz="15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500" b="0" i="0">
                <a:solidFill>
                  <a:srgbClr val="122738"/>
                </a:solidFill>
                <a:latin typeface="Segoe UI"/>
              </a:rPr>
              <a:t>Quel pilier entraîne l'autre</a:t>
            </a:r>
          </a:p>
          <a:p>
            <a:pPr algn="l" marL="219456" indent="-219456">
              <a:spcBef>
                <a:spcPts val="1300"/>
              </a:spcBef>
            </a:pPr>
            <a:r>
              <a:rPr sz="15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500" b="0" i="0">
                <a:solidFill>
                  <a:srgbClr val="122738"/>
                </a:solidFill>
                <a:latin typeface="Segoe UI"/>
              </a:rPr>
              <a:t>Une matrice et sa transposée sont indistinguables</a:t>
            </a:r>
          </a:p>
          <a:p>
            <a:pPr algn="l" marL="219456" indent="-219456">
              <a:spcBef>
                <a:spcPts val="1300"/>
              </a:spcBef>
            </a:pPr>
            <a:r>
              <a:rPr sz="15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500" b="0" i="0">
                <a:solidFill>
                  <a:srgbClr val="122738"/>
                </a:solidFill>
                <a:latin typeface="Segoe UI"/>
              </a:rPr>
              <a:t>Et elles donnent pourtant un capital différent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023360"/>
            <a:ext cx="10692079" cy="16276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122738"/>
                </a:solidFill>
                <a:latin typeface="Segoe UI"/>
              </a:rPr>
              <a:t>Deux statuts de preuve sont distingués dans tout le document : la donnée versionnée et rejouable, et la citation externe non recalculable.</a:t>
            </a:r>
          </a:p>
          <a:p>
            <a:pPr algn="l">
              <a:spcBef>
                <a:spcPts val="1300"/>
              </a:spcBef>
            </a:pPr>
            <a:r>
              <a:rPr sz="1500" b="1" i="0">
                <a:solidFill>
                  <a:srgbClr val="B10031"/>
                </a:solidFill>
                <a:latin typeface="Segoe UI"/>
              </a:rPr>
              <a:t>Cette limite n'est pas un manque de données à combler par plus de données du même type : elle est structurelle, et elle commande la suite.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788152"/>
            <a:ext cx="11057839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788152"/>
            <a:ext cx="76200" cy="548640"/>
          </a:xfrm>
          <a:prstGeom prst="rect">
            <a:avLst/>
          </a:pr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5907024"/>
            <a:ext cx="1078351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B10031"/>
                </a:solidFill>
                <a:latin typeface="Segoe UI"/>
              </a:rPr>
              <a:t>Message clé   </a:t>
            </a:r>
            <a:r>
              <a:rPr sz="1400" b="0" i="0">
                <a:solidFill>
                  <a:srgbClr val="595959"/>
                </a:solidFill>
                <a:latin typeface="Segoe UI"/>
              </a:rPr>
              <a:t>la frontière est dans la nature de l'observable, pas dans la taille de l'échantillon.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28232"/>
            <a:ext cx="100519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1">
                <a:solidFill>
                  <a:srgbClr val="A5A5A5"/>
                </a:solidFill>
                <a:latin typeface="Segoe UI"/>
              </a:rPr>
              <a:t>Sources : mémoire, chapitre 4 (sources et statuts de preuve) et chapitre 8.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0" y="0"/>
                </a:moveTo>
                <a:lnTo>
                  <a:pt x="566928" y="0"/>
                </a:lnTo>
                <a:lnTo>
                  <a:pt x="0" y="841248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274320" y="0"/>
                </a:moveTo>
                <a:lnTo>
                  <a:pt x="566928" y="0"/>
                </a:lnTo>
                <a:lnTo>
                  <a:pt x="0" y="841248"/>
                </a:lnTo>
                <a:lnTo>
                  <a:pt x="0" y="438912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x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447" y="182880"/>
            <a:ext cx="1481328" cy="539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85855" y="6428232"/>
            <a:ext cx="502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00" b="0" i="0">
                <a:solidFill>
                  <a:srgbClr val="A5A5A5"/>
                </a:solidFill>
                <a:latin typeface="Segoe U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92608"/>
            <a:ext cx="895471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 i="0">
                <a:solidFill>
                  <a:srgbClr val="223E55"/>
                </a:solidFill>
                <a:latin typeface="Georgia"/>
              </a:rPr>
              <a:t>D'un état de conformité à une décision, en quatre étages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804672"/>
            <a:ext cx="895471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1" i="0">
                <a:solidFill>
                  <a:srgbClr val="B10031"/>
                </a:solidFill>
                <a:latin typeface="Georgia"/>
              </a:rPr>
              <a:t>Deux canaux calibrables, deux canaux bornés</a:t>
            </a:r>
          </a:p>
        </p:txBody>
      </p:sp>
      <p:sp>
        <p:nvSpPr>
          <p:cNvPr id="9" name="Pentagon 8"/>
          <p:cNvSpPr/>
          <p:nvPr/>
        </p:nvSpPr>
        <p:spPr>
          <a:xfrm>
            <a:off x="749808" y="1591056"/>
            <a:ext cx="2508427" cy="457200"/>
          </a:xfrm>
          <a:prstGeom prst="homePlate">
            <a:avLst/>
          </a:prstGeom>
          <a:solidFill>
            <a:srgbClr val="223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Segoe UI"/>
              </a:rPr>
              <a:t>État de conformité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157984"/>
            <a:ext cx="2508427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595959"/>
                </a:solidFill>
                <a:latin typeface="Segoe UI"/>
              </a:rPr>
              <a:t>par pilier,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595959"/>
                </a:solidFill>
                <a:latin typeface="Segoe UI"/>
              </a:rPr>
              <a:t>chaîne de Markov</a:t>
            </a:r>
          </a:p>
        </p:txBody>
      </p:sp>
      <p:sp>
        <p:nvSpPr>
          <p:cNvPr id="11" name="Pentagon 10"/>
          <p:cNvSpPr/>
          <p:nvPr/>
        </p:nvSpPr>
        <p:spPr>
          <a:xfrm>
            <a:off x="3477691" y="1591056"/>
            <a:ext cx="2508427" cy="457200"/>
          </a:xfrm>
          <a:prstGeom prst="homePlate">
            <a:avLst/>
          </a:pr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Segoe UI"/>
              </a:rPr>
              <a:t>Quatre canaux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7691" y="2157984"/>
            <a:ext cx="2508427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595959"/>
                </a:solidFill>
                <a:latin typeface="Segoe UI"/>
              </a:rPr>
              <a:t>fréquence, détection,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595959"/>
                </a:solidFill>
                <a:latin typeface="Segoe UI"/>
              </a:rPr>
              <a:t>propagation, accumulation</a:t>
            </a:r>
          </a:p>
        </p:txBody>
      </p:sp>
      <p:sp>
        <p:nvSpPr>
          <p:cNvPr id="13" name="Pentagon 12"/>
          <p:cNvSpPr/>
          <p:nvPr/>
        </p:nvSpPr>
        <p:spPr>
          <a:xfrm>
            <a:off x="6205575" y="1591056"/>
            <a:ext cx="2508427" cy="457200"/>
          </a:xfrm>
          <a:prstGeom prst="homePlate">
            <a:avLst/>
          </a:prstGeom>
          <a:solidFill>
            <a:srgbClr val="223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Segoe UI"/>
              </a:rPr>
              <a:t>Perte annuelle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5575" y="2157984"/>
            <a:ext cx="2508427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595959"/>
                </a:solidFill>
                <a:latin typeface="Segoe UI"/>
              </a:rPr>
              <a:t>fréquence et sévérité,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595959"/>
                </a:solidFill>
                <a:latin typeface="Segoe UI"/>
              </a:rPr>
              <a:t>cascade entre piliers</a:t>
            </a:r>
          </a:p>
        </p:txBody>
      </p:sp>
      <p:sp>
        <p:nvSpPr>
          <p:cNvPr id="15" name="Pentagon 14"/>
          <p:cNvSpPr/>
          <p:nvPr/>
        </p:nvSpPr>
        <p:spPr>
          <a:xfrm>
            <a:off x="8933459" y="1591056"/>
            <a:ext cx="2508427" cy="457200"/>
          </a:xfrm>
          <a:prstGeom prst="homePlate">
            <a:avLst/>
          </a:prstGeom>
          <a:solidFill>
            <a:srgbClr val="223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Bef>
                <a:spcPts val="0"/>
              </a:spcBef>
            </a:pPr>
            <a:r>
              <a:rPr sz="1300" b="1" i="0">
                <a:solidFill>
                  <a:srgbClr val="FFFFFF"/>
                </a:solidFill>
                <a:latin typeface="Segoe UI"/>
              </a:rPr>
              <a:t>Capital et décision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459" y="2157984"/>
            <a:ext cx="2508427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0" i="0">
                <a:solidFill>
                  <a:srgbClr val="595959"/>
                </a:solidFill>
                <a:latin typeface="Segoe UI"/>
              </a:rPr>
              <a:t>quantile à 99,5 %,</a:t>
            </a:r>
          </a:p>
          <a:p>
            <a:pPr algn="l">
              <a:spcBef>
                <a:spcPts val="300"/>
              </a:spcBef>
            </a:pPr>
            <a:r>
              <a:rPr sz="1100" b="0" i="0">
                <a:solidFill>
                  <a:srgbClr val="595959"/>
                </a:solidFill>
                <a:latin typeface="Segoe UI"/>
              </a:rPr>
              <a:t>remédier ou transférer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5847" y="3246120"/>
            <a:ext cx="0" cy="2103120"/>
          </a:xfrm>
          <a:prstGeom prst="line">
            <a:avLst/>
          </a:prstGeom>
          <a:ln w="15875">
            <a:solidFill>
              <a:srgbClr val="9DC3C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749808" y="3246120"/>
            <a:ext cx="5071719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B10031"/>
                </a:solidFill>
                <a:latin typeface="Segoe UI"/>
              </a:rPr>
              <a:t>① </a:t>
            </a:r>
            <a:r>
              <a:rPr sz="1500" b="1" i="0">
                <a:solidFill>
                  <a:srgbClr val="223E55"/>
                </a:solidFill>
                <a:latin typeface="Segoe UI"/>
              </a:rPr>
              <a:t>Calibrés sur données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575304"/>
            <a:ext cx="5071719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spcBef>
                <a:spcPts val="0"/>
              </a:spcBef>
            </a:pPr>
            <a:r>
              <a:rPr sz="15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500" b="0" i="0">
                <a:solidFill>
                  <a:srgbClr val="122738"/>
                </a:solidFill>
                <a:latin typeface="Segoe UI"/>
              </a:rPr>
              <a:t>Fréquence des incidents</a:t>
            </a:r>
          </a:p>
          <a:p>
            <a:pPr algn="l" marL="219456" indent="-219456">
              <a:spcBef>
                <a:spcPts val="1100"/>
              </a:spcBef>
            </a:pPr>
            <a:r>
              <a:rPr sz="15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500" b="0" i="0">
                <a:solidFill>
                  <a:srgbClr val="122738"/>
                </a:solidFill>
                <a:latin typeface="Segoe UI"/>
              </a:rPr>
              <a:t>Taux de détection des pertes</a:t>
            </a:r>
          </a:p>
          <a:p>
            <a:pPr algn="l">
              <a:spcBef>
                <a:spcPts val="1100"/>
              </a:spcBef>
            </a:pPr>
            <a:r>
              <a:rPr sz="1400" b="0" i="0">
                <a:solidFill>
                  <a:srgbClr val="595959"/>
                </a:solidFill>
                <a:latin typeface="Segoe UI"/>
              </a:rPr>
              <a:t>Ces deux canaux portent un intervalle estimé.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3246120"/>
            <a:ext cx="509000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B10031"/>
                </a:solidFill>
                <a:latin typeface="Segoe UI"/>
              </a:rPr>
              <a:t>② </a:t>
            </a:r>
            <a:r>
              <a:rPr sz="1500" b="1" i="0">
                <a:solidFill>
                  <a:srgbClr val="223E55"/>
                </a:solidFill>
                <a:latin typeface="Segoe UI"/>
              </a:rPr>
              <a:t>Bornés, non calibrés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1879" y="3575304"/>
            <a:ext cx="5090007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spcBef>
                <a:spcPts val="0"/>
              </a:spcBef>
            </a:pPr>
            <a:r>
              <a:rPr sz="15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500" b="0" i="0">
                <a:solidFill>
                  <a:srgbClr val="122738"/>
                </a:solidFill>
                <a:latin typeface="Segoe UI"/>
              </a:rPr>
              <a:t>Gain de propagation entre piliers</a:t>
            </a:r>
          </a:p>
          <a:p>
            <a:pPr algn="l" marL="219456" indent="-219456">
              <a:spcBef>
                <a:spcPts val="1100"/>
              </a:spcBef>
            </a:pPr>
            <a:r>
              <a:rPr sz="15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500" b="0" i="0">
                <a:solidFill>
                  <a:srgbClr val="122738"/>
                </a:solidFill>
                <a:latin typeface="Segoe UI"/>
              </a:rPr>
              <a:t>Accumulation par prestataire commun</a:t>
            </a:r>
          </a:p>
          <a:p>
            <a:pPr algn="l">
              <a:spcBef>
                <a:spcPts val="1100"/>
              </a:spcBef>
            </a:pPr>
            <a:r>
              <a:rPr sz="1400" b="0" i="0">
                <a:solidFill>
                  <a:srgbClr val="595959"/>
                </a:solidFill>
                <a:latin typeface="Segoe UI"/>
              </a:rPr>
              <a:t>Ces deux canaux portent un scénario borné, et leur part n'est pas un budget de remédiation.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788152"/>
            <a:ext cx="11057839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66928" y="5788152"/>
            <a:ext cx="76200" cy="548640"/>
          </a:xfrm>
          <a:prstGeom prst="rect">
            <a:avLst/>
          </a:pr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5907024"/>
            <a:ext cx="1078351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B10031"/>
                </a:solidFill>
                <a:latin typeface="Segoe UI"/>
              </a:rPr>
              <a:t>Message clé   </a:t>
            </a:r>
            <a:r>
              <a:rPr sz="1400" b="0" i="0">
                <a:solidFill>
                  <a:srgbClr val="595959"/>
                </a:solidFill>
                <a:latin typeface="Segoe UI"/>
              </a:rPr>
              <a:t>le modèle est partiellement calibré et partiellement borné, et le document dit lequel est lequel.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6428232"/>
            <a:ext cx="100519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1">
                <a:solidFill>
                  <a:srgbClr val="A5A5A5"/>
                </a:solidFill>
                <a:latin typeface="Segoe UI"/>
              </a:rPr>
              <a:t>Sources : mémoire, chapitres 5 à 10.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0" y="0"/>
                </a:moveTo>
                <a:lnTo>
                  <a:pt x="566928" y="0"/>
                </a:lnTo>
                <a:lnTo>
                  <a:pt x="0" y="841248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274320" y="0"/>
                </a:moveTo>
                <a:lnTo>
                  <a:pt x="566928" y="0"/>
                </a:lnTo>
                <a:lnTo>
                  <a:pt x="0" y="841248"/>
                </a:lnTo>
                <a:lnTo>
                  <a:pt x="0" y="438912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x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447" y="182880"/>
            <a:ext cx="1481328" cy="539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85855" y="6428232"/>
            <a:ext cx="502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00" b="0" i="0">
                <a:solidFill>
                  <a:srgbClr val="A5A5A5"/>
                </a:solidFill>
                <a:latin typeface="Segoe U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92608"/>
            <a:ext cx="895471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600" b="1" i="0">
                <a:solidFill>
                  <a:srgbClr val="223E55"/>
                </a:solidFill>
                <a:latin typeface="Georgia"/>
              </a:rPr>
              <a:t>L'ordre de propagation change la criticité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804672"/>
            <a:ext cx="895471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1" i="0">
                <a:solidFill>
                  <a:srgbClr val="B10031"/>
                </a:solidFill>
                <a:latin typeface="Georgia"/>
              </a:rPr>
              <a:t>Ce qu'une structure de dépendance symétrique ne peut pas voir</a:t>
            </a:r>
          </a:p>
        </p:txBody>
      </p:sp>
      <p:pic>
        <p:nvPicPr>
          <p:cNvPr id="9" name="Picture 8" descr="H1_reseau_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2467" y="1389888"/>
            <a:ext cx="9486761" cy="428853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66928" y="5788152"/>
            <a:ext cx="11057839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5788152"/>
            <a:ext cx="76200" cy="548640"/>
          </a:xfrm>
          <a:prstGeom prst="rect">
            <a:avLst/>
          </a:pr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5907024"/>
            <a:ext cx="1078351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B10031"/>
                </a:solidFill>
                <a:latin typeface="Segoe UI"/>
              </a:rPr>
              <a:t>Message clé   </a:t>
            </a:r>
            <a:r>
              <a:rPr sz="1400" b="0" i="0">
                <a:solidFill>
                  <a:srgbClr val="595959"/>
                </a:solidFill>
                <a:latin typeface="Segoe UI"/>
              </a:rPr>
              <a:t>une copule capture la co-occurrence des pertes, mais symétriquement : elle ne distingue pas ce qui entraîne de ce qui subit.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6428232"/>
            <a:ext cx="100519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1">
                <a:solidFill>
                  <a:srgbClr val="A5A5A5"/>
                </a:solidFill>
                <a:latin typeface="Segoe UI"/>
              </a:rPr>
              <a:t>Sources : mémoire, chapitre 6 ; figure produite par le script 29 ; comparaison au jumeau copule, chapitre 10.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0" y="0"/>
                </a:moveTo>
                <a:lnTo>
                  <a:pt x="566928" y="0"/>
                </a:lnTo>
                <a:lnTo>
                  <a:pt x="0" y="841248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274320" y="0"/>
                </a:moveTo>
                <a:lnTo>
                  <a:pt x="566928" y="0"/>
                </a:lnTo>
                <a:lnTo>
                  <a:pt x="0" y="841248"/>
                </a:lnTo>
                <a:lnTo>
                  <a:pt x="0" y="438912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x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447" y="182880"/>
            <a:ext cx="1481328" cy="539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85855" y="6428232"/>
            <a:ext cx="502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00" b="0" i="0">
                <a:solidFill>
                  <a:srgbClr val="A5A5A5"/>
                </a:solidFill>
                <a:latin typeface="Segoe U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92608"/>
            <a:ext cx="895471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 i="0">
                <a:solidFill>
                  <a:srgbClr val="223E55"/>
                </a:solidFill>
                <a:latin typeface="Georgia"/>
              </a:rPr>
              <a:t>La direction n'est pas identifiable, et c'est un résultat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804672"/>
            <a:ext cx="895471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1" i="0">
                <a:solidFill>
                  <a:srgbClr val="B10031"/>
                </a:solidFill>
                <a:latin typeface="Georgia"/>
              </a:rPr>
              <a:t>Le coeur du mémoire</a:t>
            </a:r>
          </a:p>
        </p:txBody>
      </p:sp>
      <p:pic>
        <p:nvPicPr>
          <p:cNvPr id="9" name="Picture 8" descr="Z11_reversibilite_martinga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592536"/>
            <a:ext cx="5126583" cy="3883239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6095847" y="1335024"/>
            <a:ext cx="0" cy="4288536"/>
          </a:xfrm>
          <a:prstGeom prst="line">
            <a:avLst/>
          </a:prstGeom>
          <a:ln w="15875">
            <a:solidFill>
              <a:srgbClr val="9DC3C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351879" y="1618488"/>
            <a:ext cx="5090007" cy="4032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122738"/>
                </a:solidFill>
                <a:latin typeface="Segoe UI"/>
              </a:rPr>
              <a:t>La matrice se décompose en une partie symétrique et une partie antisymétrique.</a:t>
            </a:r>
          </a:p>
          <a:p>
            <a:pPr algn="l">
              <a:spcBef>
                <a:spcPts val="1500"/>
              </a:spcBef>
            </a:pPr>
            <a:r>
              <a:rPr sz="1500" b="1" i="0">
                <a:solidFill>
                  <a:srgbClr val="223E55"/>
                </a:solidFill>
                <a:latin typeface="Segoe UI"/>
              </a:rPr>
              <a:t>La donnée identifie la première, la co-occurrence.</a:t>
            </a:r>
          </a:p>
          <a:p>
            <a:pPr algn="l">
              <a:spcBef>
                <a:spcPts val="1500"/>
              </a:spcBef>
            </a:pPr>
            <a:r>
              <a:rPr sz="1500" b="1" i="0">
                <a:solidFill>
                  <a:srgbClr val="B10031"/>
                </a:solidFill>
                <a:latin typeface="Segoe UI"/>
              </a:rPr>
              <a:t>Elle n'identifie pas la seconde, la direction.</a:t>
            </a:r>
          </a:p>
          <a:p>
            <a:pPr algn="l">
              <a:spcBef>
                <a:spcPts val="1500"/>
              </a:spcBef>
            </a:pPr>
            <a:r>
              <a:rPr sz="1500" b="0" i="0">
                <a:solidFill>
                  <a:srgbClr val="122738"/>
                </a:solidFill>
                <a:latin typeface="Segoe UI"/>
              </a:rPr>
              <a:t>Une matrice et sa transposée sont indistinguables pour la donnée, et donnent pourtant un capital et une décision différents.</a:t>
            </a:r>
          </a:p>
          <a:p>
            <a:pPr algn="l">
              <a:spcBef>
                <a:spcPts val="1500"/>
              </a:spcBef>
            </a:pPr>
            <a:r>
              <a:rPr sz="1400" b="0" i="0">
                <a:solidFill>
                  <a:srgbClr val="595959"/>
                </a:solidFill>
                <a:latin typeface="Segoe UI"/>
              </a:rPr>
              <a:t>Ce n'est pas un échec du modèle : c'est ce qui interdit de publier une direction comme si elle avait été observée.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788152"/>
            <a:ext cx="11057839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5788152"/>
            <a:ext cx="76200" cy="548640"/>
          </a:xfrm>
          <a:prstGeom prst="rect">
            <a:avLst/>
          </a:pr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5907024"/>
            <a:ext cx="1078351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B10031"/>
                </a:solidFill>
                <a:latin typeface="Segoe UI"/>
              </a:rPr>
              <a:t>Message clé   </a:t>
            </a:r>
            <a:r>
              <a:rPr sz="1400" b="0" i="0">
                <a:solidFill>
                  <a:srgbClr val="595959"/>
                </a:solidFill>
                <a:latin typeface="Segoe UI"/>
              </a:rPr>
              <a:t>un résultat d'identification, et non une limite de l'estimation.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28232"/>
            <a:ext cx="100519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1">
                <a:solidFill>
                  <a:srgbClr val="A5A5A5"/>
                </a:solidFill>
                <a:latin typeface="Segoe UI"/>
              </a:rPr>
              <a:t>Sources : mémoire, chapitre 8 ; script 40.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0" y="0"/>
                </a:moveTo>
                <a:lnTo>
                  <a:pt x="566928" y="0"/>
                </a:lnTo>
                <a:lnTo>
                  <a:pt x="0" y="841248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274320" y="0"/>
                </a:moveTo>
                <a:lnTo>
                  <a:pt x="566928" y="0"/>
                </a:lnTo>
                <a:lnTo>
                  <a:pt x="0" y="841248"/>
                </a:lnTo>
                <a:lnTo>
                  <a:pt x="0" y="438912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x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447" y="182880"/>
            <a:ext cx="1481328" cy="539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85855" y="6428232"/>
            <a:ext cx="502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00" b="0" i="0">
                <a:solidFill>
                  <a:srgbClr val="A5A5A5"/>
                </a:solidFill>
                <a:latin typeface="Segoe U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92608"/>
            <a:ext cx="895471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600" b="1" i="0">
                <a:solidFill>
                  <a:srgbClr val="223E55"/>
                </a:solidFill>
                <a:latin typeface="Georgia"/>
              </a:rPr>
              <a:t>Du point à la bande : borner plutôt que poser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804672"/>
            <a:ext cx="895471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1" i="0">
                <a:solidFill>
                  <a:srgbClr val="B10031"/>
                </a:solidFill>
                <a:latin typeface="Georgia"/>
              </a:rPr>
              <a:t>Identification partielle sur l'ensemble des matrices admissibles</a:t>
            </a:r>
          </a:p>
        </p:txBody>
      </p:sp>
      <p:pic>
        <p:nvPicPr>
          <p:cNvPr id="9" name="Picture 8" descr="Z_identification_partiel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7558" y="1389888"/>
            <a:ext cx="4711082" cy="4288536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6095847" y="1335024"/>
            <a:ext cx="0" cy="4288536"/>
          </a:xfrm>
          <a:prstGeom prst="line">
            <a:avLst/>
          </a:prstGeom>
          <a:ln w="15875">
            <a:solidFill>
              <a:srgbClr val="9DC3C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351879" y="1618488"/>
            <a:ext cx="5090007" cy="40325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0" i="0">
                <a:solidFill>
                  <a:srgbClr val="122738"/>
                </a:solidFill>
                <a:latin typeface="Segoe UI"/>
              </a:rPr>
              <a:t>Plutôt que de poser la direction, le capital est borné sur l'ensemble des matrices compatibles avec ce que la donnée identifie.</a:t>
            </a:r>
          </a:p>
          <a:p>
            <a:pPr algn="l">
              <a:spcBef>
                <a:spcPts val="1500"/>
              </a:spcBef>
            </a:pPr>
            <a:r>
              <a:rPr sz="1500" b="1" i="0">
                <a:solidFill>
                  <a:srgbClr val="223E55"/>
                </a:solidFill>
                <a:latin typeface="Segoe UI"/>
              </a:rPr>
              <a:t>1 024 sommets, énumérés exhaustivement</a:t>
            </a:r>
          </a:p>
          <a:p>
            <a:pPr algn="l">
              <a:spcBef>
                <a:spcPts val="1500"/>
              </a:spcBef>
            </a:pPr>
            <a:r>
              <a:rPr sz="1500" b="0" i="0">
                <a:solidFill>
                  <a:srgbClr val="122738"/>
                </a:solidFill>
                <a:latin typeface="Segoe UI"/>
              </a:rPr>
              <a:t>L'ignorance directionnelle se paye linéairement, et son coût maximal est connu d'avance : c'est plus favorable qu'un intervalle de confiance ordinaire.</a:t>
            </a:r>
          </a:p>
          <a:p>
            <a:pPr algn="l">
              <a:spcBef>
                <a:spcPts val="1500"/>
              </a:spcBef>
            </a:pPr>
            <a:r>
              <a:rPr sz="1500" b="1" i="0">
                <a:solidFill>
                  <a:srgbClr val="B10031"/>
                </a:solidFill>
                <a:latin typeface="Segoe UI"/>
              </a:rPr>
              <a:t>Le niveau affiché reste illustratif.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5788152"/>
            <a:ext cx="11057839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66928" y="5788152"/>
            <a:ext cx="76200" cy="548640"/>
          </a:xfrm>
          <a:prstGeom prst="rect">
            <a:avLst/>
          </a:pr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5907024"/>
            <a:ext cx="1078351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B10031"/>
                </a:solidFill>
                <a:latin typeface="Segoe UI"/>
              </a:rPr>
              <a:t>Message clé   </a:t>
            </a:r>
            <a:r>
              <a:rPr sz="1400" b="0" i="0">
                <a:solidFill>
                  <a:srgbClr val="595959"/>
                </a:solidFill>
                <a:latin typeface="Segoe UI"/>
              </a:rPr>
              <a:t>la bande quantifie une incertitude structurelle au lieu de la masquer derrière un point.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28232"/>
            <a:ext cx="100519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1">
                <a:solidFill>
                  <a:srgbClr val="A5A5A5"/>
                </a:solidFill>
                <a:latin typeface="Segoe UI"/>
              </a:rPr>
              <a:t>Sources : mémoire, chapitre 9 ; scripts 30 et 40.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0" y="0"/>
                </a:moveTo>
                <a:lnTo>
                  <a:pt x="566928" y="0"/>
                </a:lnTo>
                <a:lnTo>
                  <a:pt x="0" y="841248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274320" y="0"/>
                </a:moveTo>
                <a:lnTo>
                  <a:pt x="566928" y="0"/>
                </a:lnTo>
                <a:lnTo>
                  <a:pt x="0" y="841248"/>
                </a:lnTo>
                <a:lnTo>
                  <a:pt x="0" y="438912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x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447" y="182880"/>
            <a:ext cx="1481328" cy="539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85855" y="6428232"/>
            <a:ext cx="502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00" b="0" i="0">
                <a:solidFill>
                  <a:srgbClr val="A5A5A5"/>
                </a:solidFill>
                <a:latin typeface="Segoe UI"/>
              </a:rP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92608"/>
            <a:ext cx="895471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 i="0">
                <a:solidFill>
                  <a:srgbClr val="223E55"/>
                </a:solidFill>
                <a:latin typeface="Georgia"/>
              </a:rPr>
              <a:t>Quatre canaux déplacés, et leurs effets ne s'additionnent pas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804672"/>
            <a:ext cx="895471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1" i="0">
                <a:solidFill>
                  <a:srgbClr val="B10031"/>
                </a:solidFill>
                <a:latin typeface="Georgia"/>
              </a:rPr>
              <a:t>Au secteur, et non à l'échelle d'une entité</a:t>
            </a:r>
          </a:p>
        </p:txBody>
      </p:sp>
      <p:pic>
        <p:nvPicPr>
          <p:cNvPr id="9" name="Picture 8" descr="S24_interaction_canau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02739" y="1389888"/>
            <a:ext cx="8586216" cy="28620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808" y="4434840"/>
            <a:ext cx="106920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 i="0">
                <a:solidFill>
                  <a:srgbClr val="122738"/>
                </a:solidFill>
                <a:latin typeface="Segoe UI"/>
              </a:rPr>
              <a:t>Au secteur, le besoin de capital passe de 6 049 à 20 188 M€, soit un facteur 3,34. La non-conformité n'ajoute aucune pénalité : elle déplace quatre paramètres de la loi de perte.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5102352"/>
            <a:ext cx="3417722" cy="530352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1400" b="0" i="0">
                <a:solidFill>
                  <a:srgbClr val="595959"/>
                </a:solidFill>
                <a:latin typeface="Segoe UI"/>
              </a:rPr>
              <a:t>Canaux isolés   </a:t>
            </a:r>
            <a:r>
              <a:rPr sz="1400" b="1" i="0">
                <a:solidFill>
                  <a:srgbClr val="B10031"/>
                </a:solidFill>
                <a:latin typeface="Segoe UI"/>
              </a:rPr>
              <a:t>9 138 M€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86986" y="5102352"/>
            <a:ext cx="3417722" cy="530352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1400" b="0" i="0">
                <a:solidFill>
                  <a:srgbClr val="595959"/>
                </a:solidFill>
                <a:latin typeface="Segoe UI"/>
              </a:rPr>
              <a:t>Écart total   </a:t>
            </a:r>
            <a:r>
              <a:rPr sz="1400" b="1" i="0">
                <a:solidFill>
                  <a:srgbClr val="B10031"/>
                </a:solidFill>
                <a:latin typeface="Segoe UI"/>
              </a:rPr>
              <a:t>14 139 M€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24164" y="5102352"/>
            <a:ext cx="3417722" cy="530352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</a:pPr>
            <a:r>
              <a:rPr sz="1400" b="0" i="0">
                <a:solidFill>
                  <a:srgbClr val="595959"/>
                </a:solidFill>
                <a:latin typeface="Segoe UI"/>
              </a:rPr>
              <a:t>Interaction   </a:t>
            </a:r>
            <a:r>
              <a:rPr sz="1400" b="1" i="0">
                <a:solidFill>
                  <a:srgbClr val="B10031"/>
                </a:solidFill>
                <a:latin typeface="Segoe UI"/>
              </a:rPr>
              <a:t>5 001 M€, soit 35 %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5788152"/>
            <a:ext cx="11057839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5788152"/>
            <a:ext cx="76200" cy="548640"/>
          </a:xfrm>
          <a:prstGeom prst="rect">
            <a:avLst/>
          </a:pr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5907024"/>
            <a:ext cx="1078351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B10031"/>
                </a:solidFill>
                <a:latin typeface="Segoe UI"/>
              </a:rPr>
              <a:t>Message clé   </a:t>
            </a:r>
            <a:r>
              <a:rPr sz="1400" b="0" i="0">
                <a:solidFill>
                  <a:srgbClr val="595959"/>
                </a:solidFill>
                <a:latin typeface="Segoe UI"/>
              </a:rPr>
              <a:t>remédier un canal rapporte davantage à une entité défaillante partout : c'est la colonne de fermeture qu'un plan doit citer.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6428232"/>
            <a:ext cx="100519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1">
                <a:solidFill>
                  <a:srgbClr val="A5A5A5"/>
                </a:solidFill>
                <a:latin typeface="Segoe UI"/>
              </a:rPr>
              <a:t>Sources : mémoire, chapitre 10 ; scripts 43 et 68.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0" y="0"/>
                </a:moveTo>
                <a:lnTo>
                  <a:pt x="566928" y="0"/>
                </a:lnTo>
                <a:lnTo>
                  <a:pt x="0" y="841248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274320" y="0"/>
                </a:moveTo>
                <a:lnTo>
                  <a:pt x="566928" y="0"/>
                </a:lnTo>
                <a:lnTo>
                  <a:pt x="0" y="841248"/>
                </a:lnTo>
                <a:lnTo>
                  <a:pt x="0" y="438912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x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447" y="182880"/>
            <a:ext cx="1481328" cy="539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85855" y="6428232"/>
            <a:ext cx="502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00" b="0" i="0">
                <a:solidFill>
                  <a:srgbClr val="A5A5A5"/>
                </a:solidFill>
                <a:latin typeface="Segoe U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92608"/>
            <a:ext cx="895471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 i="0">
                <a:solidFill>
                  <a:srgbClr val="223E55"/>
                </a:solidFill>
                <a:latin typeface="Georgia"/>
              </a:rPr>
              <a:t>Le pilier des tiers concentre, il ne propage pas seulement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804672"/>
            <a:ext cx="895471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1" i="0">
                <a:solidFill>
                  <a:srgbClr val="B10031"/>
                </a:solidFill>
                <a:latin typeface="Georgia"/>
              </a:rPr>
              <a:t>Contagion et accumulation sont deux mécanismes distincts</a:t>
            </a:r>
          </a:p>
        </p:txBody>
      </p:sp>
      <p:pic>
        <p:nvPicPr>
          <p:cNvPr id="9" name="Picture 8" descr="Z9_p4_accumul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1376" y="1389888"/>
            <a:ext cx="9288943" cy="34564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808" y="5074920"/>
            <a:ext cx="1069207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 i="0">
                <a:solidFill>
                  <a:srgbClr val="122738"/>
                </a:solidFill>
                <a:latin typeface="Segoe UI"/>
              </a:rPr>
              <a:t>Un prestataire commun crée un choc partagé entre entités : ce n'est plus de la contagion d'un pilier vers un autre dans une même entité, c'est de l'accumulation.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5788152"/>
            <a:ext cx="11057839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5788152"/>
            <a:ext cx="76200" cy="548640"/>
          </a:xfrm>
          <a:prstGeom prst="rect">
            <a:avLst/>
          </a:pr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5907024"/>
            <a:ext cx="1078351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B10031"/>
                </a:solidFill>
                <a:latin typeface="Segoe UI"/>
              </a:rPr>
              <a:t>Message clé   </a:t>
            </a:r>
            <a:r>
              <a:rPr sz="1400" b="0" i="0">
                <a:solidFill>
                  <a:srgbClr val="595959"/>
                </a:solidFill>
                <a:latin typeface="Segoe UI"/>
              </a:rPr>
              <a:t>c'est exactement ce que DORA demande de cartographier : la dépendance à des prestataires TIC critiques.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28232"/>
            <a:ext cx="100519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1">
                <a:solidFill>
                  <a:srgbClr val="A5A5A5"/>
                </a:solidFill>
                <a:latin typeface="Segoe UI"/>
              </a:rPr>
              <a:t>Sources : mémoire, annexe C (adaptations par pilier) ; script 22.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0" y="0"/>
                </a:moveTo>
                <a:lnTo>
                  <a:pt x="566928" y="0"/>
                </a:lnTo>
                <a:lnTo>
                  <a:pt x="0" y="841248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274320" y="0"/>
                </a:moveTo>
                <a:lnTo>
                  <a:pt x="566928" y="0"/>
                </a:lnTo>
                <a:lnTo>
                  <a:pt x="0" y="841248"/>
                </a:lnTo>
                <a:lnTo>
                  <a:pt x="0" y="438912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x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447" y="182880"/>
            <a:ext cx="1481328" cy="539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85855" y="6428232"/>
            <a:ext cx="502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00" b="0" i="0">
                <a:solidFill>
                  <a:srgbClr val="A5A5A5"/>
                </a:solidFill>
                <a:latin typeface="Segoe UI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92608"/>
            <a:ext cx="895471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 i="0">
                <a:solidFill>
                  <a:srgbClr val="223E55"/>
                </a:solidFill>
                <a:latin typeface="Georgia"/>
              </a:rPr>
              <a:t>La donnée manquante devient une exigence de reporting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804672"/>
            <a:ext cx="895471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1" i="0">
                <a:solidFill>
                  <a:srgbClr val="B10031"/>
                </a:solidFill>
                <a:latin typeface="Georgia"/>
              </a:rPr>
              <a:t>Le registre d'incidents comme instrument de capital</a:t>
            </a:r>
          </a:p>
        </p:txBody>
      </p:sp>
      <p:pic>
        <p:nvPicPr>
          <p:cNvPr id="9" name="Picture 8" descr="Z18_valeur_inform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758774"/>
            <a:ext cx="5126583" cy="3550763"/>
          </a:xfrm>
          <a:prstGeom prst="rect">
            <a:avLst/>
          </a:prstGeom>
        </p:spPr>
      </p:pic>
      <p:cxnSp>
        <p:nvCxnSpPr>
          <p:cNvPr id="10" name="Connector 9"/>
          <p:cNvCxnSpPr/>
          <p:nvPr/>
        </p:nvCxnSpPr>
        <p:spPr>
          <a:xfrm>
            <a:off x="6095847" y="1335024"/>
            <a:ext cx="0" cy="4288536"/>
          </a:xfrm>
          <a:prstGeom prst="line">
            <a:avLst/>
          </a:prstGeom>
          <a:ln w="15875">
            <a:solidFill>
              <a:srgbClr val="9DC3C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351879" y="1618488"/>
            <a:ext cx="5090007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B10031"/>
                </a:solidFill>
                <a:latin typeface="Segoe UI"/>
              </a:rPr>
              <a:t>① </a:t>
            </a:r>
            <a:r>
              <a:rPr sz="1500" b="1" i="0">
                <a:solidFill>
                  <a:srgbClr val="223E55"/>
                </a:solidFill>
                <a:latin typeface="Segoe UI"/>
              </a:rPr>
              <a:t>Quatre champs, hiérarchisés par ce qu'ils resserrent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090007" cy="3703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B10031"/>
                </a:solidFill>
                <a:latin typeface="Segoe UI"/>
              </a:rPr>
              <a:t>Horodatage des incidents</a:t>
            </a:r>
          </a:p>
          <a:p>
            <a:pPr algn="l">
              <a:spcBef>
                <a:spcPts val="1300"/>
              </a:spcBef>
            </a:pPr>
            <a:r>
              <a:rPr sz="1500" b="1" i="0">
                <a:solidFill>
                  <a:srgbClr val="B10031"/>
                </a:solidFill>
                <a:latin typeface="Segoe UI"/>
              </a:rPr>
              <a:t>Domaine de contrôle touché</a:t>
            </a:r>
          </a:p>
          <a:p>
            <a:pPr algn="l">
              <a:spcBef>
                <a:spcPts val="1300"/>
              </a:spcBef>
            </a:pPr>
            <a:r>
              <a:rPr sz="1500" b="1" i="0">
                <a:solidFill>
                  <a:srgbClr val="B10031"/>
                </a:solidFill>
                <a:latin typeface="Segoe UI"/>
              </a:rPr>
              <a:t>Cause commune consolidée</a:t>
            </a:r>
          </a:p>
          <a:p>
            <a:pPr algn="l">
              <a:spcBef>
                <a:spcPts val="1300"/>
              </a:spcBef>
            </a:pPr>
            <a:r>
              <a:rPr sz="1500" b="1" i="0">
                <a:solidFill>
                  <a:srgbClr val="B10031"/>
                </a:solidFill>
                <a:latin typeface="Segoe UI"/>
              </a:rPr>
              <a:t>Champs renseignés obligatoires</a:t>
            </a:r>
          </a:p>
          <a:p>
            <a:pPr algn="l">
              <a:spcBef>
                <a:spcPts val="1300"/>
              </a:spcBef>
            </a:pPr>
            <a:r>
              <a:rPr sz="1400" b="0" i="0">
                <a:solidFill>
                  <a:srgbClr val="595959"/>
                </a:solidFill>
                <a:latin typeface="Segoe UI"/>
              </a:rPr>
              <a:t>Le modèle ne dit pas seulement qu'il manque une donnée : il dit laquelle, et ce qu'elle rapporte en resserrement de bande.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5788152"/>
            <a:ext cx="11057839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5788152"/>
            <a:ext cx="76200" cy="548640"/>
          </a:xfrm>
          <a:prstGeom prst="rect">
            <a:avLst/>
          </a:pr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5907024"/>
            <a:ext cx="1078351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B10031"/>
                </a:solidFill>
                <a:latin typeface="Segoe UI"/>
              </a:rPr>
              <a:t>Message clé   </a:t>
            </a:r>
            <a:r>
              <a:rPr sz="1400" b="0" i="0">
                <a:solidFill>
                  <a:srgbClr val="595959"/>
                </a:solidFill>
                <a:latin typeface="Segoe UI"/>
              </a:rPr>
              <a:t>chaque champ renseigné resserre la bande, et la limite de données devient un livrable.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428232"/>
            <a:ext cx="100519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1">
                <a:solidFill>
                  <a:srgbClr val="A5A5A5"/>
                </a:solidFill>
                <a:latin typeface="Segoe UI"/>
              </a:rPr>
              <a:t>Sources : mémoire, chapitre 12 ; script 55.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0" y="0"/>
                </a:moveTo>
                <a:lnTo>
                  <a:pt x="566928" y="0"/>
                </a:lnTo>
                <a:lnTo>
                  <a:pt x="0" y="841248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274320" y="0"/>
                </a:moveTo>
                <a:lnTo>
                  <a:pt x="566928" y="0"/>
                </a:lnTo>
                <a:lnTo>
                  <a:pt x="0" y="841248"/>
                </a:lnTo>
                <a:lnTo>
                  <a:pt x="0" y="438912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x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447" y="182880"/>
            <a:ext cx="1481328" cy="539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85855" y="6428232"/>
            <a:ext cx="502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00" b="0" i="0">
                <a:solidFill>
                  <a:srgbClr val="A5A5A5"/>
                </a:solidFill>
                <a:latin typeface="Segoe UI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92608"/>
            <a:ext cx="895471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500" b="1" i="0">
                <a:solidFill>
                  <a:srgbClr val="223E55"/>
                </a:solidFill>
                <a:latin typeface="Georgia"/>
              </a:rPr>
              <a:t>Trois décisions, et une confusion à ne pas commettre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804672"/>
            <a:ext cx="895471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1" i="0">
                <a:solidFill>
                  <a:srgbClr val="B10031"/>
                </a:solidFill>
                <a:latin typeface="Georgia"/>
              </a:rPr>
              <a:t>Ce que la borne autorise, et ce qu'elle n'autorise pas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664208"/>
            <a:ext cx="3381146" cy="310896"/>
          </a:xfrm>
          <a:prstGeom prst="rect">
            <a:avLst/>
          </a:prstGeom>
          <a:solidFill>
            <a:srgbClr val="223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Segoe UI"/>
              </a:rPr>
              <a:t>Remédier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1975104"/>
            <a:ext cx="3381146" cy="1426464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/>
          <a:lstStyle/>
          <a:p>
            <a:pPr algn="ctr">
              <a:spcBef>
                <a:spcPts val="0"/>
              </a:spcBef>
            </a:pPr>
            <a:r>
              <a:rPr sz="1300" b="0" i="0">
                <a:solidFill>
                  <a:srgbClr val="122738"/>
                </a:solidFill>
                <a:latin typeface="Segoe UI"/>
              </a:rPr>
              <a:t>Prioriser les canaux calibrables :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122738"/>
                </a:solidFill>
                <a:latin typeface="Segoe UI"/>
              </a:rPr>
              <a:t>fréquence et détection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5274" y="1664208"/>
            <a:ext cx="3381146" cy="310896"/>
          </a:xfrm>
          <a:prstGeom prst="rect">
            <a:avLst/>
          </a:prstGeom>
          <a:solidFill>
            <a:srgbClr val="223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Segoe UI"/>
              </a:rPr>
              <a:t>Détenir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5274" y="1975104"/>
            <a:ext cx="3381146" cy="1426464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/>
          <a:lstStyle/>
          <a:p>
            <a:pPr algn="ctr">
              <a:spcBef>
                <a:spcPts val="0"/>
              </a:spcBef>
            </a:pPr>
            <a:r>
              <a:rPr sz="1300" b="0" i="0">
                <a:solidFill>
                  <a:srgbClr val="122738"/>
                </a:solidFill>
                <a:latin typeface="Segoe UI"/>
              </a:rPr>
              <a:t>Le capital immobilisé coûte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122738"/>
                </a:solidFill>
                <a:latin typeface="Segoe UI"/>
              </a:rPr>
              <a:t>chaque année, pas une seule fois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60740" y="1664208"/>
            <a:ext cx="3381146" cy="310896"/>
          </a:xfrm>
          <a:prstGeom prst="rect">
            <a:avLst/>
          </a:prstGeom>
          <a:solidFill>
            <a:srgbClr val="223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spcBef>
                <a:spcPts val="0"/>
              </a:spcBef>
            </a:pPr>
            <a:r>
              <a:rPr sz="1400" b="1" i="0">
                <a:solidFill>
                  <a:srgbClr val="FFFFFF"/>
                </a:solidFill>
                <a:latin typeface="Segoe UI"/>
              </a:rPr>
              <a:t>Transférer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60740" y="1975104"/>
            <a:ext cx="3381146" cy="1426464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/>
          <a:lstStyle/>
          <a:p>
            <a:pPr algn="ctr">
              <a:spcBef>
                <a:spcPts val="0"/>
              </a:spcBef>
            </a:pPr>
            <a:r>
              <a:rPr sz="1300" b="0" i="0">
                <a:solidFill>
                  <a:srgbClr val="122738"/>
                </a:solidFill>
                <a:latin typeface="Segoe UI"/>
              </a:rPr>
              <a:t>Comparer au prix de marché</a:t>
            </a:r>
          </a:p>
          <a:p>
            <a:pPr algn="ctr">
              <a:spcBef>
                <a:spcPts val="500"/>
              </a:spcBef>
            </a:pPr>
            <a:r>
              <a:rPr sz="1300" b="0" i="0">
                <a:solidFill>
                  <a:srgbClr val="122738"/>
                </a:solidFill>
                <a:latin typeface="Segoe UI"/>
              </a:rPr>
              <a:t>du même risque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4023360"/>
            <a:ext cx="10692079" cy="7315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B10031"/>
                </a:solidFill>
                <a:latin typeface="Segoe UI"/>
              </a:rPr>
              <a:t>Une borne de capital n'est pas un budget de remédiation : deux des quatre canaux sont des bornes posées, et leur part n'est pas une enveloppe à dépenser.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4023360"/>
            <a:ext cx="76200" cy="731520"/>
          </a:xfrm>
          <a:prstGeom prst="rect">
            <a:avLst/>
          </a:pr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5029200"/>
            <a:ext cx="106920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0" i="0">
                <a:solidFill>
                  <a:srgbClr val="122738"/>
                </a:solidFill>
                <a:latin typeface="Segoe UI"/>
              </a:rPr>
              <a:t>Le bénéfice d'une remédiation a deux composantes, et la plus grosse n'est pas le capital libéré mais la perte évitée.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5788152"/>
            <a:ext cx="11057839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66928" y="5788152"/>
            <a:ext cx="76200" cy="548640"/>
          </a:xfrm>
          <a:prstGeom prst="rect">
            <a:avLst/>
          </a:pr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5907024"/>
            <a:ext cx="1078351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B10031"/>
                </a:solidFill>
                <a:latin typeface="Segoe UI"/>
              </a:rPr>
              <a:t>Message clé   </a:t>
            </a:r>
            <a:r>
              <a:rPr sz="1400" b="0" i="0">
                <a:solidFill>
                  <a:srgbClr val="595959"/>
                </a:solidFill>
                <a:latin typeface="Segoe UI"/>
              </a:rPr>
              <a:t>le retour calculé sur le seul portage de capital est un majorant, pas un plancher.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28232"/>
            <a:ext cx="100519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1">
                <a:solidFill>
                  <a:srgbClr val="A5A5A5"/>
                </a:solidFill>
                <a:latin typeface="Segoe UI"/>
              </a:rPr>
              <a:t>Sources : mémoire, chapitre 10 ; scripts 50 et 83.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0" y="0"/>
                </a:moveTo>
                <a:lnTo>
                  <a:pt x="566928" y="0"/>
                </a:lnTo>
                <a:lnTo>
                  <a:pt x="0" y="841248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274320" y="0"/>
                </a:moveTo>
                <a:lnTo>
                  <a:pt x="566928" y="0"/>
                </a:lnTo>
                <a:lnTo>
                  <a:pt x="0" y="841248"/>
                </a:lnTo>
                <a:lnTo>
                  <a:pt x="0" y="438912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x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447" y="182880"/>
            <a:ext cx="1481328" cy="539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85855" y="6428232"/>
            <a:ext cx="502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00" b="0" i="0">
                <a:solidFill>
                  <a:srgbClr val="A5A5A5"/>
                </a:solidFill>
                <a:latin typeface="Segoe U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92608"/>
            <a:ext cx="895471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 i="0">
                <a:solidFill>
                  <a:srgbClr val="223E55"/>
                </a:solidFill>
                <a:latin typeface="Georgia"/>
              </a:rPr>
              <a:t>Ce que ce travail n'établit pas, et ce qui tient malgré cela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804672"/>
            <a:ext cx="895471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1" i="0">
                <a:solidFill>
                  <a:srgbClr val="B10031"/>
                </a:solidFill>
                <a:latin typeface="Georgia"/>
              </a:rPr>
              <a:t>Les deux colonnes se présentent ensemble, jamais la gauche seule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5847" y="1335024"/>
            <a:ext cx="0" cy="4288536"/>
          </a:xfrm>
          <a:prstGeom prst="line">
            <a:avLst/>
          </a:prstGeom>
          <a:ln w="15875">
            <a:solidFill>
              <a:srgbClr val="9DC3C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749808" y="1389888"/>
            <a:ext cx="5071719" cy="310896"/>
          </a:xfrm>
          <a:prstGeom prst="rect">
            <a:avLst/>
          </a:pr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Segoe UI"/>
              </a:rPr>
              <a:t>Non établi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865376"/>
            <a:ext cx="5071719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spcBef>
                <a:spcPts val="0"/>
              </a:spcBef>
            </a:pPr>
            <a:r>
              <a:rPr sz="14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400" b="0" i="0">
                <a:solidFill>
                  <a:srgbClr val="122738"/>
                </a:solidFill>
                <a:latin typeface="Segoe UI"/>
              </a:rPr>
              <a:t>La direction de contagion n'est pas identifiée</a:t>
            </a:r>
          </a:p>
          <a:p>
            <a:pPr algn="l" marL="219456" indent="-219456">
              <a:spcBef>
                <a:spcPts val="1100"/>
              </a:spcBef>
            </a:pPr>
            <a:r>
              <a:rPr sz="14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400" b="0" i="0">
                <a:solidFill>
                  <a:srgbClr val="122738"/>
                </a:solidFill>
                <a:latin typeface="Segoe UI"/>
              </a:rPr>
              <a:t>Le niveau absolu est illustratif, et c'est une borne supérieure à l'échelle d'une entité</a:t>
            </a:r>
          </a:p>
          <a:p>
            <a:pPr algn="l" marL="219456" indent="-219456">
              <a:spcBef>
                <a:spcPts val="1100"/>
              </a:spcBef>
            </a:pPr>
            <a:r>
              <a:rPr sz="14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400" b="0" i="0">
                <a:solidFill>
                  <a:srgbClr val="122738"/>
                </a:solidFill>
                <a:latin typeface="Segoe UI"/>
              </a:rPr>
              <a:t>L'incertitude de queue est large</a:t>
            </a:r>
          </a:p>
          <a:p>
            <a:pPr algn="l" marL="219456" indent="-219456">
              <a:spcBef>
                <a:spcPts val="1100"/>
              </a:spcBef>
            </a:pPr>
            <a:r>
              <a:rPr sz="14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400" b="0" i="0">
                <a:solidFill>
                  <a:srgbClr val="122738"/>
                </a:solidFill>
                <a:latin typeface="Segoe UI"/>
              </a:rPr>
              <a:t>Deux canaux sur quatre sont bornés, non calibrés</a:t>
            </a:r>
          </a:p>
          <a:p>
            <a:pPr algn="l" marL="219456" indent="-219456">
              <a:spcBef>
                <a:spcPts val="1100"/>
              </a:spcBef>
            </a:pPr>
            <a:r>
              <a:rPr sz="14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400" b="0" i="0">
                <a:solidFill>
                  <a:srgbClr val="122738"/>
                </a:solidFill>
                <a:latin typeface="Segoe UI"/>
              </a:rPr>
              <a:t>Le niveau de sévérité dérive dans le temps, et le backtest le mesure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1879" y="1389888"/>
            <a:ext cx="5090007" cy="310896"/>
          </a:xfrm>
          <a:prstGeom prst="rect">
            <a:avLst/>
          </a:prstGeom>
          <a:solidFill>
            <a:srgbClr val="223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>
              <a:spcBef>
                <a:spcPts val="0"/>
              </a:spcBef>
            </a:pPr>
            <a:r>
              <a:rPr sz="1500" b="1" i="0">
                <a:solidFill>
                  <a:srgbClr val="FFFFFF"/>
                </a:solidFill>
                <a:latin typeface="Segoe UI"/>
              </a:rPr>
              <a:t>Établi malgré cela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1879" y="1865376"/>
            <a:ext cx="5090007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spcBef>
                <a:spcPts val="0"/>
              </a:spcBef>
            </a:pPr>
            <a:r>
              <a:rPr sz="14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400" b="0" i="0">
                <a:solidFill>
                  <a:srgbClr val="122738"/>
                </a:solidFill>
                <a:latin typeface="Segoe UI"/>
              </a:rPr>
              <a:t>Le signe et l'ordre de l'écart entre états</a:t>
            </a:r>
          </a:p>
          <a:p>
            <a:pPr algn="l" marL="219456" indent="-219456">
              <a:spcBef>
                <a:spcPts val="1100"/>
              </a:spcBef>
            </a:pPr>
            <a:r>
              <a:rPr sz="14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400" b="0" i="0">
                <a:solidFill>
                  <a:srgbClr val="122738"/>
                </a:solidFill>
                <a:latin typeface="Segoe UI"/>
              </a:rPr>
              <a:t>La hiérarchie des piliers par contribution</a:t>
            </a:r>
          </a:p>
          <a:p>
            <a:pPr algn="l" marL="219456" indent="-219456">
              <a:spcBef>
                <a:spcPts val="1100"/>
              </a:spcBef>
            </a:pPr>
            <a:r>
              <a:rPr sz="14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400" b="0" i="0">
                <a:solidFill>
                  <a:srgbClr val="122738"/>
                </a:solidFill>
                <a:latin typeface="Segoe UI"/>
              </a:rPr>
              <a:t>Le cadre de bornage et son coût, mesuré</a:t>
            </a:r>
          </a:p>
          <a:p>
            <a:pPr algn="l" marL="219456" indent="-219456">
              <a:spcBef>
                <a:spcPts val="1100"/>
              </a:spcBef>
            </a:pPr>
            <a:r>
              <a:rPr sz="14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400" b="0" i="0">
                <a:solidFill>
                  <a:srgbClr val="122738"/>
                </a:solidFill>
                <a:latin typeface="Segoe UI"/>
              </a:rPr>
              <a:t>La recommandation de reporting et sa priorité</a:t>
            </a:r>
          </a:p>
          <a:p>
            <a:pPr algn="l" marL="219456" indent="-219456">
              <a:spcBef>
                <a:spcPts val="1100"/>
              </a:spcBef>
            </a:pPr>
            <a:r>
              <a:rPr sz="14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400" b="0" i="0">
                <a:solidFill>
                  <a:srgbClr val="122738"/>
                </a:solidFill>
                <a:latin typeface="Segoe UI"/>
              </a:rPr>
              <a:t>La loi de comptage et la forme de la queue, validées hors échantillon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846320"/>
            <a:ext cx="106920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500" b="1" i="0">
                <a:solidFill>
                  <a:srgbClr val="B10031"/>
                </a:solidFill>
                <a:latin typeface="Segoe UI"/>
              </a:rPr>
              <a:t>Une thèse de départ a été réfutée par son auteur, et un chiffre d'entité requalifié en borne supérieure. Ce sont des résultats.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788152"/>
            <a:ext cx="11057839" cy="54864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788152"/>
            <a:ext cx="76200" cy="548640"/>
          </a:xfrm>
          <a:prstGeom prst="rect">
            <a:avLst/>
          </a:pr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5907024"/>
            <a:ext cx="10783519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400" b="1" i="0">
                <a:solidFill>
                  <a:srgbClr val="B10031"/>
                </a:solidFill>
                <a:latin typeface="Segoe UI"/>
              </a:rPr>
              <a:t>Message clé   </a:t>
            </a:r>
            <a:r>
              <a:rPr sz="1400" b="0" i="0">
                <a:solidFill>
                  <a:srgbClr val="595959"/>
                </a:solidFill>
                <a:latin typeface="Segoe UI"/>
              </a:rPr>
              <a:t>ces limites sont publiées, pas concédées, et c'est ce qui rend le reste défendable.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6428232"/>
            <a:ext cx="100519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1">
                <a:solidFill>
                  <a:srgbClr val="A5A5A5"/>
                </a:solidFill>
                <a:latin typeface="Segoe UI"/>
              </a:rPr>
              <a:t>Sources : mémoire, chapitre 11, table des limites en deux colonnes.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0" y="0"/>
                </a:moveTo>
                <a:lnTo>
                  <a:pt x="566928" y="0"/>
                </a:lnTo>
                <a:lnTo>
                  <a:pt x="0" y="841248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274320" y="0"/>
                </a:moveTo>
                <a:lnTo>
                  <a:pt x="566928" y="0"/>
                </a:lnTo>
                <a:lnTo>
                  <a:pt x="0" y="841248"/>
                </a:lnTo>
                <a:lnTo>
                  <a:pt x="0" y="438912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x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447" y="182880"/>
            <a:ext cx="1481328" cy="539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185855" y="6428232"/>
            <a:ext cx="502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00" b="0" i="0">
                <a:solidFill>
                  <a:srgbClr val="A5A5A5"/>
                </a:solidFill>
                <a:latin typeface="Segoe UI"/>
              </a:rP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92608"/>
            <a:ext cx="8954719" cy="53035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600" b="1" i="0">
                <a:solidFill>
                  <a:srgbClr val="223E55"/>
                </a:solidFill>
                <a:latin typeface="Georgia"/>
              </a:rPr>
              <a:t>Trois messages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804672"/>
            <a:ext cx="8954719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800" b="1" i="0">
                <a:solidFill>
                  <a:srgbClr val="B10031"/>
                </a:solidFill>
                <a:latin typeface="Georgia"/>
              </a:rPr>
              <a:t>Et la réponse à la question posée en ouverture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527048"/>
            <a:ext cx="106920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B10031"/>
                </a:solidFill>
                <a:latin typeface="Georgia"/>
              </a:rPr>
              <a:t>1.   </a:t>
            </a:r>
            <a:r>
              <a:rPr sz="1600" b="1" i="0">
                <a:solidFill>
                  <a:srgbClr val="223E55"/>
                </a:solidFill>
                <a:latin typeface="Segoe UI"/>
              </a:rPr>
              <a:t>La non-conformité à DORA se traduit en coût de risque et en capital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595959"/>
                </a:solidFill>
                <a:latin typeface="Segoe UI"/>
              </a:rPr>
              <a:t>      par le déplacement de quatre paramètres de la loi de perte, et non par une pénalité ajoutée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487168"/>
            <a:ext cx="106920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B10031"/>
                </a:solidFill>
                <a:latin typeface="Georgia"/>
              </a:rPr>
              <a:t>2.   </a:t>
            </a:r>
            <a:r>
              <a:rPr sz="1600" b="1" i="0">
                <a:solidFill>
                  <a:srgbClr val="223E55"/>
                </a:solidFill>
                <a:latin typeface="Segoe UI"/>
              </a:rPr>
              <a:t>La dépendance directionnelle ne doit pas être calibrée sur des données qui ne l'identifient pas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595959"/>
                </a:solidFill>
                <a:latin typeface="Segoe UI"/>
              </a:rPr>
              <a:t>      d'où une bande, et le coût de l'ignorance mesuré plutôt que masqué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447288"/>
            <a:ext cx="10692079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B10031"/>
                </a:solidFill>
                <a:latin typeface="Georgia"/>
              </a:rPr>
              <a:t>3.   </a:t>
            </a:r>
            <a:r>
              <a:rPr sz="1600" b="1" i="0">
                <a:solidFill>
                  <a:srgbClr val="223E55"/>
                </a:solidFill>
                <a:latin typeface="Segoe UI"/>
              </a:rPr>
              <a:t>La limite de données devient une recommandation actionnable</a:t>
            </a:r>
          </a:p>
          <a:p>
            <a:pPr algn="l">
              <a:spcBef>
                <a:spcPts val="400"/>
              </a:spcBef>
            </a:pPr>
            <a:r>
              <a:rPr sz="1400" b="0" i="0">
                <a:solidFill>
                  <a:srgbClr val="595959"/>
                </a:solidFill>
                <a:latin typeface="Segoe UI"/>
              </a:rPr>
              <a:t>      pour l'entité comme pour le régulateur, hiérarchisée par ce que chaque champ rapporte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4526280"/>
            <a:ext cx="10692079" cy="9601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01168" rIns="201168"/>
          <a:lstStyle/>
          <a:p>
            <a:pPr algn="l">
              <a:spcBef>
                <a:spcPts val="0"/>
              </a:spcBef>
            </a:pPr>
            <a:r>
              <a:rPr sz="1700" b="1" i="0">
                <a:solidFill>
                  <a:srgbClr val="223E55"/>
                </a:solidFill>
                <a:latin typeface="Georgia"/>
              </a:rPr>
              <a:t>Quand la dépendance n'est pas identifiable, la bonne réponse actuarielle n'est pas la fausse précision : c'est une borne, une hiérarchie de données et une décision mieux informée.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4526280"/>
            <a:ext cx="76200" cy="960120"/>
          </a:xfrm>
          <a:prstGeom prst="rect">
            <a:avLst/>
          </a:pr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6428232"/>
            <a:ext cx="100519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1">
                <a:solidFill>
                  <a:srgbClr val="A5A5A5"/>
                </a:solidFill>
                <a:latin typeface="Segoe UI"/>
              </a:rPr>
              <a:t>Sources : mémoire, chapitre 13.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hoto_couverture.jpg"/>
          <p:cNvPicPr>
            <a:picLocks noChangeAspect="1"/>
          </p:cNvPicPr>
          <p:nvPr/>
        </p:nvPicPr>
        <p:blipFill>
          <a:blip r:embed="rId2"/>
          <a:srcRect l="21415" r="21415"/>
          <a:stretch>
            <a:fillRect/>
          </a:stretch>
        </p:blipFill>
        <p:spPr>
          <a:xfrm>
            <a:off x="6309360" y="0"/>
            <a:ext cx="5882335" cy="6858000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6309360" y="0"/>
            <a:ext cx="2103120" cy="6858000"/>
          </a:xfrm>
          <a:custGeom>
            <a:avLst/>
            <a:gdLst/>
            <a:ahLst/>
            <a:cxnLst/>
            <a:rect l="l" t="t" r="r" b="b"/>
            <a:pathLst>
              <a:path w="2103120" h="6858000">
                <a:moveTo>
                  <a:pt x="0" y="0"/>
                </a:moveTo>
                <a:lnTo>
                  <a:pt x="0" y="6858000"/>
                </a:lnTo>
                <a:lnTo>
                  <a:pt x="2103120" y="6858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0" y="0"/>
            <a:ext cx="603504" cy="896112"/>
          </a:xfrm>
          <a:custGeom>
            <a:avLst/>
            <a:gdLst/>
            <a:ahLst/>
            <a:cxnLst/>
            <a:rect l="l" t="t" r="r" b="b"/>
            <a:pathLst>
              <a:path w="603504" h="896112">
                <a:moveTo>
                  <a:pt x="0" y="0"/>
                </a:moveTo>
                <a:lnTo>
                  <a:pt x="603504" y="0"/>
                </a:lnTo>
                <a:lnTo>
                  <a:pt x="0" y="896112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exial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548640"/>
            <a:ext cx="2011680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2606040"/>
            <a:ext cx="557784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200" b="1" i="0">
                <a:solidFill>
                  <a:srgbClr val="223E55"/>
                </a:solidFill>
                <a:latin typeface="Georgia"/>
              </a:rPr>
              <a:t>Merci pour votre attention</a:t>
            </a:r>
          </a:p>
          <a:p>
            <a:pPr algn="l">
              <a:spcBef>
                <a:spcPts val="1600"/>
              </a:spcBef>
            </a:pPr>
            <a:r>
              <a:rPr sz="2800" b="1" i="0">
                <a:solidFill>
                  <a:srgbClr val="B10031"/>
                </a:solidFill>
                <a:latin typeface="Georgia"/>
              </a:rPr>
              <a:t>Des questions ?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4480560"/>
            <a:ext cx="2377440" cy="63500"/>
          </a:xfrm>
          <a:prstGeom prst="rect">
            <a:avLst/>
          </a:pr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754880"/>
            <a:ext cx="557784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300" b="0" i="0">
                <a:solidFill>
                  <a:srgbClr val="595959"/>
                </a:solidFill>
                <a:latin typeface="Segoe UI"/>
              </a:rPr>
              <a:t>Dix diapositives de sauvegarde suivent : sources, paramètres, sévérité, cascade, identifiabilité, bande, canaux, tiers, limites, glossaire.</a:t>
            </a:r>
          </a:p>
        </p:txBody>
      </p:sp>
      <p:pic>
        <p:nvPicPr>
          <p:cNvPr id="10" name="Picture 9" descr="think_sm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6217920"/>
            <a:ext cx="2331720" cy="3108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185855" y="6428232"/>
            <a:ext cx="502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00" b="0" i="0">
                <a:solidFill>
                  <a:srgbClr val="A5A5A5"/>
                </a:solidFill>
                <a:latin typeface="Segoe U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hoto_section.jpg"/>
          <p:cNvPicPr>
            <a:picLocks noChangeAspect="1"/>
          </p:cNvPicPr>
          <p:nvPr/>
        </p:nvPicPr>
        <p:blipFill>
          <a:blip r:embed="rId2"/>
          <a:srcRect t="13408" b="13408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0" y="0"/>
            <a:ext cx="7680960" cy="6858000"/>
          </a:xfrm>
          <a:custGeom>
            <a:avLst/>
            <a:gdLst/>
            <a:ahLst/>
            <a:cxnLst/>
            <a:rect l="l" t="t" r="r" b="b"/>
            <a:pathLst>
              <a:path w="7680960" h="6858000">
                <a:moveTo>
                  <a:pt x="0" y="0"/>
                </a:moveTo>
                <a:lnTo>
                  <a:pt x="3154680" y="0"/>
                </a:lnTo>
                <a:lnTo>
                  <a:pt x="768096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192E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0" y="0"/>
            <a:ext cx="7315200" cy="6858000"/>
          </a:xfrm>
          <a:custGeom>
            <a:avLst/>
            <a:gdLst/>
            <a:ahLst/>
            <a:cxnLst/>
            <a:rect l="l" t="t" r="r" b="b"/>
            <a:pathLst>
              <a:path w="7315200" h="6858000">
                <a:moveTo>
                  <a:pt x="0" y="0"/>
                </a:moveTo>
                <a:lnTo>
                  <a:pt x="2788920" y="0"/>
                </a:lnTo>
                <a:lnTo>
                  <a:pt x="73152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Freeform 5"/>
          <p:cNvSpPr/>
          <p:nvPr/>
        </p:nvSpPr>
        <p:spPr>
          <a:xfrm>
            <a:off x="9692640" y="0"/>
            <a:ext cx="2499055" cy="1554480"/>
          </a:xfrm>
          <a:custGeom>
            <a:avLst/>
            <a:gdLst/>
            <a:ahLst/>
            <a:cxnLst/>
            <a:rect l="l" t="t" r="r" b="b"/>
            <a:pathLst>
              <a:path w="2499055" h="1554480">
                <a:moveTo>
                  <a:pt x="2499055" y="0"/>
                </a:moveTo>
                <a:lnTo>
                  <a:pt x="2499055" y="1554480"/>
                </a:lnTo>
                <a:lnTo>
                  <a:pt x="0" y="0"/>
                </a:lnTo>
                <a:close/>
              </a:path>
            </a:pathLst>
          </a:custGeom>
          <a:solidFill>
            <a:srgbClr val="223E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0" y="0"/>
            <a:ext cx="603504" cy="896112"/>
          </a:xfrm>
          <a:custGeom>
            <a:avLst/>
            <a:gdLst/>
            <a:ahLst/>
            <a:cxnLst/>
            <a:rect l="l" t="t" r="r" b="b"/>
            <a:pathLst>
              <a:path w="603504" h="896112">
                <a:moveTo>
                  <a:pt x="0" y="0"/>
                </a:moveTo>
                <a:lnTo>
                  <a:pt x="603504" y="0"/>
                </a:lnTo>
                <a:lnTo>
                  <a:pt x="0" y="896112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exialog_blan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164592"/>
            <a:ext cx="1417320" cy="5120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051560" y="1783080"/>
            <a:ext cx="4160520" cy="6035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hink_sm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00200" y="1911095"/>
            <a:ext cx="3017520" cy="36576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48640" y="3611880"/>
            <a:ext cx="2377440" cy="6350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069080"/>
            <a:ext cx="47548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3400" b="0" i="0">
                <a:solidFill>
                  <a:srgbClr val="B10031"/>
                </a:solidFill>
                <a:latin typeface="Georgia"/>
              </a:rPr>
              <a:t>Annexes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642823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0">
                <a:solidFill>
                  <a:srgbClr val="A5A5A5"/>
                </a:solidFill>
                <a:latin typeface="Segoe UI"/>
              </a:rPr>
              <a:t>www.nexialog.com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28232"/>
            <a:ext cx="50292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00" b="0" i="0">
                <a:solidFill>
                  <a:srgbClr val="A5A5A5"/>
                </a:solidFill>
                <a:latin typeface="Segoe U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0" y="0"/>
                </a:moveTo>
                <a:lnTo>
                  <a:pt x="566928" y="0"/>
                </a:lnTo>
                <a:lnTo>
                  <a:pt x="0" y="841248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274320" y="0"/>
                </a:moveTo>
                <a:lnTo>
                  <a:pt x="566928" y="0"/>
                </a:lnTo>
                <a:lnTo>
                  <a:pt x="0" y="841248"/>
                </a:lnTo>
                <a:lnTo>
                  <a:pt x="0" y="438912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x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447" y="182880"/>
            <a:ext cx="1481328" cy="539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20116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i="0">
                <a:solidFill>
                  <a:srgbClr val="B10031"/>
                </a:solidFill>
                <a:latin typeface="Segoe UI"/>
              </a:rPr>
              <a:t>ANNEXE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475488"/>
            <a:ext cx="8954719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 i="0">
                <a:solidFill>
                  <a:srgbClr val="223E55"/>
                </a:solidFill>
                <a:latin typeface="Georgia"/>
              </a:rPr>
              <a:t>Sept sources, et chacune avec son statut de preuve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950976"/>
            <a:ext cx="895471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B10031"/>
                </a:solidFill>
                <a:latin typeface="Georgia"/>
              </a:rPr>
              <a:t>Ce qui est rejouable, et ce qui ne l'est pas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2823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00" b="0" i="0">
                <a:solidFill>
                  <a:srgbClr val="A5A5A5"/>
                </a:solidFill>
                <a:latin typeface="Segoe UI"/>
              </a:rPr>
              <a:t>A1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572768"/>
            <a:ext cx="10692079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223E55"/>
                </a:solidFill>
                <a:latin typeface="Segoe UI"/>
              </a:rPr>
              <a:t>Sévérité en euros : base internationale de pertes opérationnelles</a:t>
            </a:r>
          </a:p>
          <a:p>
            <a:pPr algn="l" marL="219456" indent="-219456">
              <a:spcBef>
                <a:spcPts val="1400"/>
              </a:spcBef>
            </a:pPr>
            <a:r>
              <a:rPr sz="16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600" b="0" i="0">
                <a:solidFill>
                  <a:srgbClr val="122738"/>
                </a:solidFill>
                <a:latin typeface="Segoe UI"/>
              </a:rPr>
              <a:t>Chronologie de brèches : fréquence et étude d'événement</a:t>
            </a:r>
          </a:p>
          <a:p>
            <a:pPr algn="l" marL="219456" indent="-219456">
              <a:spcBef>
                <a:spcPts val="1400"/>
              </a:spcBef>
            </a:pPr>
            <a:r>
              <a:rPr sz="16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600" b="0" i="0">
                <a:solidFill>
                  <a:srgbClr val="122738"/>
                </a:solidFill>
                <a:latin typeface="Segoe UI"/>
              </a:rPr>
              <a:t>Corpus de rapports post-mortem : structure de la direction</a:t>
            </a:r>
          </a:p>
          <a:p>
            <a:pPr algn="l" marL="219456" indent="-219456">
              <a:spcBef>
                <a:spcPts val="1400"/>
              </a:spcBef>
            </a:pPr>
            <a:r>
              <a:rPr sz="16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600" b="0" i="0">
                <a:solidFill>
                  <a:srgbClr val="122738"/>
                </a:solidFill>
                <a:latin typeface="Segoe UI"/>
              </a:rPr>
              <a:t>États réglementaires publiés : quatre bilans réels, anonymisés</a:t>
            </a:r>
          </a:p>
          <a:p>
            <a:pPr algn="l" marL="219456" indent="-219456">
              <a:spcBef>
                <a:spcPts val="1400"/>
              </a:spcBef>
            </a:pPr>
            <a:r>
              <a:rPr sz="16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600" b="0" i="0">
                <a:solidFill>
                  <a:srgbClr val="122738"/>
                </a:solidFill>
                <a:latin typeface="Segoe UI"/>
              </a:rPr>
              <a:t>Comptage d'incidents par vecteur : structure, jamais niveau</a:t>
            </a:r>
          </a:p>
          <a:p>
            <a:pPr algn="l" marL="219456" indent="-219456">
              <a:spcBef>
                <a:spcPts val="1400"/>
              </a:spcBef>
            </a:pPr>
            <a:r>
              <a:rPr sz="16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600" b="0" i="0">
                <a:solidFill>
                  <a:srgbClr val="122738"/>
                </a:solidFill>
                <a:latin typeface="Segoe UI"/>
              </a:rPr>
              <a:t>Étude de marché cyberassurance : contexte, aucune calibration</a:t>
            </a:r>
          </a:p>
          <a:p>
            <a:pPr algn="l">
              <a:spcBef>
                <a:spcPts val="1400"/>
              </a:spcBef>
            </a:pPr>
            <a:r>
              <a:rPr sz="1600" b="1" i="0">
                <a:solidFill>
                  <a:srgbClr val="223E55"/>
                </a:solidFill>
                <a:latin typeface="Segoe UI"/>
              </a:rPr>
              <a:t>Deux statuts distingués : versionné et rejouable, ou citation externe non recalculable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28232"/>
            <a:ext cx="100519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1">
                <a:solidFill>
                  <a:srgbClr val="A5A5A5"/>
                </a:solidFill>
                <a:latin typeface="Segoe UI"/>
              </a:rPr>
              <a:t>Sources : mémoire, chapitre 4 ; scripts 62 et 63.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0" y="0"/>
                </a:moveTo>
                <a:lnTo>
                  <a:pt x="566928" y="0"/>
                </a:lnTo>
                <a:lnTo>
                  <a:pt x="0" y="841248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274320" y="0"/>
                </a:moveTo>
                <a:lnTo>
                  <a:pt x="566928" y="0"/>
                </a:lnTo>
                <a:lnTo>
                  <a:pt x="0" y="841248"/>
                </a:lnTo>
                <a:lnTo>
                  <a:pt x="0" y="438912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x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447" y="182880"/>
            <a:ext cx="1481328" cy="539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20116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i="0">
                <a:solidFill>
                  <a:srgbClr val="B10031"/>
                </a:solidFill>
                <a:latin typeface="Segoe UI"/>
              </a:rPr>
              <a:t>ANNEXE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475488"/>
            <a:ext cx="8954719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 i="0">
                <a:solidFill>
                  <a:srgbClr val="223E55"/>
                </a:solidFill>
                <a:latin typeface="Georgia"/>
              </a:rPr>
              <a:t>Les paramètres, et ce qui est estimé, posé ou gelé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950976"/>
            <a:ext cx="895471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B10031"/>
                </a:solidFill>
                <a:latin typeface="Georgia"/>
              </a:rPr>
              <a:t>La thèse dépend de l'ordre, pas du niveau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2823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00" b="0" i="0">
                <a:solidFill>
                  <a:srgbClr val="A5A5A5"/>
                </a:solidFill>
                <a:latin typeface="Segoe UI"/>
              </a:rPr>
              <a:t>A2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572768"/>
            <a:ext cx="10692079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spcBef>
                <a:spcPts val="0"/>
              </a:spcBef>
            </a:pPr>
            <a:r>
              <a:rPr sz="16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600" b="0" i="0">
                <a:solidFill>
                  <a:srgbClr val="122738"/>
                </a:solidFill>
                <a:latin typeface="Segoe UI"/>
              </a:rPr>
              <a:t>Sévérité : loi de Pareto généralisée au-delà du seuil, indice de queue 0,5954</a:t>
            </a:r>
          </a:p>
          <a:p>
            <a:pPr algn="l" marL="219456" indent="-219456">
              <a:spcBef>
                <a:spcPts val="1400"/>
              </a:spcBef>
            </a:pPr>
            <a:r>
              <a:rPr sz="16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600" b="0" i="0">
                <a:solidFill>
                  <a:srgbClr val="122738"/>
                </a:solidFill>
                <a:latin typeface="Segoe UI"/>
              </a:rPr>
              <a:t>Seuil 20,03 M€, 91 excès, calibration gelée depuis le 7 août 2026</a:t>
            </a:r>
          </a:p>
          <a:p>
            <a:pPr algn="l" marL="219456" indent="-219456">
              <a:spcBef>
                <a:spcPts val="1400"/>
              </a:spcBef>
            </a:pPr>
            <a:r>
              <a:rPr sz="16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600" b="0" i="0">
                <a:solidFill>
                  <a:srgbClr val="122738"/>
                </a:solidFill>
                <a:latin typeface="Segoe UI"/>
              </a:rPr>
              <a:t>Fréquence : binomiale négative, validée hors échantillon</a:t>
            </a:r>
          </a:p>
          <a:p>
            <a:pPr algn="l">
              <a:spcBef>
                <a:spcPts val="1400"/>
              </a:spcBef>
            </a:pPr>
            <a:r>
              <a:rPr sz="1600" b="1" i="0">
                <a:solidFill>
                  <a:srgbClr val="B10031"/>
                </a:solidFill>
                <a:latin typeface="Segoe UI"/>
              </a:rPr>
              <a:t>Gain de propagation : trois valeurs POSÉES, 0,45 / 0,68 / 0,90</a:t>
            </a:r>
          </a:p>
          <a:p>
            <a:pPr algn="l">
              <a:spcBef>
                <a:spcPts val="1400"/>
              </a:spcBef>
            </a:pPr>
            <a:r>
              <a:rPr sz="1600" b="1" i="0">
                <a:solidFill>
                  <a:srgbClr val="223E55"/>
                </a:solidFill>
                <a:latin typeface="Segoe UI"/>
              </a:rPr>
              <a:t>Le capital est croissant en ce gain : l'ordre suffit à produire l'écart, l'amplitude est un scénario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28232"/>
            <a:ext cx="100519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1">
                <a:solidFill>
                  <a:srgbClr val="A5A5A5"/>
                </a:solidFill>
                <a:latin typeface="Segoe UI"/>
              </a:rPr>
              <a:t>Sources : mémoire, annexe D ; scripts 07, 08b, 63 et 66.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0" y="0"/>
                </a:moveTo>
                <a:lnTo>
                  <a:pt x="566928" y="0"/>
                </a:lnTo>
                <a:lnTo>
                  <a:pt x="0" y="841248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274320" y="0"/>
                </a:moveTo>
                <a:lnTo>
                  <a:pt x="566928" y="0"/>
                </a:lnTo>
                <a:lnTo>
                  <a:pt x="0" y="841248"/>
                </a:lnTo>
                <a:lnTo>
                  <a:pt x="0" y="438912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x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447" y="182880"/>
            <a:ext cx="1481328" cy="539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20116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i="0">
                <a:solidFill>
                  <a:srgbClr val="B10031"/>
                </a:solidFill>
                <a:latin typeface="Segoe UI"/>
              </a:rPr>
              <a:t>ANNEXE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475488"/>
            <a:ext cx="8954719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 i="0">
                <a:solidFill>
                  <a:srgbClr val="223E55"/>
                </a:solidFill>
                <a:latin typeface="Georgia"/>
              </a:rPr>
              <a:t>Pourquoi une loi de valeurs extrêmes pour la sévérité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950976"/>
            <a:ext cx="895471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B10031"/>
                </a:solidFill>
                <a:latin typeface="Georgia"/>
              </a:rPr>
              <a:t>Adéquation, et ce que le backtest valide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2823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00" b="0" i="0">
                <a:solidFill>
                  <a:srgbClr val="A5A5A5"/>
                </a:solidFill>
                <a:latin typeface="Segoe UI"/>
              </a:rPr>
              <a:t>A3</a:t>
            </a:r>
          </a:p>
        </p:txBody>
      </p:sp>
      <p:pic>
        <p:nvPicPr>
          <p:cNvPr id="10" name="Picture 9" descr="J3_validation_adequ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18630" y="1481328"/>
            <a:ext cx="8554435" cy="4809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428232"/>
            <a:ext cx="100519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1">
                <a:solidFill>
                  <a:srgbClr val="A5A5A5"/>
                </a:solidFill>
                <a:latin typeface="Segoe UI"/>
              </a:rPr>
              <a:t>Sources : mémoire, chapitre 5 ; scripts 07 et 47.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0" y="0"/>
                </a:moveTo>
                <a:lnTo>
                  <a:pt x="566928" y="0"/>
                </a:lnTo>
                <a:lnTo>
                  <a:pt x="0" y="841248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274320" y="0"/>
                </a:moveTo>
                <a:lnTo>
                  <a:pt x="566928" y="0"/>
                </a:lnTo>
                <a:lnTo>
                  <a:pt x="0" y="841248"/>
                </a:lnTo>
                <a:lnTo>
                  <a:pt x="0" y="438912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x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447" y="182880"/>
            <a:ext cx="1481328" cy="539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20116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i="0">
                <a:solidFill>
                  <a:srgbClr val="B10031"/>
                </a:solidFill>
                <a:latin typeface="Segoe UI"/>
              </a:rPr>
              <a:t>ANNEXE 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475488"/>
            <a:ext cx="8954719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300" b="1" i="0">
                <a:solidFill>
                  <a:srgbClr val="223E55"/>
                </a:solidFill>
                <a:latin typeface="Georgia"/>
              </a:rPr>
              <a:t>La cascade est un processus de branchement sous-critique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950976"/>
            <a:ext cx="895471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B10031"/>
                </a:solidFill>
                <a:latin typeface="Georgia"/>
              </a:rPr>
              <a:t>Rayon spectral et taux de reproduction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2823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00" b="0" i="0">
                <a:solidFill>
                  <a:srgbClr val="A5A5A5"/>
                </a:solidFill>
                <a:latin typeface="Segoe UI"/>
              </a:rPr>
              <a:t>A4</a:t>
            </a:r>
          </a:p>
        </p:txBody>
      </p:sp>
      <p:pic>
        <p:nvPicPr>
          <p:cNvPr id="10" name="Picture 9" descr="K3_branchement_R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907744"/>
            <a:ext cx="10692079" cy="395691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428232"/>
            <a:ext cx="100519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1">
                <a:solidFill>
                  <a:srgbClr val="A5A5A5"/>
                </a:solidFill>
                <a:latin typeface="Segoe UI"/>
              </a:rPr>
              <a:t>Sources : mémoire, chapitre 6 ; script 03.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0" y="0"/>
                </a:moveTo>
                <a:lnTo>
                  <a:pt x="566928" y="0"/>
                </a:lnTo>
                <a:lnTo>
                  <a:pt x="0" y="841248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274320" y="0"/>
                </a:moveTo>
                <a:lnTo>
                  <a:pt x="566928" y="0"/>
                </a:lnTo>
                <a:lnTo>
                  <a:pt x="0" y="841248"/>
                </a:lnTo>
                <a:lnTo>
                  <a:pt x="0" y="438912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x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447" y="182880"/>
            <a:ext cx="1481328" cy="539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20116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i="0">
                <a:solidFill>
                  <a:srgbClr val="B10031"/>
                </a:solidFill>
                <a:latin typeface="Segoe UI"/>
              </a:rPr>
              <a:t>ANNEXE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475488"/>
            <a:ext cx="8954719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 i="0">
                <a:solidFill>
                  <a:srgbClr val="223E55"/>
                </a:solidFill>
                <a:latin typeface="Georgia"/>
              </a:rPr>
              <a:t>Ce que le corpus documentaire corrobore, et ce qu'il ne lève pas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950976"/>
            <a:ext cx="895471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B10031"/>
                </a:solidFill>
                <a:latin typeface="Georgia"/>
              </a:rPr>
              <a:t>Le biais de narration est mesuré, borné, et non levé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2823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00" b="0" i="0">
                <a:solidFill>
                  <a:srgbClr val="A5A5A5"/>
                </a:solidFill>
                <a:latin typeface="Segoe UI"/>
              </a:rPr>
              <a:t>A5</a:t>
            </a:r>
          </a:p>
        </p:txBody>
      </p:sp>
      <p:pic>
        <p:nvPicPr>
          <p:cNvPr id="10" name="Picture 9" descr="Z17_postmortem_direc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0768" y="1481328"/>
            <a:ext cx="4750158" cy="48097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428232"/>
            <a:ext cx="100519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1">
                <a:solidFill>
                  <a:srgbClr val="A5A5A5"/>
                </a:solidFill>
                <a:latin typeface="Segoe UI"/>
              </a:rPr>
              <a:t>Sources : mémoire, chapitre 8 ; scripts 53, 59 et 64.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0" y="0"/>
                </a:moveTo>
                <a:lnTo>
                  <a:pt x="566928" y="0"/>
                </a:lnTo>
                <a:lnTo>
                  <a:pt x="0" y="841248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274320" y="0"/>
                </a:moveTo>
                <a:lnTo>
                  <a:pt x="566928" y="0"/>
                </a:lnTo>
                <a:lnTo>
                  <a:pt x="0" y="841248"/>
                </a:lnTo>
                <a:lnTo>
                  <a:pt x="0" y="438912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x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447" y="182880"/>
            <a:ext cx="1481328" cy="539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20116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i="0">
                <a:solidFill>
                  <a:srgbClr val="B10031"/>
                </a:solidFill>
                <a:latin typeface="Segoe UI"/>
              </a:rPr>
              <a:t>ANNEXE 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475488"/>
            <a:ext cx="8954719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 i="0">
                <a:solidFill>
                  <a:srgbClr val="223E55"/>
                </a:solidFill>
                <a:latin typeface="Georgia"/>
              </a:rPr>
              <a:t>La bande de capital et ses trois étages d'incertitude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950976"/>
            <a:ext cx="895471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B10031"/>
                </a:solidFill>
                <a:latin typeface="Georgia"/>
              </a:rPr>
              <a:t>Trois sources à ne jamais fondre en une seule barre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2823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00" b="0" i="0">
                <a:solidFill>
                  <a:srgbClr val="A5A5A5"/>
                </a:solidFill>
                <a:latin typeface="Segoe UI"/>
              </a:rPr>
              <a:t>A6</a:t>
            </a:r>
          </a:p>
        </p:txBody>
      </p:sp>
      <p:pic>
        <p:nvPicPr>
          <p:cNvPr id="10" name="Picture 9" descr="J4_bande_mode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2256589"/>
            <a:ext cx="10692079" cy="32592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428232"/>
            <a:ext cx="100519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1">
                <a:solidFill>
                  <a:srgbClr val="A5A5A5"/>
                </a:solidFill>
                <a:latin typeface="Segoe UI"/>
              </a:rPr>
              <a:t>Sources : mémoire, chapitre 11 ; script 48.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0" y="0"/>
                </a:moveTo>
                <a:lnTo>
                  <a:pt x="566928" y="0"/>
                </a:lnTo>
                <a:lnTo>
                  <a:pt x="0" y="841248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274320" y="0"/>
                </a:moveTo>
                <a:lnTo>
                  <a:pt x="566928" y="0"/>
                </a:lnTo>
                <a:lnTo>
                  <a:pt x="0" y="841248"/>
                </a:lnTo>
                <a:lnTo>
                  <a:pt x="0" y="438912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x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447" y="182880"/>
            <a:ext cx="1481328" cy="539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20116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i="0">
                <a:solidFill>
                  <a:srgbClr val="B10031"/>
                </a:solidFill>
                <a:latin typeface="Segoe UI"/>
              </a:rPr>
              <a:t>ANNEXE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475488"/>
            <a:ext cx="8954719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200" b="1" i="0">
                <a:solidFill>
                  <a:srgbClr val="223E55"/>
                </a:solidFill>
                <a:latin typeface="Georgia"/>
              </a:rPr>
              <a:t>L'attribution par canal : trois lectures non interchangeables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950976"/>
            <a:ext cx="895471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B10031"/>
                </a:solidFill>
                <a:latin typeface="Georgia"/>
              </a:rPr>
              <a:t>Isolée, fermeture et Shapley répondent à trois questions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2823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00" b="0" i="0">
                <a:solidFill>
                  <a:srgbClr val="A5A5A5"/>
                </a:solidFill>
                <a:latin typeface="Segoe UI"/>
              </a:rPr>
              <a:t>A7</a:t>
            </a:r>
          </a:p>
        </p:txBody>
      </p:sp>
      <p:pic>
        <p:nvPicPr>
          <p:cNvPr id="10" name="Picture 9" descr="S15_allocation_shapley_eul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756248"/>
            <a:ext cx="10692079" cy="425990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428232"/>
            <a:ext cx="100519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1">
                <a:solidFill>
                  <a:srgbClr val="A5A5A5"/>
                </a:solidFill>
                <a:latin typeface="Segoe UI"/>
              </a:rPr>
              <a:t>Sources : mémoire, chapitre 10 ; scripts 68 et 82.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0" y="0"/>
                </a:moveTo>
                <a:lnTo>
                  <a:pt x="566928" y="0"/>
                </a:lnTo>
                <a:lnTo>
                  <a:pt x="0" y="841248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274320" y="0"/>
                </a:moveTo>
                <a:lnTo>
                  <a:pt x="566928" y="0"/>
                </a:lnTo>
                <a:lnTo>
                  <a:pt x="0" y="841248"/>
                </a:lnTo>
                <a:lnTo>
                  <a:pt x="0" y="438912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x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447" y="182880"/>
            <a:ext cx="1481328" cy="539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20116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i="0">
                <a:solidFill>
                  <a:srgbClr val="B10031"/>
                </a:solidFill>
                <a:latin typeface="Segoe UI"/>
              </a:rPr>
              <a:t>ANNEXE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475488"/>
            <a:ext cx="8954719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100" b="1" i="0">
                <a:solidFill>
                  <a:srgbClr val="223E55"/>
                </a:solidFill>
                <a:latin typeface="Georgia"/>
              </a:rPr>
              <a:t>Défaillances simultanées : une sortie du modèle, pas une lacune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950976"/>
            <a:ext cx="895471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B10031"/>
                </a:solidFill>
                <a:latin typeface="Georgia"/>
              </a:rPr>
              <a:t>La loi est exacte, par énumération de la progéniture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2823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00" b="0" i="0">
                <a:solidFill>
                  <a:srgbClr val="A5A5A5"/>
                </a:solidFill>
                <a:latin typeface="Segoe UI"/>
              </a:rPr>
              <a:t>A8</a:t>
            </a:r>
          </a:p>
        </p:txBody>
      </p:sp>
      <p:pic>
        <p:nvPicPr>
          <p:cNvPr id="10" name="Picture 9" descr="S30_defaillances_simultane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955686"/>
            <a:ext cx="10692079" cy="38610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428232"/>
            <a:ext cx="100519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1">
                <a:solidFill>
                  <a:srgbClr val="A5A5A5"/>
                </a:solidFill>
                <a:latin typeface="Segoe UI"/>
              </a:rPr>
              <a:t>Sources : mémoire, annexe D ; script 74.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0" y="0"/>
                </a:moveTo>
                <a:lnTo>
                  <a:pt x="566928" y="0"/>
                </a:lnTo>
                <a:lnTo>
                  <a:pt x="0" y="841248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274320" y="0"/>
                </a:moveTo>
                <a:lnTo>
                  <a:pt x="566928" y="0"/>
                </a:lnTo>
                <a:lnTo>
                  <a:pt x="0" y="841248"/>
                </a:lnTo>
                <a:lnTo>
                  <a:pt x="0" y="438912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x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447" y="182880"/>
            <a:ext cx="1481328" cy="539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20116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i="0">
                <a:solidFill>
                  <a:srgbClr val="B10031"/>
                </a:solidFill>
                <a:latin typeface="Segoe UI"/>
              </a:rPr>
              <a:t>ANNEXE 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475488"/>
            <a:ext cx="8954719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 i="0">
                <a:solidFill>
                  <a:srgbClr val="223E55"/>
                </a:solidFill>
                <a:latin typeface="Georgia"/>
              </a:rPr>
              <a:t>Les hypothèses, par ordre de ce qu'elles coûtent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950976"/>
            <a:ext cx="895471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B10031"/>
                </a:solidFill>
                <a:latin typeface="Georgia"/>
              </a:rPr>
              <a:t>La fragilité est dans la queue, pas dans la contagion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2823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00" b="0" i="0">
                <a:solidFill>
                  <a:srgbClr val="A5A5A5"/>
                </a:solidFill>
                <a:latin typeface="Segoe UI"/>
              </a:rPr>
              <a:t>A9</a:t>
            </a:r>
          </a:p>
        </p:txBody>
      </p:sp>
      <p:pic>
        <p:nvPicPr>
          <p:cNvPr id="10" name="Picture 9" descr="S32_tornado_normali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" y="1881435"/>
            <a:ext cx="10692079" cy="400952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428232"/>
            <a:ext cx="100519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1">
                <a:solidFill>
                  <a:srgbClr val="A5A5A5"/>
                </a:solidFill>
                <a:latin typeface="Segoe UI"/>
              </a:rPr>
              <a:t>Sources : mémoire, annexe D ; scripts 76 et 81.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0" y="0"/>
                </a:moveTo>
                <a:lnTo>
                  <a:pt x="566928" y="0"/>
                </a:lnTo>
                <a:lnTo>
                  <a:pt x="0" y="841248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0" y="0"/>
            <a:ext cx="566928" cy="841248"/>
          </a:xfrm>
          <a:custGeom>
            <a:avLst/>
            <a:gdLst/>
            <a:ahLst/>
            <a:cxnLst/>
            <a:rect l="l" t="t" r="r" b="b"/>
            <a:pathLst>
              <a:path w="566928" h="841248">
                <a:moveTo>
                  <a:pt x="274320" y="0"/>
                </a:moveTo>
                <a:lnTo>
                  <a:pt x="566928" y="0"/>
                </a:lnTo>
                <a:lnTo>
                  <a:pt x="0" y="841248"/>
                </a:lnTo>
                <a:lnTo>
                  <a:pt x="0" y="438912"/>
                </a:lnTo>
                <a:close/>
              </a:path>
            </a:pathLst>
          </a:custGeom>
          <a:solidFill>
            <a:srgbClr val="B100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nexia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07447" y="182880"/>
            <a:ext cx="1481328" cy="5394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9808" y="201168"/>
            <a:ext cx="2743200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100" b="1" i="0">
                <a:solidFill>
                  <a:srgbClr val="B10031"/>
                </a:solidFill>
                <a:latin typeface="Segoe UI"/>
              </a:rPr>
              <a:t>ANNEXE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475488"/>
            <a:ext cx="8954719" cy="51206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2400" b="1" i="0">
                <a:solidFill>
                  <a:srgbClr val="223E55"/>
                </a:solidFill>
                <a:latin typeface="Georgia"/>
              </a:rPr>
              <a:t>Glossaire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950976"/>
            <a:ext cx="8954719" cy="347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1600" b="1" i="0">
                <a:solidFill>
                  <a:srgbClr val="B10031"/>
                </a:solidFill>
                <a:latin typeface="Georgia"/>
              </a:rPr>
              <a:t>Et la distinction qui a produit une confusion en séance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28232"/>
            <a:ext cx="685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Bef>
                <a:spcPts val="0"/>
              </a:spcBef>
            </a:pPr>
            <a:r>
              <a:rPr sz="1000" b="0" i="0">
                <a:solidFill>
                  <a:srgbClr val="A5A5A5"/>
                </a:solidFill>
                <a:latin typeface="Segoe UI"/>
              </a:rPr>
              <a:t>A10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572768"/>
            <a:ext cx="10692079" cy="4480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 marL="219456" indent="-219456">
              <a:spcBef>
                <a:spcPts val="0"/>
              </a:spcBef>
            </a:pPr>
            <a:r>
              <a:rPr sz="16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600" b="0" i="0">
                <a:solidFill>
                  <a:srgbClr val="122738"/>
                </a:solidFill>
                <a:latin typeface="Segoe UI"/>
              </a:rPr>
              <a:t>DORA : règlement européen sur la résilience opérationnelle numérique</a:t>
            </a:r>
          </a:p>
          <a:p>
            <a:pPr algn="l" marL="219456" indent="-219456">
              <a:spcBef>
                <a:spcPts val="1400"/>
              </a:spcBef>
            </a:pPr>
            <a:r>
              <a:rPr sz="16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600" b="0" i="0">
                <a:solidFill>
                  <a:srgbClr val="122738"/>
                </a:solidFill>
                <a:latin typeface="Segoe UI"/>
              </a:rPr>
              <a:t>SCR : capital de solvabilité requis sous Solvabilité II</a:t>
            </a:r>
          </a:p>
          <a:p>
            <a:pPr algn="l" marL="219456" indent="-219456">
              <a:spcBef>
                <a:spcPts val="1400"/>
              </a:spcBef>
            </a:pPr>
            <a:r>
              <a:rPr sz="16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600" b="0" i="0">
                <a:solidFill>
                  <a:srgbClr val="122738"/>
                </a:solidFill>
                <a:latin typeface="Segoe UI"/>
              </a:rPr>
              <a:t>VaR : quantile de la charge annuelle agrégée, ici à 99,5 %</a:t>
            </a:r>
          </a:p>
          <a:p>
            <a:pPr algn="l">
              <a:spcBef>
                <a:spcPts val="1400"/>
              </a:spcBef>
            </a:pPr>
            <a:r>
              <a:rPr sz="1600" b="1" i="0">
                <a:solidFill>
                  <a:srgbClr val="B10031"/>
                </a:solidFill>
                <a:latin typeface="Segoe UI"/>
              </a:rPr>
              <a:t>Quantile de sévérité : quantile d'un sinistre isolé, ce n'est pas une mesure de capital</a:t>
            </a:r>
          </a:p>
          <a:p>
            <a:pPr algn="l" marL="219456" indent="-219456">
              <a:spcBef>
                <a:spcPts val="1400"/>
              </a:spcBef>
            </a:pPr>
            <a:r>
              <a:rPr sz="16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600" b="0" i="0">
                <a:solidFill>
                  <a:srgbClr val="122738"/>
                </a:solidFill>
                <a:latin typeface="Segoe UI"/>
              </a:rPr>
              <a:t>GPD : loi de Pareto généralisée, pour les excès au-delà d'un seuil</a:t>
            </a:r>
          </a:p>
          <a:p>
            <a:pPr algn="l" marL="219456" indent="-219456">
              <a:spcBef>
                <a:spcPts val="1400"/>
              </a:spcBef>
            </a:pPr>
            <a:r>
              <a:rPr sz="16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600" b="0" i="0">
                <a:solidFill>
                  <a:srgbClr val="122738"/>
                </a:solidFill>
                <a:latin typeface="Segoe UI"/>
              </a:rPr>
              <a:t>Copule : structure de dépendance symétrique, sans direction</a:t>
            </a:r>
          </a:p>
          <a:p>
            <a:pPr algn="l" marL="219456" indent="-219456">
              <a:spcBef>
                <a:spcPts val="1400"/>
              </a:spcBef>
            </a:pPr>
            <a:r>
              <a:rPr sz="16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600" b="0" i="0">
                <a:solidFill>
                  <a:srgbClr val="122738"/>
                </a:solidFill>
                <a:latin typeface="Segoe UI"/>
              </a:rPr>
              <a:t>Shapley : convention d'attribution d'un effet total entre leviers</a:t>
            </a:r>
          </a:p>
          <a:p>
            <a:pPr algn="l" marL="219456" indent="-219456">
              <a:spcBef>
                <a:spcPts val="1400"/>
              </a:spcBef>
            </a:pPr>
            <a:r>
              <a:rPr sz="1600" b="0" i="0">
                <a:solidFill>
                  <a:srgbClr val="595959"/>
                </a:solidFill>
                <a:latin typeface="Segoe UI"/>
              </a:rPr>
              <a:t>•   </a:t>
            </a:r>
            <a:r>
              <a:rPr sz="1600" b="0" i="0">
                <a:solidFill>
                  <a:srgbClr val="122738"/>
                </a:solidFill>
                <a:latin typeface="Segoe UI"/>
              </a:rPr>
              <a:t>Cascade : propagation dirigée entre domaines de contrôle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28232"/>
            <a:ext cx="1005199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</a:pPr>
            <a:r>
              <a:rPr sz="900" b="0" i="1">
                <a:solidFill>
                  <a:srgbClr val="A5A5A5"/>
                </a:solidFill>
                <a:latin typeface="Segoe UI"/>
              </a:rPr>
              <a:t>Sources : mémoire, annexe F, table des notations.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