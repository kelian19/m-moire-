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Ne pas lire la slide. Se presenter, annoncer la duree, et poser la</a:t>
            </a:r>
          </a:p>
          <a:p>
            <a:r>
              <a:t>question tout de suite : combien coute en capital de ne pas se conformer a DORA,</a:t>
            </a:r>
          </a:p>
          <a:p>
            <a:r>
              <a:t>et jusqu'ou ce chiffre peut-il etre affirme.</a:t>
            </a:r>
          </a:p>
          <a:p>
            <a:r>
              <a:t>La date entre crochets est a renseigner avant la soutenance.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Annoncer le plan en six temps et la duree de chacun, puis passer. Ne pas</a:t>
            </a:r>
          </a:p>
          <a:p>
            <a:r>
              <a:t>commenter les entrees une par une : le jury les relira sur le support.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Le point a faire passer est le MAILLON MANQUANT, pas le reglement. DORA</a:t>
            </a:r>
          </a:p>
          <a:p>
            <a:r>
              <a:t>impose la maitrise de cinq domaines depuis janvier 2025. Aucun module prudentiel</a:t>
            </a:r>
          </a:p>
          <a:p>
            <a:r>
              <a:t>ne traduit ce niveau de maitrise en capital : la Formule Standard charge le</a:t>
            </a:r>
          </a:p>
          <a:p>
            <a:r>
              <a:t>risque operationnel par un pourcentage de primes ou de provisions, donc elle donne</a:t>
            </a:r>
          </a:p>
          <a:p>
            <a:r>
              <a:t>le meme chiffre a une entite exemplaire et a une entite defaillante.</a:t>
            </a:r>
          </a:p>
          <a:p>
            <a:r>
              <a:t>Dire « besoin de capital ORSA au titre de DORA », jamais « le SCR DORA ».</a:t>
            </a:r>
          </a:p>
          <a:p>
            <a:r>
              <a:t>Transition : « la question de ce memoire est donc celle du maillon du milieu.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Insister sur la SECONDE moitie de la question. Beaucoup de memoires</a:t>
            </a:r>
          </a:p>
          <a:p>
            <a:r>
              <a:t>repondent a la premiere. Celui-ci mesure aussi ce qu'il ne peut pas affirmer, et</a:t>
            </a:r>
          </a:p>
          <a:p>
            <a:r>
              <a:t>c'est ce qui produit la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Ne PAS reciter le reglement. Le seul point : ce sont des domaines de</a:t>
            </a:r>
          </a:p>
          <a:p>
            <a:r>
              <a:t>CONTROLE, et ils interagissent. Les deux piliers en rouge, gouvernance et tiers,</a:t>
            </a:r>
          </a:p>
          <a:p>
            <a:r>
              <a:t>sont ceux qui emettent le plus dans la matrice calibree. Si on demande pourquoi,</a:t>
            </a:r>
          </a:p>
          <a:p>
            <a:r>
              <a:t>la reponse est au chapitre 6 et la figure est en sauvegarde.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C'est la slide qui PREPARE le coeur. Annoncer les deux colonnes, et</a:t>
            </a:r>
          </a:p>
          <a:p>
            <a:r>
              <a:t>surtout dire que la colonne de droite n'est pas un manque de donnees a combler</a:t>
            </a:r>
          </a:p>
          <a:p>
            <a:r>
              <a:t>par plus de donnees du meme type : elle est structurelle. La demonstration</a:t>
            </a:r>
          </a:p>
          <a:p>
            <a:r>
              <a:t>arrive deux slides plus loin.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Donner la chaine complete en une fois, sans notation. Le point a ne pas</a:t>
            </a:r>
          </a:p>
          <a:p>
            <a:r>
              <a:t>rater : deux canaux CALIBRABLES, deux canaux BORNES. C'est la distinction qui</a:t>
            </a:r>
          </a:p>
          <a:p>
            <a:r>
              <a:t>revient a la fin sur les limites, et c'est elle qui interdit d'additionner les</a:t>
            </a:r>
          </a:p>
          <a:p>
            <a:r>
              <a:t>quatre leviers pour chiffrer une remediation partielle.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Le point intuitif : une gouvernance defaillante retarde la detection des</a:t>
            </a:r>
          </a:p>
          <a:p>
            <a:r>
              <a:t>incidents ; l'inverse n'est pas vrai au meme degre. Une dependance symetrique</a:t>
            </a:r>
          </a:p>
          <a:p>
            <a:r>
              <a:t>donne le meme nombre dans les deux sens, donc elle ne peut pas servir a</a:t>
            </a:r>
          </a:p>
          <a:p>
            <a:r>
              <a:t>prioriser une remediation. La cascade, si.</a:t>
            </a:r>
          </a:p>
          <a:p>
            <a:r>
              <a:t>Ne PAS entrer dans la normalisation de Leontief : slide de sauvegarde.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LA SLIDE DU MEMOIRE. Prendre le temps.</a:t>
            </a:r>
          </a:p>
          <a:p>
            <a:r>
              <a:t>Trois phrases : la matrice se decompose en symetrique plus antisymetrique ; la</a:t>
            </a:r>
          </a:p>
          <a:p>
            <a:r>
              <a:t>donnee identifie la co-occurrence, donc la partie symetrique ; une matrice et sa</a:t>
            </a:r>
          </a:p>
          <a:p>
            <a:r>
              <a:t>transposee sont indistinguables pour la donnee et donnent pourtant un capital et</a:t>
            </a:r>
          </a:p>
          <a:p>
            <a:r>
              <a:t>une decision DIFFERENTS.</a:t>
            </a:r>
          </a:p>
          <a:p>
            <a:r>
              <a:t>Dire explicitement : ce n'est pas un echec, c'est un resultat d'identification.</a:t>
            </a:r>
          </a:p>
          <a:p>
            <a:r>
              <a:t>Transition : « la question devient donc : que publie-t-on quand on ne peut pas</a:t>
            </a:r>
          </a:p>
          <a:p>
            <a:r>
              <a:t>identifier ?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Le mecanisme : plutot que de poser la direction, on borne le capital sur</a:t>
            </a:r>
          </a:p>
          <a:p>
            <a:r>
              <a:t>l'ENSEMBLE des matrices compatibles avec ce que la donnee identifie. 1 024</a:t>
            </a:r>
          </a:p>
          <a:p>
            <a:r>
              <a:t>sommets, enumeration exhaustive, donc pas un echantillonnage.</a:t>
            </a:r>
          </a:p>
          <a:p>
            <a:r>
              <a:t>Le point qui plait a un jury : le cout de l'ignorance est LINEAIRE et son maximum</a:t>
            </a:r>
          </a:p>
          <a:p>
            <a:r>
              <a:t>est connu d'avance, ce qui est plus favorable qu'un intervalle de confiance</a:t>
            </a:r>
          </a:p>
          <a:p>
            <a:r>
              <a:t>ordinaire.</a:t>
            </a:r>
          </a:p>
          <a:p>
            <a:r>
              <a:t>Precaution a exprimer : le NIVEAU affiche est illustratif ; c'est le rapport et la</a:t>
            </a:r>
          </a:p>
          <a:p>
            <a:r>
              <a:t>hierarchie qui sont defendus.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Trois nombres, pas plus : 9 138, 14 139, 5 001.</a:t>
            </a:r>
          </a:p>
          <a:p>
            <a:r>
              <a:t>Dire d'abord AU SECTEUR. Sans ce mot, le jury lit vingt milliards pour une entite</a:t>
            </a:r>
          </a:p>
          <a:p>
            <a:r>
              <a:t>et la question de l'echelle part avant qu'on ait pu la cadrer.</a:t>
            </a:r>
          </a:p>
          <a:p>
            <a:r>
              <a:t>Dire le mecanisme : les canaux isoles ne somment pas au total parce que la</a:t>
            </a:r>
          </a:p>
          <a:p>
            <a:r>
              <a:t>cascade est super-additive SUR SES CANAUX. Ajouter aussitot la nuance qui evite</a:t>
            </a:r>
          </a:p>
          <a:p>
            <a:r>
              <a:t>une erreur : elle est quasi additive sur les PILIERS, et l'additivite des COUTS</a:t>
            </a:r>
          </a:p>
          <a:p>
            <a:r>
              <a:t>au sein d'un sinistre est une troisieme chose, une hypothese non testee.</a:t>
            </a:r>
          </a:p>
          <a:p>
            <a:r>
              <a:t>NE JAMAIS additionner les quatre leviers pour chiffrer une remediation partielle :</a:t>
            </a:r>
          </a:p>
          <a:p>
            <a:r>
              <a:t>deux des quatre sont des bornes posees, pas des budgets.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Distinguer les deux mecanismes, parce qu'un jury les confond souvent :</a:t>
            </a:r>
          </a:p>
          <a:p>
            <a:r>
              <a:t>la CONTAGION va d'un pilier a l'autre dans une meme entite ; l'ACCUMULATION vient</a:t>
            </a:r>
          </a:p>
          <a:p>
            <a:r>
              <a:t>d'un prestataire commun a plusieurs entites. Le modele porte les deux, par deux</a:t>
            </a:r>
          </a:p>
          <a:p>
            <a:r>
              <a:t>canaux differents.</a:t>
            </a:r>
          </a:p>
          <a:p>
            <a:r>
              <a:t>Reserve a exprimer si on insiste : le canal d'accumulation est une borne posee,</a:t>
            </a:r>
          </a:p>
          <a:p>
            <a:r>
              <a:t>pas une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L'UNE DES DEUX SLIDES LES PLUS IMPORTANTES, avec la non-identifiabilite.</a:t>
            </a:r>
          </a:p>
          <a:p>
            <a:r>
              <a:t>C'est la que la limite devient un livrable : le modele ne dit pas seulement</a:t>
            </a:r>
          </a:p>
          <a:p>
            <a:r>
              <a:t>« il manque une donnee », il dit LAQUELLE et CE QU'ELLE RAPPORTE en resserrement</a:t>
            </a:r>
          </a:p>
          <a:p>
            <a:r>
              <a:t>de bande.</a:t>
            </a:r>
          </a:p>
          <a:p>
            <a:r>
              <a:t>C'est aussi la recommandation la plus directement actionnable par une direction</a:t>
            </a:r>
          </a:p>
          <a:p>
            <a:r>
              <a:t>des risques, et celle qu'une relecture de praticien a confirmee comme deja</a:t>
            </a:r>
          </a:p>
          <a:p>
            <a:r>
              <a:t>pratiquee sous une autre forme.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Les trois decisions, puis la mise en garde, qui est le vrai message.</a:t>
            </a:r>
          </a:p>
          <a:p>
            <a:r>
              <a:t>Si on demande un chiffre de retour sur investissement : le retour calcule sur le</a:t>
            </a:r>
          </a:p>
          <a:p>
            <a:r>
              <a:t>seul portage de capital est un MAJORANT, pas un plancher, parce que la seconde</a:t>
            </a:r>
          </a:p>
          <a:p>
            <a:r>
              <a:t>composante du benefice, la sinistralite evitee, n'est pas monetisee dans ce</a:t>
            </a:r>
          </a:p>
          <a:p>
            <a:r>
              <a:t>calcul. Ne pas donner le nombre d'annees sans dire le sens de la borne.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Presenter les deux colonnes ENSEMBLE, jamais la gauche seule.</a:t>
            </a:r>
          </a:p>
          <a:p>
            <a:r>
              <a:t>Insister sur un point que le texte de l'Institut recompense explicitement : la</a:t>
            </a:r>
          </a:p>
          <a:p>
            <a:r>
              <a:t>non-transitivite, qui donnait son titre au projet, a ete REFUTEE par son auteur,</a:t>
            </a:r>
          </a:p>
          <a:p>
            <a:r>
              <a:t>et le chiffre d'entite a ete requalifie en borne superieure. Ce sont des</a:t>
            </a:r>
          </a:p>
          <a:p>
            <a:r>
              <a:t>resultats, pas des faiblesses.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Trois phrases, puis la phrase encadree, dite lentement et sans la lire mot</a:t>
            </a:r>
          </a:p>
          <a:p>
            <a:r>
              <a:t>a mot. C'est la derniere chose que le jury entend avant les questions : elle doit</a:t>
            </a:r>
          </a:p>
          <a:p>
            <a:r>
              <a:t>etre la reponse a la question posee au debut.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sobre. Garder l'ecran dessus pendant les questions.</a:t>
            </a:r>
          </a:p>
          <a:p>
            <a:r>
              <a:t>Les dix slides de sauvegarde suivent, et elles s'appellent a la voix.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le jury demande la tracabilite : chaque nombre publie sort d'un script versionne, et un harnais verifie les 2 346 nombres du document. La colonne de droite est le point : deux statuts, jamais confondus.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qui desamorce la question sur les valeurs posees : la these ne depend pas de leur niveau mais de leur ORDRE, et la monotonie est demontree au script 66. Le p_u gele est l'exemple a citer si on demande la rigueur : l'ecart est publie au chapitre 13 au lieu d'etre corrige en silence, parce que rejouer un pipeline stochastique pour 2,4 % deplacerait des centaines de nombres sans qu'aucun deplacement soit attribuable a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theoremes autorisent l'extrapolation au-dela du plus grand sinistre observe. L'ajustement passe Anderson-Darling et Kolmogorov-Smirnov. Le backtest hors echantillon valide la FORME de la queue ; le NIVEAU derive, et c'est declare.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Rayon spectral 0,506, taux de reproduction 0,054 : la cascade s'eteint. La normalisation de Leontief garantit que le pilier le plus prolifique engendre au plus g descendants directs.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corpus donne un signal de direction, mais il porte un biais de narration : une narration choisit un ordre. Le biais est MESURE, borne et non leve. Une relecture de praticien a donne un exemple compatible avec les deux explications, ce qui corrobore la frontiere et non la matrice.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etages a ne jamais fondre en une seule barre : le bruit de calcul, reductible par la machine ; l'incertitude de parametre, portable par un intervalle ; et l'ambiguite de famille, epistemique, qui ne se moyenne pas.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Isolee, fermeture et Shapley repondent a trois questions differentes. Shapley est la seule colonne additive, mais c'est une CONVENTION d'attribution : deux canaux sur quatre sont des bornes, leur part n'est pas un budget. L'intuition suffit, ne pas ecrire la formule.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PIEGE DE PREMISSE FREQUENT. A l'etat non conforme, 62,31 % des sinistres touchent plus d'un pilier, contre 31,15 % a l'etat conforme. La loi est EXACTE, par enumeration de la progeniture, donc citable sans bruit.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Resultat contre-intuitif a assumer : la fragilite est dans l'ajustement de valeurs extremes, PAS dans la contagion. L'hypothese la plus lourde et non testee est l'additivite des couts au sein d'un sinistre.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distinction en rouge est celle qui a produit une confusion en seance le 7 aout 2026 : le quantile de severite d'un sinistre n'est pas une mesure de capital.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figure du memoire. La diapositive de l'expose en montre le panneau du milieu, redessine pour etre lisible a la projection, avec les memes valeurs lues dans la sortie versionnee. Le panneau (a) porte la decomposition de Mobius, le (c) les six croises de paires. NE PAS additionner l'interaction des canaux et celle des piliers : ce sont deux partitions du meme ecart.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figure du memoire. La diapositive de l'expose en montre le panneau (a), redessine en bandes. Les trois autres panneaux repondent a des questions de jury : la lecture centrale bayesienne, la priorite robuste au sens du regret maximal, et la hierarchie sans cycle.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11.png"/><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5.png"/><Relationship Id="rId4"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8.png"/><Relationship Id="rId4"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9.png"/><Relationship Id="rId4"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0.png"/><Relationship Id="rId4"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hoto_couverture.jpg"/>
          <p:cNvPicPr>
            <a:picLocks noChangeAspect="1"/>
          </p:cNvPicPr>
          <p:nvPr/>
        </p:nvPicPr>
        <p:blipFill>
          <a:blip r:embed="rId2"/>
          <a:srcRect l="19194" r="19194"/>
          <a:stretch>
            <a:fillRect/>
          </a:stretch>
        </p:blipFill>
        <p:spPr>
          <a:xfrm>
            <a:off x="5852160" y="0"/>
            <a:ext cx="6339535" cy="6858000"/>
          </a:xfrm>
          <a:prstGeom prst="rect">
            <a:avLst/>
          </a:prstGeom>
        </p:spPr>
      </p:pic>
      <p:sp>
        <p:nvSpPr>
          <p:cNvPr id="4" name="Freeform 3"/>
          <p:cNvSpPr/>
          <p:nvPr/>
        </p:nvSpPr>
        <p:spPr>
          <a:xfrm>
            <a:off x="5852160" y="0"/>
            <a:ext cx="2423160" cy="6858000"/>
          </a:xfrm>
          <a:custGeom>
            <a:avLst/>
            <a:gdLst/>
            <a:ahLst/>
            <a:cxnLst/>
            <a:rect l="l" t="t" r="r" b="b"/>
            <a:pathLst>
              <a:path w="2423160" h="6858000">
                <a:moveTo>
                  <a:pt x="0" y="0"/>
                </a:moveTo>
                <a:lnTo>
                  <a:pt x="0" y="6858000"/>
                </a:lnTo>
                <a:lnTo>
                  <a:pt x="2423160" y="68580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0" y="0"/>
            <a:ext cx="603504" cy="896112"/>
          </a:xfrm>
          <a:custGeom>
            <a:avLst/>
            <a:gdLst/>
            <a:ahLst/>
            <a:cxnLst/>
            <a:rect l="l" t="t" r="r" b="b"/>
            <a:pathLst>
              <a:path w="603504" h="896112">
                <a:moveTo>
                  <a:pt x="0" y="0"/>
                </a:moveTo>
                <a:lnTo>
                  <a:pt x="603504" y="0"/>
                </a:lnTo>
                <a:lnTo>
                  <a:pt x="0" y="8961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stitut_actuaires.png"/>
          <p:cNvPicPr>
            <a:picLocks noChangeAspect="1"/>
          </p:cNvPicPr>
          <p:nvPr/>
        </p:nvPicPr>
        <p:blipFill>
          <a:blip r:embed="rId3"/>
          <a:stretch>
            <a:fillRect/>
          </a:stretch>
        </p:blipFill>
        <p:spPr>
          <a:xfrm>
            <a:off x="2148840" y="164592"/>
            <a:ext cx="1325880" cy="566928"/>
          </a:xfrm>
          <a:prstGeom prst="rect">
            <a:avLst/>
          </a:prstGeom>
        </p:spPr>
      </p:pic>
      <p:pic>
        <p:nvPicPr>
          <p:cNvPr id="7" name="Picture 6" descr="nexialog.png"/>
          <p:cNvPicPr>
            <a:picLocks noChangeAspect="1"/>
          </p:cNvPicPr>
          <p:nvPr/>
        </p:nvPicPr>
        <p:blipFill>
          <a:blip r:embed="rId4"/>
          <a:stretch>
            <a:fillRect/>
          </a:stretch>
        </p:blipFill>
        <p:spPr>
          <a:xfrm>
            <a:off x="320040" y="804672"/>
            <a:ext cx="1783080" cy="649224"/>
          </a:xfrm>
          <a:prstGeom prst="rect">
            <a:avLst/>
          </a:prstGeom>
        </p:spPr>
      </p:pic>
      <p:pic>
        <p:nvPicPr>
          <p:cNvPr id="8" name="Picture 7" descr="ensae.png"/>
          <p:cNvPicPr>
            <a:picLocks noChangeAspect="1"/>
          </p:cNvPicPr>
          <p:nvPr/>
        </p:nvPicPr>
        <p:blipFill>
          <a:blip r:embed="rId5"/>
          <a:stretch>
            <a:fillRect/>
          </a:stretch>
        </p:blipFill>
        <p:spPr>
          <a:xfrm>
            <a:off x="4206240" y="384048"/>
            <a:ext cx="1005840" cy="1188720"/>
          </a:xfrm>
          <a:prstGeom prst="rect">
            <a:avLst/>
          </a:prstGeom>
        </p:spPr>
      </p:pic>
      <p:sp>
        <p:nvSpPr>
          <p:cNvPr id="9" name="TextBox 8"/>
          <p:cNvSpPr txBox="1"/>
          <p:nvPr/>
        </p:nvSpPr>
        <p:spPr>
          <a:xfrm>
            <a:off x="384048" y="2788920"/>
            <a:ext cx="6400800" cy="1051560"/>
          </a:xfrm>
          <a:prstGeom prst="rect">
            <a:avLst/>
          </a:prstGeom>
          <a:noFill/>
        </p:spPr>
        <p:txBody>
          <a:bodyPr wrap="square" lIns="0" rIns="0" tIns="0" bIns="0">
            <a:spAutoFit/>
          </a:bodyPr>
          <a:lstStyle/>
          <a:p>
            <a:pPr algn="l">
              <a:spcBef>
                <a:spcPts val="0"/>
              </a:spcBef>
            </a:pPr>
            <a:r>
              <a:rPr sz="2100" b="1" i="0">
                <a:solidFill>
                  <a:srgbClr val="223E55"/>
                </a:solidFill>
                <a:latin typeface="Georgia"/>
              </a:rPr>
              <a:t>Quantification du SCR lié à la non-conformité</a:t>
            </a:r>
          </a:p>
          <a:p>
            <a:pPr algn="l">
              <a:spcBef>
                <a:spcPts val="0"/>
              </a:spcBef>
            </a:pPr>
            <a:r>
              <a:rPr sz="2100" b="1" i="0">
                <a:solidFill>
                  <a:srgbClr val="223E55"/>
                </a:solidFill>
                <a:latin typeface="Georgia"/>
              </a:rPr>
              <a:t>au règlement DORA (UE 2022/2554)</a:t>
            </a:r>
          </a:p>
        </p:txBody>
      </p:sp>
      <p:sp>
        <p:nvSpPr>
          <p:cNvPr id="10" name="Rectangle 9"/>
          <p:cNvSpPr/>
          <p:nvPr/>
        </p:nvSpPr>
        <p:spPr>
          <a:xfrm>
            <a:off x="868680" y="4005072"/>
            <a:ext cx="5212080" cy="420624"/>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pPr>
            <a:r>
              <a:rPr sz="1500" b="1" i="0">
                <a:solidFill>
                  <a:srgbClr val="FFFFFF"/>
                </a:solidFill>
                <a:latin typeface="Segoe UI"/>
              </a:rPr>
              <a:t>Une cascade dirigée entre les cinq piliers</a:t>
            </a:r>
          </a:p>
        </p:txBody>
      </p:sp>
      <p:sp>
        <p:nvSpPr>
          <p:cNvPr id="11" name="TextBox 10"/>
          <p:cNvSpPr txBox="1"/>
          <p:nvPr/>
        </p:nvSpPr>
        <p:spPr>
          <a:xfrm>
            <a:off x="384048" y="4681728"/>
            <a:ext cx="5989320" cy="822960"/>
          </a:xfrm>
          <a:prstGeom prst="rect">
            <a:avLst/>
          </a:prstGeom>
          <a:noFill/>
        </p:spPr>
        <p:txBody>
          <a:bodyPr wrap="square" lIns="0" rIns="0" tIns="0" bIns="0">
            <a:spAutoFit/>
          </a:bodyPr>
          <a:lstStyle/>
          <a:p>
            <a:pPr algn="ctr">
              <a:spcBef>
                <a:spcPts val="0"/>
              </a:spcBef>
            </a:pPr>
            <a:r>
              <a:rPr sz="1600" b="0" i="1">
                <a:solidFill>
                  <a:srgbClr val="223E55"/>
                </a:solidFill>
                <a:latin typeface="Georgia"/>
              </a:rPr>
              <a:t>Présenté par :  Kélian KADDOURI</a:t>
            </a:r>
          </a:p>
          <a:p>
            <a:pPr algn="ctr">
              <a:spcBef>
                <a:spcPts val="800"/>
              </a:spcBef>
            </a:pPr>
            <a:r>
              <a:rPr sz="1400" b="0" i="1">
                <a:solidFill>
                  <a:srgbClr val="223E55"/>
                </a:solidFill>
                <a:latin typeface="Georgia"/>
              </a:rPr>
              <a:t>ENSAE Paris, filière Actuariat  ·  Nexialog Consulting</a:t>
            </a:r>
          </a:p>
          <a:p>
            <a:pPr algn="ctr">
              <a:spcBef>
                <a:spcPts val="1000"/>
              </a:spcBef>
            </a:pPr>
            <a:r>
              <a:rPr sz="1400" b="1" i="1">
                <a:solidFill>
                  <a:srgbClr val="B10031"/>
                </a:solidFill>
                <a:latin typeface="Georgia"/>
              </a:rPr>
              <a:t>[jj / mm / 2026]</a:t>
            </a:r>
          </a:p>
        </p:txBody>
      </p:sp>
      <p:sp>
        <p:nvSpPr>
          <p:cNvPr id="12" name="TextBox 11"/>
          <p:cNvSpPr txBox="1"/>
          <p:nvPr/>
        </p:nvSpPr>
        <p:spPr>
          <a:xfrm>
            <a:off x="384048" y="5806440"/>
            <a:ext cx="2651760" cy="731520"/>
          </a:xfrm>
          <a:prstGeom prst="rect">
            <a:avLst/>
          </a:prstGeom>
          <a:noFill/>
        </p:spPr>
        <p:txBody>
          <a:bodyPr wrap="square" lIns="0" rIns="0" tIns="0" bIns="0">
            <a:spAutoFit/>
          </a:bodyPr>
          <a:lstStyle/>
          <a:p>
            <a:pPr algn="l">
              <a:spcBef>
                <a:spcPts val="0"/>
              </a:spcBef>
            </a:pPr>
            <a:r>
              <a:rPr sz="1300" b="0" i="1">
                <a:solidFill>
                  <a:srgbClr val="223E55"/>
                </a:solidFill>
                <a:latin typeface="Georgia"/>
              </a:rPr>
              <a:t>Sous la supervision de :</a:t>
            </a:r>
          </a:p>
          <a:p>
            <a:pPr algn="l">
              <a:spcBef>
                <a:spcPts val="600"/>
              </a:spcBef>
            </a:pPr>
            <a:r>
              <a:rPr sz="1400" b="1" i="1">
                <a:solidFill>
                  <a:srgbClr val="223E55"/>
                </a:solidFill>
                <a:latin typeface="Georgia"/>
              </a:rPr>
              <a:t>M. Hugo RAPIOR</a:t>
            </a:r>
          </a:p>
        </p:txBody>
      </p:sp>
      <p:sp>
        <p:nvSpPr>
          <p:cNvPr id="13" name="TextBox 12"/>
          <p:cNvSpPr txBox="1"/>
          <p:nvPr/>
        </p:nvSpPr>
        <p:spPr>
          <a:xfrm>
            <a:off x="3611880" y="5806440"/>
            <a:ext cx="2788920" cy="731520"/>
          </a:xfrm>
          <a:prstGeom prst="rect">
            <a:avLst/>
          </a:prstGeom>
          <a:noFill/>
        </p:spPr>
        <p:txBody>
          <a:bodyPr wrap="square" lIns="0" rIns="0" tIns="0" bIns="0">
            <a:spAutoFit/>
          </a:bodyPr>
          <a:lstStyle/>
          <a:p>
            <a:pPr algn="r">
              <a:spcBef>
                <a:spcPts val="0"/>
              </a:spcBef>
            </a:pPr>
            <a:r>
              <a:rPr sz="1300" b="0" i="1">
                <a:solidFill>
                  <a:srgbClr val="223E55"/>
                </a:solidFill>
                <a:latin typeface="Georgia"/>
              </a:rPr>
              <a:t>Tutrice académique :</a:t>
            </a:r>
          </a:p>
          <a:p>
            <a:pPr algn="r">
              <a:spcBef>
                <a:spcPts val="600"/>
              </a:spcBef>
            </a:pPr>
            <a:r>
              <a:rPr sz="1400" b="1" i="1">
                <a:solidFill>
                  <a:srgbClr val="223E55"/>
                </a:solidFill>
                <a:latin typeface="Georgia"/>
              </a:rPr>
              <a:t>Caroline HILLAIRET</a:t>
            </a:r>
          </a:p>
        </p:txBody>
      </p:sp>
      <p:pic>
        <p:nvPicPr>
          <p:cNvPr id="14" name="Picture 13" descr="think_smart.png"/>
          <p:cNvPicPr>
            <a:picLocks noChangeAspect="1"/>
          </p:cNvPicPr>
          <p:nvPr/>
        </p:nvPicPr>
        <p:blipFill>
          <a:blip r:embed="rId6"/>
          <a:stretch>
            <a:fillRect/>
          </a:stretch>
        </p:blipFill>
        <p:spPr>
          <a:xfrm>
            <a:off x="2103120" y="6446520"/>
            <a:ext cx="2331720" cy="310896"/>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hoto_section.jpg"/>
          <p:cNvPicPr>
            <a:picLocks noChangeAspect="1"/>
          </p:cNvPicPr>
          <p:nvPr/>
        </p:nvPicPr>
        <p:blipFill>
          <a:blip r:embed="rId2"/>
          <a:srcRect l="27966" r="27966"/>
          <a:stretch>
            <a:fillRect/>
          </a:stretch>
        </p:blipFill>
        <p:spPr>
          <a:xfrm>
            <a:off x="0" y="0"/>
            <a:ext cx="3931920" cy="6858000"/>
          </a:xfrm>
          <a:prstGeom prst="rect">
            <a:avLst/>
          </a:prstGeom>
        </p:spPr>
      </p:pic>
      <p:sp>
        <p:nvSpPr>
          <p:cNvPr id="4" name="Freeform 3"/>
          <p:cNvSpPr/>
          <p:nvPr/>
        </p:nvSpPr>
        <p:spPr>
          <a:xfrm>
            <a:off x="1874519" y="0"/>
            <a:ext cx="2057401" cy="1463040"/>
          </a:xfrm>
          <a:custGeom>
            <a:avLst/>
            <a:gdLst/>
            <a:ahLst/>
            <a:cxnLst/>
            <a:rect l="l" t="t" r="r" b="b"/>
            <a:pathLst>
              <a:path w="2057401" h="1463040">
                <a:moveTo>
                  <a:pt x="0" y="0"/>
                </a:moveTo>
                <a:lnTo>
                  <a:pt x="2057401" y="0"/>
                </a:lnTo>
                <a:lnTo>
                  <a:pt x="2057401" y="146304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1560" y="3246120"/>
            <a:ext cx="2880360" cy="3611880"/>
          </a:xfrm>
          <a:custGeom>
            <a:avLst/>
            <a:gdLst/>
            <a:ahLst/>
            <a:cxnLst/>
            <a:rect l="l" t="t" r="r" b="b"/>
            <a:pathLst>
              <a:path w="2880360" h="3611880">
                <a:moveTo>
                  <a:pt x="2880360" y="0"/>
                </a:moveTo>
                <a:lnTo>
                  <a:pt x="2880360" y="3611880"/>
                </a:lnTo>
                <a:lnTo>
                  <a:pt x="0" y="361188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exialog.png"/>
          <p:cNvPicPr>
            <a:picLocks noChangeAspect="1"/>
          </p:cNvPicPr>
          <p:nvPr/>
        </p:nvPicPr>
        <p:blipFill>
          <a:blip r:embed="rId3"/>
          <a:stretch>
            <a:fillRect/>
          </a:stretch>
        </p:blipFill>
        <p:spPr>
          <a:xfrm>
            <a:off x="10207447" y="182880"/>
            <a:ext cx="1481328" cy="539496"/>
          </a:xfrm>
          <a:prstGeom prst="rect">
            <a:avLst/>
          </a:prstGeom>
        </p:spPr>
      </p:pic>
      <p:sp>
        <p:nvSpPr>
          <p:cNvPr id="7" name="TextBox 6"/>
          <p:cNvSpPr txBox="1"/>
          <p:nvPr/>
        </p:nvSpPr>
        <p:spPr>
          <a:xfrm>
            <a:off x="4754880" y="731520"/>
            <a:ext cx="6766560" cy="731520"/>
          </a:xfrm>
          <a:prstGeom prst="rect">
            <a:avLst/>
          </a:prstGeom>
          <a:noFill/>
        </p:spPr>
        <p:txBody>
          <a:bodyPr wrap="square" lIns="0" rIns="0" tIns="0" bIns="0">
            <a:spAutoFit/>
          </a:bodyPr>
          <a:lstStyle/>
          <a:p>
            <a:pPr algn="ctr">
              <a:spcBef>
                <a:spcPts val="0"/>
              </a:spcBef>
            </a:pPr>
            <a:r>
              <a:rPr sz="4000" b="0" i="0">
                <a:solidFill>
                  <a:srgbClr val="B10031"/>
                </a:solidFill>
                <a:latin typeface="Georgia"/>
              </a:rPr>
              <a:t>SOMMAIRE</a:t>
            </a:r>
          </a:p>
        </p:txBody>
      </p:sp>
      <p:sp>
        <p:nvSpPr>
          <p:cNvPr id="8" name="Rectangle 7"/>
          <p:cNvSpPr/>
          <p:nvPr/>
        </p:nvSpPr>
        <p:spPr>
          <a:xfrm>
            <a:off x="1463040" y="1965960"/>
            <a:ext cx="10195560" cy="26974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63040" y="4663440"/>
            <a:ext cx="10195560" cy="109728"/>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83080" y="2331720"/>
            <a:ext cx="3017520" cy="822960"/>
          </a:xfrm>
          <a:prstGeom prst="rect">
            <a:avLst/>
          </a:prstGeom>
          <a:noFill/>
        </p:spPr>
        <p:txBody>
          <a:bodyPr wrap="square" lIns="0" rIns="0" tIns="0" bIns="0">
            <a:spAutoFit/>
          </a:bodyPr>
          <a:lstStyle/>
          <a:p>
            <a:pPr algn="l">
              <a:spcBef>
                <a:spcPts val="0"/>
              </a:spcBef>
            </a:pPr>
            <a:r>
              <a:rPr sz="2000" b="1" i="0">
                <a:solidFill>
                  <a:srgbClr val="B10031"/>
                </a:solidFill>
                <a:latin typeface="Georgia"/>
              </a:rPr>
              <a:t>01</a:t>
            </a:r>
          </a:p>
          <a:p>
            <a:pPr algn="l">
              <a:spcBef>
                <a:spcPts val="200"/>
              </a:spcBef>
            </a:pPr>
            <a:r>
              <a:rPr sz="1400" b="1" i="0">
                <a:solidFill>
                  <a:srgbClr val="223E55"/>
                </a:solidFill>
                <a:latin typeface="Segoe UI"/>
              </a:rPr>
              <a:t>Le vide prudentiel</a:t>
            </a:r>
          </a:p>
        </p:txBody>
      </p:sp>
      <p:sp>
        <p:nvSpPr>
          <p:cNvPr id="11" name="TextBox 10"/>
          <p:cNvSpPr txBox="1"/>
          <p:nvPr/>
        </p:nvSpPr>
        <p:spPr>
          <a:xfrm>
            <a:off x="5093208" y="2331720"/>
            <a:ext cx="3017520" cy="822960"/>
          </a:xfrm>
          <a:prstGeom prst="rect">
            <a:avLst/>
          </a:prstGeom>
          <a:noFill/>
        </p:spPr>
        <p:txBody>
          <a:bodyPr wrap="square" lIns="0" rIns="0" tIns="0" bIns="0">
            <a:spAutoFit/>
          </a:bodyPr>
          <a:lstStyle/>
          <a:p>
            <a:pPr algn="l">
              <a:spcBef>
                <a:spcPts val="0"/>
              </a:spcBef>
            </a:pPr>
            <a:r>
              <a:rPr sz="2000" b="1" i="0">
                <a:solidFill>
                  <a:srgbClr val="B10031"/>
                </a:solidFill>
                <a:latin typeface="Georgia"/>
              </a:rPr>
              <a:t>02</a:t>
            </a:r>
          </a:p>
          <a:p>
            <a:pPr algn="l">
              <a:spcBef>
                <a:spcPts val="200"/>
              </a:spcBef>
            </a:pPr>
            <a:r>
              <a:rPr sz="1400" b="1" i="0">
                <a:solidFill>
                  <a:srgbClr val="223E55"/>
                </a:solidFill>
                <a:latin typeface="Segoe UI"/>
              </a:rPr>
              <a:t>La donnée et sa frontière</a:t>
            </a:r>
          </a:p>
        </p:txBody>
      </p:sp>
      <p:sp>
        <p:nvSpPr>
          <p:cNvPr id="12" name="TextBox 11"/>
          <p:cNvSpPr txBox="1"/>
          <p:nvPr/>
        </p:nvSpPr>
        <p:spPr>
          <a:xfrm>
            <a:off x="8403336" y="2331720"/>
            <a:ext cx="3017520" cy="822960"/>
          </a:xfrm>
          <a:prstGeom prst="rect">
            <a:avLst/>
          </a:prstGeom>
          <a:noFill/>
        </p:spPr>
        <p:txBody>
          <a:bodyPr wrap="square" lIns="0" rIns="0" tIns="0" bIns="0">
            <a:spAutoFit/>
          </a:bodyPr>
          <a:lstStyle/>
          <a:p>
            <a:pPr algn="l">
              <a:spcBef>
                <a:spcPts val="0"/>
              </a:spcBef>
            </a:pPr>
            <a:r>
              <a:rPr sz="2000" b="1" i="0">
                <a:solidFill>
                  <a:srgbClr val="B10031"/>
                </a:solidFill>
                <a:latin typeface="Georgia"/>
              </a:rPr>
              <a:t>03</a:t>
            </a:r>
          </a:p>
          <a:p>
            <a:pPr algn="l">
              <a:spcBef>
                <a:spcPts val="200"/>
              </a:spcBef>
            </a:pPr>
            <a:r>
              <a:rPr sz="1400" b="1" i="0">
                <a:solidFill>
                  <a:srgbClr val="223E55"/>
                </a:solidFill>
                <a:latin typeface="Segoe UI"/>
              </a:rPr>
              <a:t>La cascade dirigée</a:t>
            </a:r>
          </a:p>
        </p:txBody>
      </p:sp>
      <p:sp>
        <p:nvSpPr>
          <p:cNvPr id="13" name="TextBox 12"/>
          <p:cNvSpPr txBox="1"/>
          <p:nvPr/>
        </p:nvSpPr>
        <p:spPr>
          <a:xfrm>
            <a:off x="1783080" y="3383280"/>
            <a:ext cx="3017520" cy="822960"/>
          </a:xfrm>
          <a:prstGeom prst="rect">
            <a:avLst/>
          </a:prstGeom>
          <a:noFill/>
        </p:spPr>
        <p:txBody>
          <a:bodyPr wrap="square" lIns="0" rIns="0" tIns="0" bIns="0">
            <a:spAutoFit/>
          </a:bodyPr>
          <a:lstStyle/>
          <a:p>
            <a:pPr algn="l">
              <a:spcBef>
                <a:spcPts val="0"/>
              </a:spcBef>
            </a:pPr>
            <a:r>
              <a:rPr sz="2000" b="1" i="0">
                <a:solidFill>
                  <a:srgbClr val="B10031"/>
                </a:solidFill>
                <a:latin typeface="Georgia"/>
              </a:rPr>
              <a:t>04</a:t>
            </a:r>
          </a:p>
          <a:p>
            <a:pPr algn="l">
              <a:spcBef>
                <a:spcPts val="200"/>
              </a:spcBef>
            </a:pPr>
            <a:r>
              <a:rPr sz="1400" b="1" i="0">
                <a:solidFill>
                  <a:srgbClr val="223E55"/>
                </a:solidFill>
                <a:latin typeface="Segoe UI"/>
              </a:rPr>
              <a:t>Borner plutôt que poser</a:t>
            </a:r>
          </a:p>
        </p:txBody>
      </p:sp>
      <p:sp>
        <p:nvSpPr>
          <p:cNvPr id="14" name="TextBox 13"/>
          <p:cNvSpPr txBox="1"/>
          <p:nvPr/>
        </p:nvSpPr>
        <p:spPr>
          <a:xfrm>
            <a:off x="5093208" y="3383280"/>
            <a:ext cx="3017520" cy="822960"/>
          </a:xfrm>
          <a:prstGeom prst="rect">
            <a:avLst/>
          </a:prstGeom>
          <a:noFill/>
        </p:spPr>
        <p:txBody>
          <a:bodyPr wrap="square" lIns="0" rIns="0" tIns="0" bIns="0">
            <a:spAutoFit/>
          </a:bodyPr>
          <a:lstStyle/>
          <a:p>
            <a:pPr algn="l">
              <a:spcBef>
                <a:spcPts val="0"/>
              </a:spcBef>
            </a:pPr>
            <a:r>
              <a:rPr sz="2000" b="1" i="0">
                <a:solidFill>
                  <a:srgbClr val="B10031"/>
                </a:solidFill>
                <a:latin typeface="Georgia"/>
              </a:rPr>
              <a:t>05</a:t>
            </a:r>
          </a:p>
          <a:p>
            <a:pPr algn="l">
              <a:spcBef>
                <a:spcPts val="200"/>
              </a:spcBef>
            </a:pPr>
            <a:r>
              <a:rPr sz="1400" b="1" i="0">
                <a:solidFill>
                  <a:srgbClr val="223E55"/>
                </a:solidFill>
                <a:latin typeface="Segoe UI"/>
              </a:rPr>
              <a:t>Quatre canaux et le capital</a:t>
            </a:r>
          </a:p>
        </p:txBody>
      </p:sp>
      <p:sp>
        <p:nvSpPr>
          <p:cNvPr id="15" name="TextBox 14"/>
          <p:cNvSpPr txBox="1"/>
          <p:nvPr/>
        </p:nvSpPr>
        <p:spPr>
          <a:xfrm>
            <a:off x="8403336" y="3383280"/>
            <a:ext cx="3017520" cy="822960"/>
          </a:xfrm>
          <a:prstGeom prst="rect">
            <a:avLst/>
          </a:prstGeom>
          <a:noFill/>
        </p:spPr>
        <p:txBody>
          <a:bodyPr wrap="square" lIns="0" rIns="0" tIns="0" bIns="0">
            <a:spAutoFit/>
          </a:bodyPr>
          <a:lstStyle/>
          <a:p>
            <a:pPr algn="l">
              <a:spcBef>
                <a:spcPts val="0"/>
              </a:spcBef>
            </a:pPr>
            <a:r>
              <a:rPr sz="2000" b="1" i="0">
                <a:solidFill>
                  <a:srgbClr val="B10031"/>
                </a:solidFill>
                <a:latin typeface="Georgia"/>
              </a:rPr>
              <a:t>06</a:t>
            </a:r>
          </a:p>
          <a:p>
            <a:pPr algn="l">
              <a:spcBef>
                <a:spcPts val="200"/>
              </a:spcBef>
            </a:pPr>
            <a:r>
              <a:rPr sz="1400" b="1" i="0">
                <a:solidFill>
                  <a:srgbClr val="223E55"/>
                </a:solidFill>
                <a:latin typeface="Segoe UI"/>
              </a:rPr>
              <a:t>Décision, limites et suites</a:t>
            </a:r>
          </a:p>
        </p:txBody>
      </p:sp>
      <p:sp>
        <p:nvSpPr>
          <p:cNvPr id="16" name="TextBox 15"/>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3</a:t>
            </a:r>
          </a:p>
        </p:txBody>
      </p:sp>
      <p:sp>
        <p:nvSpPr>
          <p:cNvPr id="7" name="TextBox 6"/>
          <p:cNvSpPr txBox="1"/>
          <p:nvPr/>
        </p:nvSpPr>
        <p:spPr>
          <a:xfrm>
            <a:off x="749808" y="292608"/>
            <a:ext cx="8954719" cy="530352"/>
          </a:xfrm>
          <a:prstGeom prst="rect">
            <a:avLst/>
          </a:prstGeom>
          <a:noFill/>
        </p:spPr>
        <p:txBody>
          <a:bodyPr wrap="square" lIns="0" rIns="0" tIns="0" bIns="0">
            <a:spAutoFit/>
          </a:bodyPr>
          <a:lstStyle/>
          <a:p>
            <a:pPr algn="l">
              <a:spcBef>
                <a:spcPts val="0"/>
              </a:spcBef>
            </a:pPr>
            <a:r>
              <a:rPr sz="2100" b="1" i="0">
                <a:solidFill>
                  <a:srgbClr val="223E55"/>
                </a:solidFill>
                <a:latin typeface="Georgia"/>
              </a:rPr>
              <a:t>DORA impose une maîtrise, aucun dispositif n'en fait du capital</a:t>
            </a:r>
          </a:p>
        </p:txBody>
      </p:sp>
      <p:sp>
        <p:nvSpPr>
          <p:cNvPr id="8" name="TextBox 7"/>
          <p:cNvSpPr txBox="1"/>
          <p:nvPr/>
        </p:nvSpPr>
        <p:spPr>
          <a:xfrm>
            <a:off x="749808" y="804672"/>
            <a:ext cx="8954719" cy="384048"/>
          </a:xfrm>
          <a:prstGeom prst="rect">
            <a:avLst/>
          </a:prstGeom>
          <a:noFill/>
        </p:spPr>
        <p:txBody>
          <a:bodyPr wrap="square" lIns="0" rIns="0" tIns="0" bIns="0">
            <a:spAutoFit/>
          </a:bodyPr>
          <a:lstStyle/>
          <a:p>
            <a:pPr algn="l">
              <a:spcBef>
                <a:spcPts val="0"/>
              </a:spcBef>
            </a:pPr>
            <a:r>
              <a:rPr sz="1800" b="1" i="0">
                <a:solidFill>
                  <a:srgbClr val="B10031"/>
                </a:solidFill>
                <a:latin typeface="Georgia"/>
              </a:rPr>
              <a:t>Règlement (UE) 2022/2554, applicable depuis janvier 2025</a:t>
            </a:r>
          </a:p>
        </p:txBody>
      </p:sp>
      <p:cxnSp>
        <p:nvCxnSpPr>
          <p:cNvPr id="9" name="Connector 8"/>
          <p:cNvCxnSpPr/>
          <p:nvPr/>
        </p:nvCxnSpPr>
        <p:spPr>
          <a:xfrm>
            <a:off x="6095847" y="1335024"/>
            <a:ext cx="0" cy="4288536"/>
          </a:xfrm>
          <a:prstGeom prst="line">
            <a:avLst/>
          </a:prstGeom>
          <a:ln w="15875">
            <a:solidFill>
              <a:srgbClr val="9DC3C8"/>
            </a:solidFill>
            <a:prstDash val="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8" y="1389888"/>
            <a:ext cx="5071719" cy="310896"/>
          </a:xfrm>
          <a:prstGeom prst="rect">
            <a:avLst/>
          </a:prstGeom>
          <a:noFill/>
        </p:spPr>
        <p:txBody>
          <a:bodyPr wrap="square" lIns="0" rIns="0" tIns="0" bIns="0">
            <a:spAutoFit/>
          </a:bodyPr>
          <a:lstStyle/>
          <a:p>
            <a:pPr algn="l">
              <a:spcBef>
                <a:spcPts val="0"/>
              </a:spcBef>
            </a:pPr>
            <a:r>
              <a:rPr sz="1500" b="1" i="0">
                <a:solidFill>
                  <a:srgbClr val="B10031"/>
                </a:solidFill>
                <a:latin typeface="Segoe UI"/>
              </a:rPr>
              <a:t>① </a:t>
            </a:r>
            <a:r>
              <a:rPr sz="1500" b="1" i="0">
                <a:solidFill>
                  <a:srgbClr val="223E55"/>
                </a:solidFill>
                <a:latin typeface="Segoe UI"/>
              </a:rPr>
              <a:t>Un déplacement du centre de gravité prudentiel</a:t>
            </a:r>
          </a:p>
        </p:txBody>
      </p:sp>
      <p:sp>
        <p:nvSpPr>
          <p:cNvPr id="11" name="TextBox 10"/>
          <p:cNvSpPr txBox="1"/>
          <p:nvPr/>
        </p:nvSpPr>
        <p:spPr>
          <a:xfrm>
            <a:off x="749808" y="1719072"/>
            <a:ext cx="5071719" cy="1280160"/>
          </a:xfrm>
          <a:prstGeom prst="rect">
            <a:avLst/>
          </a:prstGeom>
          <a:noFill/>
        </p:spPr>
        <p:txBody>
          <a:bodyPr wrap="square" lIns="0" rIns="0" tIns="0" bIns="0">
            <a:spAutoFit/>
          </a:bodyPr>
          <a:lstStyle/>
          <a:p>
            <a:pPr algn="l" marL="219456" indent="-219456">
              <a:spcBef>
                <a:spcPts val="0"/>
              </a:spcBef>
            </a:pPr>
            <a:r>
              <a:rPr sz="1400" b="0" i="0">
                <a:solidFill>
                  <a:srgbClr val="595959"/>
                </a:solidFill>
                <a:latin typeface="Segoe UI"/>
              </a:rPr>
              <a:t>•   </a:t>
            </a:r>
            <a:r>
              <a:rPr sz="1400" b="0" i="0">
                <a:solidFill>
                  <a:srgbClr val="122738"/>
                </a:solidFill>
                <a:latin typeface="Segoe UI"/>
              </a:rPr>
              <a:t>Bâle, puis Solvabilité II, puis DORA : de la couverture financière du risque vers la continuité opérationnelle</a:t>
            </a:r>
          </a:p>
          <a:p>
            <a:pPr algn="l" marL="219456" indent="-219456">
              <a:spcBef>
                <a:spcPts val="800"/>
              </a:spcBef>
            </a:pPr>
            <a:r>
              <a:rPr sz="1400" b="0" i="0">
                <a:solidFill>
                  <a:srgbClr val="595959"/>
                </a:solidFill>
                <a:latin typeface="Segoe UI"/>
              </a:rPr>
              <a:t>•   </a:t>
            </a:r>
            <a:r>
              <a:rPr sz="1400" b="0" i="0">
                <a:solidFill>
                  <a:srgbClr val="122738"/>
                </a:solidFill>
                <a:latin typeface="Segoe UI"/>
              </a:rPr>
              <a:t>DORA ne remplace pas l'exigence de capital, il en révèle l'angle mort : la dynamique propre des défaillances technologiques</a:t>
            </a:r>
          </a:p>
        </p:txBody>
      </p:sp>
      <p:sp>
        <p:nvSpPr>
          <p:cNvPr id="12" name="TextBox 11"/>
          <p:cNvSpPr txBox="1"/>
          <p:nvPr/>
        </p:nvSpPr>
        <p:spPr>
          <a:xfrm>
            <a:off x="749808" y="3179571"/>
            <a:ext cx="5071719" cy="310896"/>
          </a:xfrm>
          <a:prstGeom prst="rect">
            <a:avLst/>
          </a:prstGeom>
          <a:noFill/>
        </p:spPr>
        <p:txBody>
          <a:bodyPr wrap="square" lIns="0" rIns="0" tIns="0" bIns="0">
            <a:spAutoFit/>
          </a:bodyPr>
          <a:lstStyle/>
          <a:p>
            <a:pPr algn="l">
              <a:spcBef>
                <a:spcPts val="0"/>
              </a:spcBef>
            </a:pPr>
            <a:r>
              <a:rPr sz="1500" b="1" i="0">
                <a:solidFill>
                  <a:srgbClr val="B10031"/>
                </a:solidFill>
                <a:latin typeface="Segoe UI"/>
              </a:rPr>
              <a:t>② </a:t>
            </a:r>
            <a:r>
              <a:rPr sz="1500" b="1" i="0">
                <a:solidFill>
                  <a:srgbClr val="223E55"/>
                </a:solidFill>
                <a:latin typeface="Segoe UI"/>
              </a:rPr>
              <a:t>L'espace laissé libre par Solvabilité II</a:t>
            </a:r>
          </a:p>
        </p:txBody>
      </p:sp>
      <p:sp>
        <p:nvSpPr>
          <p:cNvPr id="13" name="TextBox 12"/>
          <p:cNvSpPr txBox="1"/>
          <p:nvPr/>
        </p:nvSpPr>
        <p:spPr>
          <a:xfrm>
            <a:off x="749808" y="3508755"/>
            <a:ext cx="5071719" cy="2142237"/>
          </a:xfrm>
          <a:prstGeom prst="rect">
            <a:avLst/>
          </a:prstGeom>
          <a:noFill/>
        </p:spPr>
        <p:txBody>
          <a:bodyPr wrap="square" lIns="0" rIns="0" tIns="0" bIns="0">
            <a:spAutoFit/>
          </a:bodyPr>
          <a:lstStyle/>
          <a:p>
            <a:pPr algn="l" marL="219456" indent="-219456">
              <a:spcBef>
                <a:spcPts val="0"/>
              </a:spcBef>
            </a:pPr>
            <a:r>
              <a:rPr sz="1400" b="0" i="0">
                <a:solidFill>
                  <a:srgbClr val="595959"/>
                </a:solidFill>
                <a:latin typeface="Segoe UI"/>
              </a:rPr>
              <a:t>•   </a:t>
            </a:r>
            <a:r>
              <a:rPr sz="1400" b="0" i="0">
                <a:solidFill>
                  <a:srgbClr val="122738"/>
                </a:solidFill>
                <a:latin typeface="Segoe UI"/>
              </a:rPr>
              <a:t>Dans la Formule Standard, la charge opérationnelle est forfaitaire : elle n'exprime rien de l'état de conformité de l'entité</a:t>
            </a:r>
          </a:p>
          <a:p>
            <a:pPr algn="l" marL="219456" indent="-219456">
              <a:spcBef>
                <a:spcPts val="800"/>
              </a:spcBef>
            </a:pPr>
            <a:r>
              <a:rPr sz="1400" b="0" i="0">
                <a:solidFill>
                  <a:srgbClr val="595959"/>
                </a:solidFill>
                <a:latin typeface="Segoe UI"/>
              </a:rPr>
              <a:t>•   </a:t>
            </a:r>
            <a:r>
              <a:rPr sz="1400" b="0" i="0">
                <a:solidFill>
                  <a:srgbClr val="122738"/>
                </a:solidFill>
                <a:latin typeface="Segoe UI"/>
              </a:rPr>
              <a:t>Un score qualitatif de conformité ne dit rien du capital qu'une direction des risques doit immobiliser</a:t>
            </a:r>
          </a:p>
          <a:p>
            <a:pPr algn="l" marL="219456" indent="-219456">
              <a:spcBef>
                <a:spcPts val="800"/>
              </a:spcBef>
            </a:pPr>
            <a:r>
              <a:rPr sz="1400" b="0" i="0">
                <a:solidFill>
                  <a:srgbClr val="595959"/>
                </a:solidFill>
                <a:latin typeface="Segoe UI"/>
              </a:rPr>
              <a:t>•   </a:t>
            </a:r>
            <a:r>
              <a:rPr sz="1400" b="0" i="0">
                <a:solidFill>
                  <a:srgbClr val="122738"/>
                </a:solidFill>
                <a:latin typeface="Segoe UI"/>
              </a:rPr>
              <a:t>Le secteur conserve en revanche le choix méthodologique, et c'est cet espace que le mémoire occupe</a:t>
            </a:r>
          </a:p>
        </p:txBody>
      </p:sp>
      <p:sp>
        <p:nvSpPr>
          <p:cNvPr id="14" name="TextBox 13"/>
          <p:cNvSpPr txBox="1"/>
          <p:nvPr/>
        </p:nvSpPr>
        <p:spPr>
          <a:xfrm>
            <a:off x="6351879" y="1389888"/>
            <a:ext cx="5090007" cy="310896"/>
          </a:xfrm>
          <a:prstGeom prst="rect">
            <a:avLst/>
          </a:prstGeom>
          <a:noFill/>
        </p:spPr>
        <p:txBody>
          <a:bodyPr wrap="square" lIns="0" rIns="0" tIns="0" bIns="0">
            <a:spAutoFit/>
          </a:bodyPr>
          <a:lstStyle/>
          <a:p>
            <a:pPr algn="l">
              <a:spcBef>
                <a:spcPts val="0"/>
              </a:spcBef>
            </a:pPr>
            <a:r>
              <a:rPr sz="1500" b="1" i="0">
                <a:solidFill>
                  <a:srgbClr val="B10031"/>
                </a:solidFill>
                <a:latin typeface="Segoe UI"/>
              </a:rPr>
              <a:t>③ </a:t>
            </a:r>
            <a:r>
              <a:rPr sz="1500" b="1" i="0">
                <a:solidFill>
                  <a:srgbClr val="223E55"/>
                </a:solidFill>
                <a:latin typeface="Segoe UI"/>
              </a:rPr>
              <a:t>Le maillon manquant, étape par étape</a:t>
            </a:r>
          </a:p>
        </p:txBody>
      </p:sp>
      <p:sp>
        <p:nvSpPr>
          <p:cNvPr id="15" name="Rectangle 14"/>
          <p:cNvSpPr/>
          <p:nvPr/>
        </p:nvSpPr>
        <p:spPr>
          <a:xfrm>
            <a:off x="6351879" y="1719072"/>
            <a:ext cx="1572768" cy="347472"/>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pPr>
            <a:r>
              <a:rPr sz="1200" b="1" i="0">
                <a:solidFill>
                  <a:srgbClr val="FFFFFF"/>
                </a:solidFill>
                <a:latin typeface="Segoe UI"/>
              </a:rPr>
              <a:t>Non-conformité</a:t>
            </a:r>
          </a:p>
        </p:txBody>
      </p:sp>
      <p:sp>
        <p:nvSpPr>
          <p:cNvPr id="16" name="TextBox 15"/>
          <p:cNvSpPr txBox="1"/>
          <p:nvPr/>
        </p:nvSpPr>
        <p:spPr>
          <a:xfrm>
            <a:off x="8070951" y="1801368"/>
            <a:ext cx="3370935" cy="274320"/>
          </a:xfrm>
          <a:prstGeom prst="rect">
            <a:avLst/>
          </a:prstGeom>
          <a:noFill/>
        </p:spPr>
        <p:txBody>
          <a:bodyPr wrap="square" lIns="0" rIns="0" tIns="0" bIns="0">
            <a:spAutoFit/>
          </a:bodyPr>
          <a:lstStyle/>
          <a:p>
            <a:pPr algn="l">
              <a:spcBef>
                <a:spcPts val="0"/>
              </a:spcBef>
            </a:pPr>
            <a:r>
              <a:rPr sz="1300" b="0" i="0">
                <a:solidFill>
                  <a:srgbClr val="595959"/>
                </a:solidFill>
                <a:latin typeface="Segoe UI"/>
              </a:rPr>
              <a:t>à un ou plusieurs des cinq piliers</a:t>
            </a:r>
          </a:p>
        </p:txBody>
      </p:sp>
      <p:sp>
        <p:nvSpPr>
          <p:cNvPr id="17" name="Rectangle 16"/>
          <p:cNvSpPr/>
          <p:nvPr/>
        </p:nvSpPr>
        <p:spPr>
          <a:xfrm>
            <a:off x="6351879" y="2139696"/>
            <a:ext cx="1572768" cy="347472"/>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pPr>
            <a:r>
              <a:rPr sz="1200" b="1" i="0">
                <a:solidFill>
                  <a:srgbClr val="FFFFFF"/>
                </a:solidFill>
                <a:latin typeface="Segoe UI"/>
              </a:rPr>
              <a:t>Incident TIC</a:t>
            </a:r>
          </a:p>
        </p:txBody>
      </p:sp>
      <p:sp>
        <p:nvSpPr>
          <p:cNvPr id="18" name="TextBox 17"/>
          <p:cNvSpPr txBox="1"/>
          <p:nvPr/>
        </p:nvSpPr>
        <p:spPr>
          <a:xfrm>
            <a:off x="8070951" y="2221992"/>
            <a:ext cx="3370935" cy="274320"/>
          </a:xfrm>
          <a:prstGeom prst="rect">
            <a:avLst/>
          </a:prstGeom>
          <a:noFill/>
        </p:spPr>
        <p:txBody>
          <a:bodyPr wrap="square" lIns="0" rIns="0" tIns="0" bIns="0">
            <a:spAutoFit/>
          </a:bodyPr>
          <a:lstStyle/>
          <a:p>
            <a:pPr algn="l">
              <a:spcBef>
                <a:spcPts val="0"/>
              </a:spcBef>
            </a:pPr>
            <a:r>
              <a:rPr sz="1300" b="0" i="0">
                <a:solidFill>
                  <a:srgbClr val="595959"/>
                </a:solidFill>
                <a:latin typeface="Segoe UI"/>
              </a:rPr>
              <a:t>défaillance, puis propagation</a:t>
            </a:r>
          </a:p>
        </p:txBody>
      </p:sp>
      <p:sp>
        <p:nvSpPr>
          <p:cNvPr id="19" name="Rectangle 18"/>
          <p:cNvSpPr/>
          <p:nvPr/>
        </p:nvSpPr>
        <p:spPr>
          <a:xfrm>
            <a:off x="6351879" y="2560320"/>
            <a:ext cx="1572768" cy="347472"/>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pPr>
            <a:r>
              <a:rPr sz="1200" b="1" i="0">
                <a:solidFill>
                  <a:srgbClr val="FFFFFF"/>
                </a:solidFill>
                <a:latin typeface="Segoe UI"/>
              </a:rPr>
              <a:t>Perte</a:t>
            </a:r>
          </a:p>
        </p:txBody>
      </p:sp>
      <p:sp>
        <p:nvSpPr>
          <p:cNvPr id="20" name="TextBox 19"/>
          <p:cNvSpPr txBox="1"/>
          <p:nvPr/>
        </p:nvSpPr>
        <p:spPr>
          <a:xfrm>
            <a:off x="8070951" y="2642616"/>
            <a:ext cx="3370935" cy="274320"/>
          </a:xfrm>
          <a:prstGeom prst="rect">
            <a:avLst/>
          </a:prstGeom>
          <a:noFill/>
        </p:spPr>
        <p:txBody>
          <a:bodyPr wrap="square" lIns="0" rIns="0" tIns="0" bIns="0">
            <a:spAutoFit/>
          </a:bodyPr>
          <a:lstStyle/>
          <a:p>
            <a:pPr algn="l">
              <a:spcBef>
                <a:spcPts val="0"/>
              </a:spcBef>
            </a:pPr>
            <a:r>
              <a:rPr sz="1300" b="0" i="0">
                <a:solidFill>
                  <a:srgbClr val="595959"/>
                </a:solidFill>
                <a:latin typeface="Segoe UI"/>
              </a:rPr>
              <a:t>opérationnelle et cyber</a:t>
            </a:r>
          </a:p>
        </p:txBody>
      </p:sp>
      <p:sp>
        <p:nvSpPr>
          <p:cNvPr id="21" name="Rectangle 20"/>
          <p:cNvSpPr/>
          <p:nvPr/>
        </p:nvSpPr>
        <p:spPr>
          <a:xfrm>
            <a:off x="6351879" y="2980944"/>
            <a:ext cx="1572768" cy="347472"/>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pPr>
            <a:r>
              <a:rPr sz="1200" b="1" i="0">
                <a:solidFill>
                  <a:srgbClr val="FFFFFF"/>
                </a:solidFill>
                <a:latin typeface="Segoe UI"/>
              </a:rPr>
              <a:t>Capital</a:t>
            </a:r>
          </a:p>
        </p:txBody>
      </p:sp>
      <p:sp>
        <p:nvSpPr>
          <p:cNvPr id="22" name="TextBox 21"/>
          <p:cNvSpPr txBox="1"/>
          <p:nvPr/>
        </p:nvSpPr>
        <p:spPr>
          <a:xfrm>
            <a:off x="8070951" y="3063240"/>
            <a:ext cx="3370935" cy="274320"/>
          </a:xfrm>
          <a:prstGeom prst="rect">
            <a:avLst/>
          </a:prstGeom>
          <a:noFill/>
        </p:spPr>
        <p:txBody>
          <a:bodyPr wrap="square" lIns="0" rIns="0" tIns="0" bIns="0">
            <a:spAutoFit/>
          </a:bodyPr>
          <a:lstStyle/>
          <a:p>
            <a:pPr algn="l">
              <a:spcBef>
                <a:spcPts val="0"/>
              </a:spcBef>
            </a:pPr>
            <a:r>
              <a:rPr sz="1300" b="0" i="0">
                <a:solidFill>
                  <a:srgbClr val="595959"/>
                </a:solidFill>
                <a:latin typeface="Segoe UI"/>
              </a:rPr>
              <a:t>exigence de couverture</a:t>
            </a:r>
          </a:p>
        </p:txBody>
      </p:sp>
      <p:sp>
        <p:nvSpPr>
          <p:cNvPr id="23" name="Rectangle 22"/>
          <p:cNvSpPr/>
          <p:nvPr/>
        </p:nvSpPr>
        <p:spPr>
          <a:xfrm>
            <a:off x="6351879" y="3401568"/>
            <a:ext cx="1572768" cy="347472"/>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pPr>
            <a:r>
              <a:rPr sz="1200" b="1" i="0">
                <a:solidFill>
                  <a:srgbClr val="FFFFFF"/>
                </a:solidFill>
                <a:latin typeface="Segoe UI"/>
              </a:rPr>
              <a:t>Décision</a:t>
            </a:r>
          </a:p>
        </p:txBody>
      </p:sp>
      <p:sp>
        <p:nvSpPr>
          <p:cNvPr id="24" name="TextBox 23"/>
          <p:cNvSpPr txBox="1"/>
          <p:nvPr/>
        </p:nvSpPr>
        <p:spPr>
          <a:xfrm>
            <a:off x="8070951" y="3483864"/>
            <a:ext cx="3370935" cy="274320"/>
          </a:xfrm>
          <a:prstGeom prst="rect">
            <a:avLst/>
          </a:prstGeom>
          <a:noFill/>
        </p:spPr>
        <p:txBody>
          <a:bodyPr wrap="square" lIns="0" rIns="0" tIns="0" bIns="0">
            <a:spAutoFit/>
          </a:bodyPr>
          <a:lstStyle/>
          <a:p>
            <a:pPr algn="l">
              <a:spcBef>
                <a:spcPts val="0"/>
              </a:spcBef>
            </a:pPr>
            <a:r>
              <a:rPr sz="1300" b="0" i="0">
                <a:solidFill>
                  <a:srgbClr val="595959"/>
                </a:solidFill>
                <a:latin typeface="Segoe UI"/>
              </a:rPr>
              <a:t>remédier, détenir ou transférer</a:t>
            </a:r>
          </a:p>
        </p:txBody>
      </p:sp>
      <p:sp>
        <p:nvSpPr>
          <p:cNvPr id="25" name="Down Arrow 24"/>
          <p:cNvSpPr/>
          <p:nvPr/>
        </p:nvSpPr>
        <p:spPr>
          <a:xfrm>
            <a:off x="7010247" y="3822192"/>
            <a:ext cx="256032" cy="237744"/>
          </a:xfrm>
          <a:prstGeom prst="downArrow">
            <a:avLst/>
          </a:prstGeom>
          <a:solidFill>
            <a:srgbClr val="435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51879" y="4169664"/>
            <a:ext cx="5090007" cy="420624"/>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pPr>
            <a:r>
              <a:rPr sz="1400" b="1" i="0">
                <a:solidFill>
                  <a:srgbClr val="FFFFFF"/>
                </a:solidFill>
                <a:latin typeface="Segoe UI"/>
              </a:rPr>
              <a:t>Besoin de capital ORSA au titre de DORA</a:t>
            </a:r>
          </a:p>
        </p:txBody>
      </p:sp>
      <p:sp>
        <p:nvSpPr>
          <p:cNvPr id="27" name="TextBox 26"/>
          <p:cNvSpPr txBox="1"/>
          <p:nvPr/>
        </p:nvSpPr>
        <p:spPr>
          <a:xfrm>
            <a:off x="6351879" y="4754880"/>
            <a:ext cx="5090007" cy="896112"/>
          </a:xfrm>
          <a:prstGeom prst="rect">
            <a:avLst/>
          </a:prstGeom>
          <a:noFill/>
        </p:spPr>
        <p:txBody>
          <a:bodyPr wrap="square" lIns="0" rIns="0" tIns="0" bIns="0">
            <a:spAutoFit/>
          </a:bodyPr>
          <a:lstStyle/>
          <a:p>
            <a:pPr algn="l">
              <a:spcBef>
                <a:spcPts val="0"/>
              </a:spcBef>
            </a:pPr>
            <a:r>
              <a:rPr sz="1300" b="0" i="0">
                <a:solidFill>
                  <a:srgbClr val="595959"/>
                </a:solidFill>
                <a:latin typeface="Segoe UI"/>
              </a:rPr>
              <a:t>La Formule Standard donne le même chiffre à une entité exemplaire et à une entité défaillante : c'est la définition d'un angle mort.</a:t>
            </a:r>
          </a:p>
        </p:txBody>
      </p:sp>
      <p:sp>
        <p:nvSpPr>
          <p:cNvPr id="28" name="Rectangle 27"/>
          <p:cNvSpPr/>
          <p:nvPr/>
        </p:nvSpPr>
        <p:spPr>
          <a:xfrm>
            <a:off x="566928" y="5788152"/>
            <a:ext cx="11057839"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788152"/>
            <a:ext cx="76200" cy="54864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907024"/>
            <a:ext cx="10783519" cy="402336"/>
          </a:xfrm>
          <a:prstGeom prst="rect">
            <a:avLst/>
          </a:prstGeom>
          <a:noFill/>
        </p:spPr>
        <p:txBody>
          <a:bodyPr wrap="square" lIns="0" rIns="0" tIns="0" bIns="0">
            <a:spAutoFit/>
          </a:bodyPr>
          <a:lstStyle/>
          <a:p>
            <a:pPr algn="l">
              <a:spcBef>
                <a:spcPts val="0"/>
              </a:spcBef>
            </a:pPr>
            <a:r>
              <a:rPr sz="1400" b="1" i="0">
                <a:solidFill>
                  <a:srgbClr val="B10031"/>
                </a:solidFill>
                <a:latin typeface="Segoe UI"/>
              </a:rPr>
              <a:t>Message clé   </a:t>
            </a:r>
            <a:r>
              <a:rPr sz="1400" b="0" i="0">
                <a:solidFill>
                  <a:srgbClr val="595959"/>
                </a:solidFill>
                <a:latin typeface="Segoe UI"/>
              </a:rPr>
              <a:t>une exigence de maîtrise sans traduction prudentielle, et c'est le vide que ce travail comble.</a:t>
            </a:r>
          </a:p>
        </p:txBody>
      </p:sp>
      <p:sp>
        <p:nvSpPr>
          <p:cNvPr id="31" name="TextBox 30"/>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chapitres 1 et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4</a:t>
            </a:r>
          </a:p>
        </p:txBody>
      </p:sp>
      <p:sp>
        <p:nvSpPr>
          <p:cNvPr id="7" name="TextBox 6"/>
          <p:cNvSpPr txBox="1"/>
          <p:nvPr/>
        </p:nvSpPr>
        <p:spPr>
          <a:xfrm>
            <a:off x="749808" y="292608"/>
            <a:ext cx="8954719" cy="530352"/>
          </a:xfrm>
          <a:prstGeom prst="rect">
            <a:avLst/>
          </a:prstGeom>
          <a:noFill/>
        </p:spPr>
        <p:txBody>
          <a:bodyPr wrap="square" lIns="0" rIns="0" tIns="0" bIns="0">
            <a:spAutoFit/>
          </a:bodyPr>
          <a:lstStyle/>
          <a:p>
            <a:pPr algn="l">
              <a:spcBef>
                <a:spcPts val="0"/>
              </a:spcBef>
            </a:pPr>
            <a:r>
              <a:rPr sz="2600" b="1" i="0">
                <a:solidFill>
                  <a:srgbClr val="223E55"/>
                </a:solidFill>
                <a:latin typeface="Georgia"/>
              </a:rPr>
              <a:t>Une question en deux temps, et trois apports</a:t>
            </a:r>
          </a:p>
        </p:txBody>
      </p:sp>
      <p:sp>
        <p:nvSpPr>
          <p:cNvPr id="8" name="TextBox 7"/>
          <p:cNvSpPr txBox="1"/>
          <p:nvPr/>
        </p:nvSpPr>
        <p:spPr>
          <a:xfrm>
            <a:off x="749808" y="804672"/>
            <a:ext cx="8954719" cy="384048"/>
          </a:xfrm>
          <a:prstGeom prst="rect">
            <a:avLst/>
          </a:prstGeom>
          <a:noFill/>
        </p:spPr>
        <p:txBody>
          <a:bodyPr wrap="square" lIns="0" rIns="0" tIns="0" bIns="0">
            <a:spAutoFit/>
          </a:bodyPr>
          <a:lstStyle/>
          <a:p>
            <a:pPr algn="l">
              <a:spcBef>
                <a:spcPts val="0"/>
              </a:spcBef>
            </a:pPr>
            <a:r>
              <a:rPr sz="1800" b="1" i="0">
                <a:solidFill>
                  <a:srgbClr val="B10031"/>
                </a:solidFill>
                <a:latin typeface="Georgia"/>
              </a:rPr>
              <a:t>Ce qui se chiffre, et ce qui peut être affirmé</a:t>
            </a:r>
          </a:p>
        </p:txBody>
      </p:sp>
      <p:sp>
        <p:nvSpPr>
          <p:cNvPr id="9" name="Rectangle 8"/>
          <p:cNvSpPr/>
          <p:nvPr/>
        </p:nvSpPr>
        <p:spPr>
          <a:xfrm>
            <a:off x="749808" y="1389888"/>
            <a:ext cx="10692079" cy="6583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spcBef>
                <a:spcPts val="0"/>
              </a:spcBef>
            </a:pPr>
            <a:r>
              <a:rPr sz="1900" b="1" i="0">
                <a:solidFill>
                  <a:srgbClr val="223E55"/>
                </a:solidFill>
                <a:latin typeface="Georgia"/>
              </a:rPr>
              <a:t>Combien coûte en capital de ne pas se conformer à DORA, et jusqu'où ce chiffre peut-il être affirmé ?</a:t>
            </a:r>
          </a:p>
        </p:txBody>
      </p:sp>
      <p:sp>
        <p:nvSpPr>
          <p:cNvPr id="10" name="Rectangle 9"/>
          <p:cNvSpPr/>
          <p:nvPr/>
        </p:nvSpPr>
        <p:spPr>
          <a:xfrm>
            <a:off x="749808" y="1389888"/>
            <a:ext cx="76200" cy="658368"/>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9808" y="2560320"/>
            <a:ext cx="3381146" cy="310896"/>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spcBef>
                <a:spcPts val="0"/>
              </a:spcBef>
            </a:pPr>
            <a:r>
              <a:rPr sz="1400" b="1" i="0">
                <a:solidFill>
                  <a:srgbClr val="FFFFFF"/>
                </a:solidFill>
                <a:latin typeface="Segoe UI"/>
              </a:rPr>
              <a:t>Méthodologique</a:t>
            </a:r>
          </a:p>
        </p:txBody>
      </p:sp>
      <p:sp>
        <p:nvSpPr>
          <p:cNvPr id="12" name="Rectangle 11"/>
          <p:cNvSpPr/>
          <p:nvPr/>
        </p:nvSpPr>
        <p:spPr>
          <a:xfrm>
            <a:off x="749808" y="2871216"/>
            <a:ext cx="3381146" cy="1563623"/>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a:lstStyle/>
          <a:p>
            <a:pPr algn="ctr">
              <a:spcBef>
                <a:spcPts val="0"/>
              </a:spcBef>
            </a:pPr>
            <a:r>
              <a:rPr sz="1300" b="0" i="0">
                <a:solidFill>
                  <a:srgbClr val="122738"/>
                </a:solidFill>
                <a:latin typeface="Segoe UI"/>
              </a:rPr>
              <a:t>Une cascade dirigée entre domaines</a:t>
            </a:r>
          </a:p>
          <a:p>
            <a:pPr algn="ctr">
              <a:spcBef>
                <a:spcPts val="500"/>
              </a:spcBef>
            </a:pPr>
            <a:r>
              <a:rPr sz="1300" b="0" i="0">
                <a:solidFill>
                  <a:srgbClr val="122738"/>
                </a:solidFill>
                <a:latin typeface="Segoe UI"/>
              </a:rPr>
              <a:t>de contrôle, trois propriétés</a:t>
            </a:r>
          </a:p>
          <a:p>
            <a:pPr algn="ctr">
              <a:spcBef>
                <a:spcPts val="500"/>
              </a:spcBef>
            </a:pPr>
            <a:r>
              <a:rPr sz="1300" b="0" i="0">
                <a:solidFill>
                  <a:srgbClr val="122738"/>
                </a:solidFill>
                <a:latin typeface="Segoe UI"/>
              </a:rPr>
              <a:t>démontrées</a:t>
            </a:r>
          </a:p>
        </p:txBody>
      </p:sp>
      <p:sp>
        <p:nvSpPr>
          <p:cNvPr id="13" name="Rectangle 12"/>
          <p:cNvSpPr/>
          <p:nvPr/>
        </p:nvSpPr>
        <p:spPr>
          <a:xfrm>
            <a:off x="4405274" y="2560320"/>
            <a:ext cx="3381146" cy="310896"/>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spcBef>
                <a:spcPts val="0"/>
              </a:spcBef>
            </a:pPr>
            <a:r>
              <a:rPr sz="1400" b="1" i="0">
                <a:solidFill>
                  <a:srgbClr val="FFFFFF"/>
                </a:solidFill>
                <a:latin typeface="Segoe UI"/>
              </a:rPr>
              <a:t>Empirique</a:t>
            </a:r>
          </a:p>
        </p:txBody>
      </p:sp>
      <p:sp>
        <p:nvSpPr>
          <p:cNvPr id="14" name="Rectangle 13"/>
          <p:cNvSpPr/>
          <p:nvPr/>
        </p:nvSpPr>
        <p:spPr>
          <a:xfrm>
            <a:off x="4405274" y="2871216"/>
            <a:ext cx="3381146" cy="1563623"/>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a:lstStyle/>
          <a:p>
            <a:pPr algn="ctr">
              <a:spcBef>
                <a:spcPts val="0"/>
              </a:spcBef>
            </a:pPr>
            <a:r>
              <a:rPr sz="1300" b="0" i="0">
                <a:solidFill>
                  <a:srgbClr val="122738"/>
                </a:solidFill>
                <a:latin typeface="Segoe UI"/>
              </a:rPr>
              <a:t>Une frontière d'identifiabilité :</a:t>
            </a:r>
          </a:p>
          <a:p>
            <a:pPr algn="ctr">
              <a:spcBef>
                <a:spcPts val="500"/>
              </a:spcBef>
            </a:pPr>
            <a:r>
              <a:rPr sz="1300" b="0" i="0">
                <a:solidFill>
                  <a:srgbClr val="122738"/>
                </a:solidFill>
                <a:latin typeface="Segoe UI"/>
              </a:rPr>
              <a:t>ce que la donnée ne dit pas,</a:t>
            </a:r>
          </a:p>
          <a:p>
            <a:pPr algn="ctr">
              <a:spcBef>
                <a:spcPts val="500"/>
              </a:spcBef>
            </a:pPr>
            <a:r>
              <a:rPr sz="1300" b="0" i="0">
                <a:solidFill>
                  <a:srgbClr val="122738"/>
                </a:solidFill>
                <a:latin typeface="Segoe UI"/>
              </a:rPr>
              <a:t>et ce qu'elle ne dira jamais</a:t>
            </a:r>
          </a:p>
        </p:txBody>
      </p:sp>
      <p:sp>
        <p:nvSpPr>
          <p:cNvPr id="15" name="Rectangle 14"/>
          <p:cNvSpPr/>
          <p:nvPr/>
        </p:nvSpPr>
        <p:spPr>
          <a:xfrm>
            <a:off x="8060740" y="2560320"/>
            <a:ext cx="3381146" cy="310896"/>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spcBef>
                <a:spcPts val="0"/>
              </a:spcBef>
            </a:pPr>
            <a:r>
              <a:rPr sz="1400" b="1" i="0">
                <a:solidFill>
                  <a:srgbClr val="FFFFFF"/>
                </a:solidFill>
                <a:latin typeface="Segoe UI"/>
              </a:rPr>
              <a:t>Opérationnelle</a:t>
            </a:r>
          </a:p>
        </p:txBody>
      </p:sp>
      <p:sp>
        <p:nvSpPr>
          <p:cNvPr id="16" name="Rectangle 15"/>
          <p:cNvSpPr/>
          <p:nvPr/>
        </p:nvSpPr>
        <p:spPr>
          <a:xfrm>
            <a:off x="8060740" y="2871216"/>
            <a:ext cx="3381146" cy="1563623"/>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a:lstStyle/>
          <a:p>
            <a:pPr algn="ctr">
              <a:spcBef>
                <a:spcPts val="0"/>
              </a:spcBef>
            </a:pPr>
            <a:r>
              <a:rPr sz="1300" b="0" i="0">
                <a:solidFill>
                  <a:srgbClr val="122738"/>
                </a:solidFill>
                <a:latin typeface="Segoe UI"/>
              </a:rPr>
              <a:t>La donnée manquante devient</a:t>
            </a:r>
          </a:p>
          <a:p>
            <a:pPr algn="ctr">
              <a:spcBef>
                <a:spcPts val="500"/>
              </a:spcBef>
            </a:pPr>
            <a:r>
              <a:rPr sz="1300" b="0" i="0">
                <a:solidFill>
                  <a:srgbClr val="122738"/>
                </a:solidFill>
                <a:latin typeface="Segoe UI"/>
              </a:rPr>
              <a:t>une exigence de reporting,</a:t>
            </a:r>
          </a:p>
          <a:p>
            <a:pPr algn="ctr">
              <a:spcBef>
                <a:spcPts val="500"/>
              </a:spcBef>
            </a:pPr>
            <a:r>
              <a:rPr sz="1300" b="0" i="0">
                <a:solidFill>
                  <a:srgbClr val="122738"/>
                </a:solidFill>
                <a:latin typeface="Segoe UI"/>
              </a:rPr>
              <a:t>hiérarchisée par son apport</a:t>
            </a:r>
          </a:p>
        </p:txBody>
      </p:sp>
      <p:sp>
        <p:nvSpPr>
          <p:cNvPr id="17" name="TextBox 16"/>
          <p:cNvSpPr txBox="1"/>
          <p:nvPr/>
        </p:nvSpPr>
        <p:spPr>
          <a:xfrm>
            <a:off x="749808" y="4892040"/>
            <a:ext cx="10692079" cy="758952"/>
          </a:xfrm>
          <a:prstGeom prst="rect">
            <a:avLst/>
          </a:prstGeom>
          <a:noFill/>
        </p:spPr>
        <p:txBody>
          <a:bodyPr wrap="square" lIns="0" rIns="0" tIns="0" bIns="0">
            <a:spAutoFit/>
          </a:bodyPr>
          <a:lstStyle/>
          <a:p>
            <a:pPr algn="l">
              <a:spcBef>
                <a:spcPts val="0"/>
              </a:spcBef>
            </a:pPr>
            <a:r>
              <a:rPr sz="1600" b="1" i="0">
                <a:solidFill>
                  <a:srgbClr val="223E55"/>
                </a:solidFill>
                <a:latin typeface="Segoe UI"/>
              </a:rPr>
              <a:t>La seconde moitié de la question fait le travail : elle interdit de publier une précision que la donnée ne porte pas.</a:t>
            </a:r>
          </a:p>
        </p:txBody>
      </p:sp>
      <p:sp>
        <p:nvSpPr>
          <p:cNvPr id="18" name="Rectangle 17"/>
          <p:cNvSpPr/>
          <p:nvPr/>
        </p:nvSpPr>
        <p:spPr>
          <a:xfrm>
            <a:off x="566928" y="5788152"/>
            <a:ext cx="11057839"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5788152"/>
            <a:ext cx="76200" cy="54864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907024"/>
            <a:ext cx="10783519" cy="402336"/>
          </a:xfrm>
          <a:prstGeom prst="rect">
            <a:avLst/>
          </a:prstGeom>
          <a:noFill/>
        </p:spPr>
        <p:txBody>
          <a:bodyPr wrap="square" lIns="0" rIns="0" tIns="0" bIns="0">
            <a:spAutoFit/>
          </a:bodyPr>
          <a:lstStyle/>
          <a:p>
            <a:pPr algn="l">
              <a:spcBef>
                <a:spcPts val="0"/>
              </a:spcBef>
            </a:pPr>
            <a:r>
              <a:rPr sz="1400" b="1" i="0">
                <a:solidFill>
                  <a:srgbClr val="B10031"/>
                </a:solidFill>
                <a:latin typeface="Segoe UI"/>
              </a:rPr>
              <a:t>Message clé   </a:t>
            </a:r>
            <a:r>
              <a:rPr sz="1400" b="0" i="0">
                <a:solidFill>
                  <a:srgbClr val="595959"/>
                </a:solidFill>
                <a:latin typeface="Segoe UI"/>
              </a:rPr>
              <a:t>répondre à la première moitié sans la seconde produirait un chiffre indéfendable.</a:t>
            </a:r>
          </a:p>
        </p:txBody>
      </p:sp>
      <p:sp>
        <p:nvSpPr>
          <p:cNvPr id="21" name="TextBox 20"/>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1, section contribution et plan.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5</a:t>
            </a:r>
          </a:p>
        </p:txBody>
      </p:sp>
      <p:sp>
        <p:nvSpPr>
          <p:cNvPr id="7" name="TextBox 6"/>
          <p:cNvSpPr txBox="1"/>
          <p:nvPr/>
        </p:nvSpPr>
        <p:spPr>
          <a:xfrm>
            <a:off x="749808" y="292608"/>
            <a:ext cx="8954719" cy="530352"/>
          </a:xfrm>
          <a:prstGeom prst="rect">
            <a:avLst/>
          </a:prstGeom>
          <a:noFill/>
        </p:spPr>
        <p:txBody>
          <a:bodyPr wrap="square" lIns="0" rIns="0" tIns="0" bIns="0">
            <a:spAutoFit/>
          </a:bodyPr>
          <a:lstStyle/>
          <a:p>
            <a:pPr algn="l">
              <a:spcBef>
                <a:spcPts val="0"/>
              </a:spcBef>
            </a:pPr>
            <a:r>
              <a:rPr sz="2600" b="1" i="0">
                <a:solidFill>
                  <a:srgbClr val="223E55"/>
                </a:solidFill>
                <a:latin typeface="Georgia"/>
              </a:rPr>
              <a:t>Cinq domaines de contrôle, pas cinq cases à cocher</a:t>
            </a:r>
          </a:p>
        </p:txBody>
      </p:sp>
      <p:sp>
        <p:nvSpPr>
          <p:cNvPr id="8" name="TextBox 7"/>
          <p:cNvSpPr txBox="1"/>
          <p:nvPr/>
        </p:nvSpPr>
        <p:spPr>
          <a:xfrm>
            <a:off x="749808" y="804672"/>
            <a:ext cx="8954719" cy="384048"/>
          </a:xfrm>
          <a:prstGeom prst="rect">
            <a:avLst/>
          </a:prstGeom>
          <a:noFill/>
        </p:spPr>
        <p:txBody>
          <a:bodyPr wrap="square" lIns="0" rIns="0" tIns="0" bIns="0">
            <a:spAutoFit/>
          </a:bodyPr>
          <a:lstStyle/>
          <a:p>
            <a:pPr algn="l">
              <a:spcBef>
                <a:spcPts val="0"/>
              </a:spcBef>
            </a:pPr>
            <a:r>
              <a:rPr sz="1800" b="1" i="0">
                <a:solidFill>
                  <a:srgbClr val="B10031"/>
                </a:solidFill>
                <a:latin typeface="Georgia"/>
              </a:rPr>
              <a:t>Et la défaillance de l'un dégrade la tenue des autres</a:t>
            </a:r>
          </a:p>
        </p:txBody>
      </p:sp>
      <p:sp>
        <p:nvSpPr>
          <p:cNvPr id="9" name="Rectangle 8"/>
          <p:cNvSpPr/>
          <p:nvPr/>
        </p:nvSpPr>
        <p:spPr>
          <a:xfrm>
            <a:off x="749808" y="1709928"/>
            <a:ext cx="1992111" cy="310896"/>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spcBef>
                <a:spcPts val="0"/>
              </a:spcBef>
            </a:pPr>
            <a:r>
              <a:rPr sz="1500" b="1" i="0">
                <a:solidFill>
                  <a:srgbClr val="FFFFFF"/>
                </a:solidFill>
                <a:latin typeface="Segoe UI"/>
              </a:rPr>
              <a:t>P1</a:t>
            </a:r>
          </a:p>
        </p:txBody>
      </p:sp>
      <p:sp>
        <p:nvSpPr>
          <p:cNvPr id="10" name="Rectangle 9"/>
          <p:cNvSpPr/>
          <p:nvPr/>
        </p:nvSpPr>
        <p:spPr>
          <a:xfrm>
            <a:off x="749808" y="2020824"/>
            <a:ext cx="1992111" cy="1563623"/>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a:lstStyle/>
          <a:p>
            <a:pPr algn="ctr">
              <a:spcBef>
                <a:spcPts val="0"/>
              </a:spcBef>
            </a:pPr>
            <a:r>
              <a:rPr sz="1400" b="0" i="0">
                <a:solidFill>
                  <a:srgbClr val="122738"/>
                </a:solidFill>
                <a:latin typeface="Segoe UI"/>
              </a:rPr>
              <a:t>Gouvernance</a:t>
            </a:r>
          </a:p>
          <a:p>
            <a:pPr algn="ctr">
              <a:spcBef>
                <a:spcPts val="500"/>
              </a:spcBef>
            </a:pPr>
            <a:r>
              <a:rPr sz="1400" b="0" i="0">
                <a:solidFill>
                  <a:srgbClr val="122738"/>
                </a:solidFill>
                <a:latin typeface="Segoe UI"/>
              </a:rPr>
              <a:t>du risque TIC</a:t>
            </a:r>
          </a:p>
        </p:txBody>
      </p:sp>
      <p:sp>
        <p:nvSpPr>
          <p:cNvPr id="11" name="Rectangle 10"/>
          <p:cNvSpPr/>
          <p:nvPr/>
        </p:nvSpPr>
        <p:spPr>
          <a:xfrm>
            <a:off x="2924799" y="1709928"/>
            <a:ext cx="1992111" cy="310896"/>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spcBef>
                <a:spcPts val="0"/>
              </a:spcBef>
            </a:pPr>
            <a:r>
              <a:rPr sz="1500" b="1" i="0">
                <a:solidFill>
                  <a:srgbClr val="FFFFFF"/>
                </a:solidFill>
                <a:latin typeface="Segoe UI"/>
              </a:rPr>
              <a:t>P2</a:t>
            </a:r>
          </a:p>
        </p:txBody>
      </p:sp>
      <p:sp>
        <p:nvSpPr>
          <p:cNvPr id="12" name="Rectangle 11"/>
          <p:cNvSpPr/>
          <p:nvPr/>
        </p:nvSpPr>
        <p:spPr>
          <a:xfrm>
            <a:off x="2924799" y="2020824"/>
            <a:ext cx="1992111" cy="1563623"/>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a:lstStyle/>
          <a:p>
            <a:pPr algn="ctr">
              <a:spcBef>
                <a:spcPts val="0"/>
              </a:spcBef>
            </a:pPr>
            <a:r>
              <a:rPr sz="1400" b="0" i="0">
                <a:solidFill>
                  <a:srgbClr val="122738"/>
                </a:solidFill>
                <a:latin typeface="Segoe UI"/>
              </a:rPr>
              <a:t>Incidents</a:t>
            </a:r>
          </a:p>
          <a:p>
            <a:pPr algn="ctr">
              <a:spcBef>
                <a:spcPts val="500"/>
              </a:spcBef>
            </a:pPr>
            <a:r>
              <a:rPr sz="1400" b="0" i="0">
                <a:solidFill>
                  <a:srgbClr val="122738"/>
                </a:solidFill>
                <a:latin typeface="Segoe UI"/>
              </a:rPr>
              <a:t>gestion, notification</a:t>
            </a:r>
          </a:p>
        </p:txBody>
      </p:sp>
      <p:sp>
        <p:nvSpPr>
          <p:cNvPr id="13" name="Rectangle 12"/>
          <p:cNvSpPr/>
          <p:nvPr/>
        </p:nvSpPr>
        <p:spPr>
          <a:xfrm>
            <a:off x="5099791" y="1709928"/>
            <a:ext cx="1992111" cy="310896"/>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spcBef>
                <a:spcPts val="0"/>
              </a:spcBef>
            </a:pPr>
            <a:r>
              <a:rPr sz="1500" b="1" i="0">
                <a:solidFill>
                  <a:srgbClr val="FFFFFF"/>
                </a:solidFill>
                <a:latin typeface="Segoe UI"/>
              </a:rPr>
              <a:t>P3</a:t>
            </a:r>
          </a:p>
        </p:txBody>
      </p:sp>
      <p:sp>
        <p:nvSpPr>
          <p:cNvPr id="14" name="Rectangle 13"/>
          <p:cNvSpPr/>
          <p:nvPr/>
        </p:nvSpPr>
        <p:spPr>
          <a:xfrm>
            <a:off x="5099791" y="2020824"/>
            <a:ext cx="1992111" cy="1563623"/>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a:lstStyle/>
          <a:p>
            <a:pPr algn="ctr">
              <a:spcBef>
                <a:spcPts val="0"/>
              </a:spcBef>
            </a:pPr>
            <a:r>
              <a:rPr sz="1400" b="0" i="0">
                <a:solidFill>
                  <a:srgbClr val="122738"/>
                </a:solidFill>
                <a:latin typeface="Segoe UI"/>
              </a:rPr>
              <a:t>Tests</a:t>
            </a:r>
          </a:p>
          <a:p>
            <a:pPr algn="ctr">
              <a:spcBef>
                <a:spcPts val="500"/>
              </a:spcBef>
            </a:pPr>
            <a:r>
              <a:rPr sz="1400" b="0" i="0">
                <a:solidFill>
                  <a:srgbClr val="122738"/>
                </a:solidFill>
                <a:latin typeface="Segoe UI"/>
              </a:rPr>
              <a:t>de résilience</a:t>
            </a:r>
          </a:p>
        </p:txBody>
      </p:sp>
      <p:sp>
        <p:nvSpPr>
          <p:cNvPr id="15" name="Rectangle 14"/>
          <p:cNvSpPr/>
          <p:nvPr/>
        </p:nvSpPr>
        <p:spPr>
          <a:xfrm>
            <a:off x="7274783" y="1709928"/>
            <a:ext cx="1992111" cy="310896"/>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spcBef>
                <a:spcPts val="0"/>
              </a:spcBef>
            </a:pPr>
            <a:r>
              <a:rPr sz="1500" b="1" i="0">
                <a:solidFill>
                  <a:srgbClr val="FFFFFF"/>
                </a:solidFill>
                <a:latin typeface="Segoe UI"/>
              </a:rPr>
              <a:t>P4</a:t>
            </a:r>
          </a:p>
        </p:txBody>
      </p:sp>
      <p:sp>
        <p:nvSpPr>
          <p:cNvPr id="16" name="Rectangle 15"/>
          <p:cNvSpPr/>
          <p:nvPr/>
        </p:nvSpPr>
        <p:spPr>
          <a:xfrm>
            <a:off x="7274783" y="2020824"/>
            <a:ext cx="1992111" cy="1563623"/>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a:lstStyle/>
          <a:p>
            <a:pPr algn="ctr">
              <a:spcBef>
                <a:spcPts val="0"/>
              </a:spcBef>
            </a:pPr>
            <a:r>
              <a:rPr sz="1400" b="0" i="0">
                <a:solidFill>
                  <a:srgbClr val="122738"/>
                </a:solidFill>
                <a:latin typeface="Segoe UI"/>
              </a:rPr>
              <a:t>Tiers</a:t>
            </a:r>
          </a:p>
          <a:p>
            <a:pPr algn="ctr">
              <a:spcBef>
                <a:spcPts val="500"/>
              </a:spcBef>
            </a:pPr>
            <a:r>
              <a:rPr sz="1400" b="0" i="0">
                <a:solidFill>
                  <a:srgbClr val="122738"/>
                </a:solidFill>
                <a:latin typeface="Segoe UI"/>
              </a:rPr>
              <a:t>prestataires TIC</a:t>
            </a:r>
          </a:p>
        </p:txBody>
      </p:sp>
      <p:sp>
        <p:nvSpPr>
          <p:cNvPr id="17" name="Rectangle 16"/>
          <p:cNvSpPr/>
          <p:nvPr/>
        </p:nvSpPr>
        <p:spPr>
          <a:xfrm>
            <a:off x="9449775" y="1709928"/>
            <a:ext cx="1992111" cy="310896"/>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spcBef>
                <a:spcPts val="0"/>
              </a:spcBef>
            </a:pPr>
            <a:r>
              <a:rPr sz="1500" b="1" i="0">
                <a:solidFill>
                  <a:srgbClr val="FFFFFF"/>
                </a:solidFill>
                <a:latin typeface="Segoe UI"/>
              </a:rPr>
              <a:t>P5</a:t>
            </a:r>
          </a:p>
        </p:txBody>
      </p:sp>
      <p:sp>
        <p:nvSpPr>
          <p:cNvPr id="18" name="Rectangle 17"/>
          <p:cNvSpPr/>
          <p:nvPr/>
        </p:nvSpPr>
        <p:spPr>
          <a:xfrm>
            <a:off x="9449775" y="2020824"/>
            <a:ext cx="1992111" cy="1563623"/>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a:lstStyle/>
          <a:p>
            <a:pPr algn="ctr">
              <a:spcBef>
                <a:spcPts val="0"/>
              </a:spcBef>
            </a:pPr>
            <a:r>
              <a:rPr sz="1400" b="0" i="0">
                <a:solidFill>
                  <a:srgbClr val="122738"/>
                </a:solidFill>
                <a:latin typeface="Segoe UI"/>
              </a:rPr>
              <a:t>Partage</a:t>
            </a:r>
          </a:p>
          <a:p>
            <a:pPr algn="ctr">
              <a:spcBef>
                <a:spcPts val="500"/>
              </a:spcBef>
            </a:pPr>
            <a:r>
              <a:rPr sz="1400" b="0" i="0">
                <a:solidFill>
                  <a:srgbClr val="122738"/>
                </a:solidFill>
                <a:latin typeface="Segoe UI"/>
              </a:rPr>
              <a:t>sur les cybermenaces</a:t>
            </a:r>
          </a:p>
        </p:txBody>
      </p:sp>
      <p:sp>
        <p:nvSpPr>
          <p:cNvPr id="19" name="TextBox 18"/>
          <p:cNvSpPr txBox="1"/>
          <p:nvPr/>
        </p:nvSpPr>
        <p:spPr>
          <a:xfrm>
            <a:off x="749808" y="4160520"/>
            <a:ext cx="10692079" cy="1490472"/>
          </a:xfrm>
          <a:prstGeom prst="rect">
            <a:avLst/>
          </a:prstGeom>
          <a:noFill/>
        </p:spPr>
        <p:txBody>
          <a:bodyPr wrap="square" lIns="0" rIns="0" tIns="0" bIns="0">
            <a:spAutoFit/>
          </a:bodyPr>
          <a:lstStyle/>
          <a:p>
            <a:pPr algn="l">
              <a:spcBef>
                <a:spcPts val="0"/>
              </a:spcBef>
            </a:pPr>
            <a:r>
              <a:rPr sz="1600" b="0" i="0">
                <a:solidFill>
                  <a:srgbClr val="122738"/>
                </a:solidFill>
                <a:latin typeface="Segoe UI"/>
              </a:rPr>
              <a:t>Une gouvernance défaillante retarde la détection des incidents ; une dépendance non maîtrisée ouvre une porte que les tests n'ont pas explorée ; un partage d'information absent prive des trois autres.</a:t>
            </a:r>
          </a:p>
          <a:p>
            <a:pPr algn="l">
              <a:spcBef>
                <a:spcPts val="1400"/>
              </a:spcBef>
            </a:pPr>
            <a:r>
              <a:rPr sz="1600" b="1" i="0">
                <a:solidFill>
                  <a:srgbClr val="B10031"/>
                </a:solidFill>
                <a:latin typeface="Segoe UI"/>
              </a:rPr>
              <a:t>En rouge, les deux piliers qui émettent le plus dans la matrice calibrée.</a:t>
            </a:r>
          </a:p>
        </p:txBody>
      </p:sp>
      <p:sp>
        <p:nvSpPr>
          <p:cNvPr id="20" name="Rectangle 19"/>
          <p:cNvSpPr/>
          <p:nvPr/>
        </p:nvSpPr>
        <p:spPr>
          <a:xfrm>
            <a:off x="566928" y="5788152"/>
            <a:ext cx="11057839"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788152"/>
            <a:ext cx="76200" cy="54864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907024"/>
            <a:ext cx="10783519" cy="402336"/>
          </a:xfrm>
          <a:prstGeom prst="rect">
            <a:avLst/>
          </a:prstGeom>
          <a:noFill/>
        </p:spPr>
        <p:txBody>
          <a:bodyPr wrap="square" lIns="0" rIns="0" tIns="0" bIns="0">
            <a:spAutoFit/>
          </a:bodyPr>
          <a:lstStyle/>
          <a:p>
            <a:pPr algn="l">
              <a:spcBef>
                <a:spcPts val="0"/>
              </a:spcBef>
            </a:pPr>
            <a:r>
              <a:rPr sz="1400" b="1" i="0">
                <a:solidFill>
                  <a:srgbClr val="B10031"/>
                </a:solidFill>
                <a:latin typeface="Segoe UI"/>
              </a:rPr>
              <a:t>Message clé   </a:t>
            </a:r>
            <a:r>
              <a:rPr sz="1400" b="0" i="0">
                <a:solidFill>
                  <a:srgbClr val="595959"/>
                </a:solidFill>
                <a:latin typeface="Segoe UI"/>
              </a:rPr>
              <a:t>la non-conformité ne reste pas dans son pilier, elle se propage, et c'est ce que le modèle doit porter.</a:t>
            </a:r>
          </a:p>
        </p:txBody>
      </p:sp>
      <p:sp>
        <p:nvSpPr>
          <p:cNvPr id="23" name="TextBox 22"/>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chapitres 1 et 2 ; matrice de propagation, chapitre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6</a:t>
            </a:r>
          </a:p>
        </p:txBody>
      </p:sp>
      <p:sp>
        <p:nvSpPr>
          <p:cNvPr id="7" name="TextBox 6"/>
          <p:cNvSpPr txBox="1"/>
          <p:nvPr/>
        </p:nvSpPr>
        <p:spPr>
          <a:xfrm>
            <a:off x="749808" y="292608"/>
            <a:ext cx="8954719" cy="530352"/>
          </a:xfrm>
          <a:prstGeom prst="rect">
            <a:avLst/>
          </a:prstGeom>
          <a:noFill/>
        </p:spPr>
        <p:txBody>
          <a:bodyPr wrap="square" lIns="0" rIns="0" tIns="0" bIns="0">
            <a:spAutoFit/>
          </a:bodyPr>
          <a:lstStyle/>
          <a:p>
            <a:pPr algn="l">
              <a:spcBef>
                <a:spcPts val="0"/>
              </a:spcBef>
            </a:pPr>
            <a:r>
              <a:rPr sz="2400" b="1" i="0">
                <a:solidFill>
                  <a:srgbClr val="223E55"/>
                </a:solidFill>
                <a:latin typeface="Georgia"/>
              </a:rPr>
              <a:t>La donnée montre la co-occurrence, jamais la direction</a:t>
            </a:r>
          </a:p>
        </p:txBody>
      </p:sp>
      <p:sp>
        <p:nvSpPr>
          <p:cNvPr id="8" name="TextBox 7"/>
          <p:cNvSpPr txBox="1"/>
          <p:nvPr/>
        </p:nvSpPr>
        <p:spPr>
          <a:xfrm>
            <a:off x="749808" y="804672"/>
            <a:ext cx="8954719" cy="384048"/>
          </a:xfrm>
          <a:prstGeom prst="rect">
            <a:avLst/>
          </a:prstGeom>
          <a:noFill/>
        </p:spPr>
        <p:txBody>
          <a:bodyPr wrap="square" lIns="0" rIns="0" tIns="0" bIns="0">
            <a:spAutoFit/>
          </a:bodyPr>
          <a:lstStyle/>
          <a:p>
            <a:pPr algn="l">
              <a:spcBef>
                <a:spcPts val="0"/>
              </a:spcBef>
            </a:pPr>
            <a:r>
              <a:rPr sz="1800" b="1" i="0">
                <a:solidFill>
                  <a:srgbClr val="B10031"/>
                </a:solidFill>
                <a:latin typeface="Georgia"/>
              </a:rPr>
              <a:t>Sept sources, et chacune avec son statut de preuve déclaré</a:t>
            </a:r>
          </a:p>
        </p:txBody>
      </p:sp>
      <p:cxnSp>
        <p:nvCxnSpPr>
          <p:cNvPr id="9" name="Connector 8"/>
          <p:cNvCxnSpPr/>
          <p:nvPr/>
        </p:nvCxnSpPr>
        <p:spPr>
          <a:xfrm>
            <a:off x="6095847" y="1335024"/>
            <a:ext cx="0" cy="4288536"/>
          </a:xfrm>
          <a:prstGeom prst="line">
            <a:avLst/>
          </a:prstGeom>
          <a:ln w="15875">
            <a:solidFill>
              <a:srgbClr val="9DC3C8"/>
            </a:solidFill>
            <a:prstDash val="dash"/>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749808" y="1389888"/>
            <a:ext cx="5071719" cy="310896"/>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spcBef>
                <a:spcPts val="0"/>
              </a:spcBef>
            </a:pPr>
            <a:r>
              <a:rPr sz="1500" b="1" i="0">
                <a:solidFill>
                  <a:srgbClr val="FFFFFF"/>
                </a:solidFill>
                <a:latin typeface="Segoe UI"/>
              </a:rPr>
              <a:t>Observable</a:t>
            </a:r>
          </a:p>
        </p:txBody>
      </p:sp>
      <p:sp>
        <p:nvSpPr>
          <p:cNvPr id="11" name="TextBox 10"/>
          <p:cNvSpPr txBox="1"/>
          <p:nvPr/>
        </p:nvSpPr>
        <p:spPr>
          <a:xfrm>
            <a:off x="749808" y="1865376"/>
            <a:ext cx="5071719" cy="1920240"/>
          </a:xfrm>
          <a:prstGeom prst="rect">
            <a:avLst/>
          </a:prstGeom>
          <a:noFill/>
        </p:spPr>
        <p:txBody>
          <a:bodyPr wrap="square" lIns="0" rIns="0" tIns="0" bIns="0">
            <a:spAutoFit/>
          </a:bodyPr>
          <a:lstStyle/>
          <a:p>
            <a:pPr algn="l" marL="219456" indent="-219456">
              <a:spcBef>
                <a:spcPts val="0"/>
              </a:spcBef>
            </a:pPr>
            <a:r>
              <a:rPr sz="1500" b="0" i="0">
                <a:solidFill>
                  <a:srgbClr val="595959"/>
                </a:solidFill>
                <a:latin typeface="Segoe UI"/>
              </a:rPr>
              <a:t>•   </a:t>
            </a:r>
            <a:r>
              <a:rPr sz="1500" b="0" i="0">
                <a:solidFill>
                  <a:srgbClr val="122738"/>
                </a:solidFill>
                <a:latin typeface="Segoe UI"/>
              </a:rPr>
              <a:t>Fréquence des incidents, par année et par entité</a:t>
            </a:r>
          </a:p>
          <a:p>
            <a:pPr algn="l" marL="219456" indent="-219456">
              <a:spcBef>
                <a:spcPts val="1300"/>
              </a:spcBef>
            </a:pPr>
            <a:r>
              <a:rPr sz="1500" b="0" i="0">
                <a:solidFill>
                  <a:srgbClr val="595959"/>
                </a:solidFill>
                <a:latin typeface="Segoe UI"/>
              </a:rPr>
              <a:t>•   </a:t>
            </a:r>
            <a:r>
              <a:rPr sz="1500" b="0" i="0">
                <a:solidFill>
                  <a:srgbClr val="122738"/>
                </a:solidFill>
                <a:latin typeface="Segoe UI"/>
              </a:rPr>
              <a:t>Sévérité des pertes, en euros, au-delà d'un seuil</a:t>
            </a:r>
          </a:p>
          <a:p>
            <a:pPr algn="l" marL="219456" indent="-219456">
              <a:spcBef>
                <a:spcPts val="1300"/>
              </a:spcBef>
            </a:pPr>
            <a:r>
              <a:rPr sz="1500" b="0" i="0">
                <a:solidFill>
                  <a:srgbClr val="595959"/>
                </a:solidFill>
                <a:latin typeface="Segoe UI"/>
              </a:rPr>
              <a:t>•   </a:t>
            </a:r>
            <a:r>
              <a:rPr sz="1500" b="0" i="0">
                <a:solidFill>
                  <a:srgbClr val="122738"/>
                </a:solidFill>
                <a:latin typeface="Segoe UI"/>
              </a:rPr>
              <a:t>Co-occurrence entre piliers dans un même sinistre</a:t>
            </a:r>
          </a:p>
          <a:p>
            <a:pPr algn="l" marL="219456" indent="-219456">
              <a:spcBef>
                <a:spcPts val="1300"/>
              </a:spcBef>
            </a:pPr>
            <a:r>
              <a:rPr sz="1500" b="0" i="0">
                <a:solidFill>
                  <a:srgbClr val="595959"/>
                </a:solidFill>
                <a:latin typeface="Segoe UI"/>
              </a:rPr>
              <a:t>•   </a:t>
            </a:r>
            <a:r>
              <a:rPr sz="1500" b="0" i="0">
                <a:solidFill>
                  <a:srgbClr val="122738"/>
                </a:solidFill>
                <a:latin typeface="Segoe UI"/>
              </a:rPr>
              <a:t>Structure du risque par vecteur d'attaque</a:t>
            </a:r>
          </a:p>
        </p:txBody>
      </p:sp>
      <p:sp>
        <p:nvSpPr>
          <p:cNvPr id="12" name="Rectangle 11"/>
          <p:cNvSpPr/>
          <p:nvPr/>
        </p:nvSpPr>
        <p:spPr>
          <a:xfrm>
            <a:off x="6351879" y="1389888"/>
            <a:ext cx="5090007" cy="310896"/>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spcBef>
                <a:spcPts val="0"/>
              </a:spcBef>
            </a:pPr>
            <a:r>
              <a:rPr sz="1500" b="1" i="0">
                <a:solidFill>
                  <a:srgbClr val="FFFFFF"/>
                </a:solidFill>
                <a:latin typeface="Segoe UI"/>
              </a:rPr>
              <a:t>Non identifiable</a:t>
            </a:r>
          </a:p>
        </p:txBody>
      </p:sp>
      <p:sp>
        <p:nvSpPr>
          <p:cNvPr id="13" name="TextBox 12"/>
          <p:cNvSpPr txBox="1"/>
          <p:nvPr/>
        </p:nvSpPr>
        <p:spPr>
          <a:xfrm>
            <a:off x="6351879" y="1865376"/>
            <a:ext cx="5090007" cy="1920240"/>
          </a:xfrm>
          <a:prstGeom prst="rect">
            <a:avLst/>
          </a:prstGeom>
          <a:noFill/>
        </p:spPr>
        <p:txBody>
          <a:bodyPr wrap="square" lIns="0" rIns="0" tIns="0" bIns="0">
            <a:spAutoFit/>
          </a:bodyPr>
          <a:lstStyle/>
          <a:p>
            <a:pPr algn="l" marL="219456" indent="-219456">
              <a:spcBef>
                <a:spcPts val="0"/>
              </a:spcBef>
            </a:pPr>
            <a:r>
              <a:rPr sz="1500" b="0" i="0">
                <a:solidFill>
                  <a:srgbClr val="595959"/>
                </a:solidFill>
                <a:latin typeface="Segoe UI"/>
              </a:rPr>
              <a:t>•   </a:t>
            </a:r>
            <a:r>
              <a:rPr sz="1500" b="0" i="0">
                <a:solidFill>
                  <a:srgbClr val="122738"/>
                </a:solidFill>
                <a:latin typeface="Segoe UI"/>
              </a:rPr>
              <a:t>La DIRECTION de la contagion</a:t>
            </a:r>
          </a:p>
          <a:p>
            <a:pPr algn="l" marL="219456" indent="-219456">
              <a:spcBef>
                <a:spcPts val="1300"/>
              </a:spcBef>
            </a:pPr>
            <a:r>
              <a:rPr sz="1500" b="0" i="0">
                <a:solidFill>
                  <a:srgbClr val="595959"/>
                </a:solidFill>
                <a:latin typeface="Segoe UI"/>
              </a:rPr>
              <a:t>•   </a:t>
            </a:r>
            <a:r>
              <a:rPr sz="1500" b="0" i="0">
                <a:solidFill>
                  <a:srgbClr val="122738"/>
                </a:solidFill>
                <a:latin typeface="Segoe UI"/>
              </a:rPr>
              <a:t>Quel pilier entraîne l'autre</a:t>
            </a:r>
          </a:p>
          <a:p>
            <a:pPr algn="l" marL="219456" indent="-219456">
              <a:spcBef>
                <a:spcPts val="1300"/>
              </a:spcBef>
            </a:pPr>
            <a:r>
              <a:rPr sz="1500" b="0" i="0">
                <a:solidFill>
                  <a:srgbClr val="595959"/>
                </a:solidFill>
                <a:latin typeface="Segoe UI"/>
              </a:rPr>
              <a:t>•   </a:t>
            </a:r>
            <a:r>
              <a:rPr sz="1500" b="0" i="0">
                <a:solidFill>
                  <a:srgbClr val="122738"/>
                </a:solidFill>
                <a:latin typeface="Segoe UI"/>
              </a:rPr>
              <a:t>Une matrice et sa transposée sont indistinguables</a:t>
            </a:r>
          </a:p>
          <a:p>
            <a:pPr algn="l" marL="219456" indent="-219456">
              <a:spcBef>
                <a:spcPts val="1300"/>
              </a:spcBef>
            </a:pPr>
            <a:r>
              <a:rPr sz="1500" b="0" i="0">
                <a:solidFill>
                  <a:srgbClr val="595959"/>
                </a:solidFill>
                <a:latin typeface="Segoe UI"/>
              </a:rPr>
              <a:t>•   </a:t>
            </a:r>
            <a:r>
              <a:rPr sz="1500" b="0" i="0">
                <a:solidFill>
                  <a:srgbClr val="122738"/>
                </a:solidFill>
                <a:latin typeface="Segoe UI"/>
              </a:rPr>
              <a:t>Et elles donnent pourtant un capital différent</a:t>
            </a:r>
          </a:p>
        </p:txBody>
      </p:sp>
      <p:sp>
        <p:nvSpPr>
          <p:cNvPr id="14" name="TextBox 13"/>
          <p:cNvSpPr txBox="1"/>
          <p:nvPr/>
        </p:nvSpPr>
        <p:spPr>
          <a:xfrm>
            <a:off x="749808" y="4023360"/>
            <a:ext cx="10692079" cy="1627632"/>
          </a:xfrm>
          <a:prstGeom prst="rect">
            <a:avLst/>
          </a:prstGeom>
          <a:noFill/>
        </p:spPr>
        <p:txBody>
          <a:bodyPr wrap="square" lIns="0" rIns="0" tIns="0" bIns="0">
            <a:spAutoFit/>
          </a:bodyPr>
          <a:lstStyle/>
          <a:p>
            <a:pPr algn="l">
              <a:spcBef>
                <a:spcPts val="0"/>
              </a:spcBef>
            </a:pPr>
            <a:r>
              <a:rPr sz="1500" b="0" i="0">
                <a:solidFill>
                  <a:srgbClr val="122738"/>
                </a:solidFill>
                <a:latin typeface="Segoe UI"/>
              </a:rPr>
              <a:t>Deux statuts de preuve sont distingués dans tout le document : la donnée versionnée et rejouable, et la citation externe non recalculable.</a:t>
            </a:r>
          </a:p>
          <a:p>
            <a:pPr algn="l">
              <a:spcBef>
                <a:spcPts val="1300"/>
              </a:spcBef>
            </a:pPr>
            <a:r>
              <a:rPr sz="1500" b="1" i="0">
                <a:solidFill>
                  <a:srgbClr val="B10031"/>
                </a:solidFill>
                <a:latin typeface="Segoe UI"/>
              </a:rPr>
              <a:t>Cette limite n'est pas un manque de données à combler par plus de données du même type : elle est structurelle, et elle commande la suite.</a:t>
            </a:r>
          </a:p>
        </p:txBody>
      </p:sp>
      <p:sp>
        <p:nvSpPr>
          <p:cNvPr id="15" name="Rectangle 14"/>
          <p:cNvSpPr/>
          <p:nvPr/>
        </p:nvSpPr>
        <p:spPr>
          <a:xfrm>
            <a:off x="566928" y="5788152"/>
            <a:ext cx="11057839"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5788152"/>
            <a:ext cx="76200" cy="54864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907024"/>
            <a:ext cx="10783519" cy="402336"/>
          </a:xfrm>
          <a:prstGeom prst="rect">
            <a:avLst/>
          </a:prstGeom>
          <a:noFill/>
        </p:spPr>
        <p:txBody>
          <a:bodyPr wrap="square" lIns="0" rIns="0" tIns="0" bIns="0">
            <a:spAutoFit/>
          </a:bodyPr>
          <a:lstStyle/>
          <a:p>
            <a:pPr algn="l">
              <a:spcBef>
                <a:spcPts val="0"/>
              </a:spcBef>
            </a:pPr>
            <a:r>
              <a:rPr sz="1400" b="1" i="0">
                <a:solidFill>
                  <a:srgbClr val="B10031"/>
                </a:solidFill>
                <a:latin typeface="Segoe UI"/>
              </a:rPr>
              <a:t>Message clé   </a:t>
            </a:r>
            <a:r>
              <a:rPr sz="1400" b="0" i="0">
                <a:solidFill>
                  <a:srgbClr val="595959"/>
                </a:solidFill>
                <a:latin typeface="Segoe UI"/>
              </a:rPr>
              <a:t>la frontière est dans la nature de l'observable, pas dans la taille de l'échantillon.</a:t>
            </a:r>
          </a:p>
        </p:txBody>
      </p:sp>
      <p:sp>
        <p:nvSpPr>
          <p:cNvPr id="18" name="TextBox 17"/>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4 (sources et statuts de preuve) et chapitre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7</a:t>
            </a:r>
          </a:p>
        </p:txBody>
      </p:sp>
      <p:sp>
        <p:nvSpPr>
          <p:cNvPr id="7" name="TextBox 6"/>
          <p:cNvSpPr txBox="1"/>
          <p:nvPr/>
        </p:nvSpPr>
        <p:spPr>
          <a:xfrm>
            <a:off x="749808" y="292608"/>
            <a:ext cx="8954719" cy="530352"/>
          </a:xfrm>
          <a:prstGeom prst="rect">
            <a:avLst/>
          </a:prstGeom>
          <a:noFill/>
        </p:spPr>
        <p:txBody>
          <a:bodyPr wrap="square" lIns="0" rIns="0" tIns="0" bIns="0">
            <a:spAutoFit/>
          </a:bodyPr>
          <a:lstStyle/>
          <a:p>
            <a:pPr algn="l">
              <a:spcBef>
                <a:spcPts val="0"/>
              </a:spcBef>
            </a:pPr>
            <a:r>
              <a:rPr sz="2400" b="1" i="0">
                <a:solidFill>
                  <a:srgbClr val="223E55"/>
                </a:solidFill>
                <a:latin typeface="Georgia"/>
              </a:rPr>
              <a:t>D'un état de conformité à une décision, en quatre étages</a:t>
            </a:r>
          </a:p>
        </p:txBody>
      </p:sp>
      <p:sp>
        <p:nvSpPr>
          <p:cNvPr id="8" name="TextBox 7"/>
          <p:cNvSpPr txBox="1"/>
          <p:nvPr/>
        </p:nvSpPr>
        <p:spPr>
          <a:xfrm>
            <a:off x="749808" y="804672"/>
            <a:ext cx="8954719" cy="384048"/>
          </a:xfrm>
          <a:prstGeom prst="rect">
            <a:avLst/>
          </a:prstGeom>
          <a:noFill/>
        </p:spPr>
        <p:txBody>
          <a:bodyPr wrap="square" lIns="0" rIns="0" tIns="0" bIns="0">
            <a:spAutoFit/>
          </a:bodyPr>
          <a:lstStyle/>
          <a:p>
            <a:pPr algn="l">
              <a:spcBef>
                <a:spcPts val="0"/>
              </a:spcBef>
            </a:pPr>
            <a:r>
              <a:rPr sz="1800" b="1" i="0">
                <a:solidFill>
                  <a:srgbClr val="B10031"/>
                </a:solidFill>
                <a:latin typeface="Georgia"/>
              </a:rPr>
              <a:t>Deux canaux calibrables, deux canaux bornés</a:t>
            </a:r>
          </a:p>
        </p:txBody>
      </p:sp>
      <p:sp>
        <p:nvSpPr>
          <p:cNvPr id="9" name="Pentagon 8"/>
          <p:cNvSpPr/>
          <p:nvPr/>
        </p:nvSpPr>
        <p:spPr>
          <a:xfrm>
            <a:off x="749808" y="1591056"/>
            <a:ext cx="2508427" cy="457200"/>
          </a:xfrm>
          <a:prstGeom prst="homePlate">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Bef>
                <a:spcPts val="0"/>
              </a:spcBef>
            </a:pPr>
            <a:r>
              <a:rPr sz="1300" b="1" i="0">
                <a:solidFill>
                  <a:srgbClr val="FFFFFF"/>
                </a:solidFill>
                <a:latin typeface="Segoe UI"/>
              </a:rPr>
              <a:t>État de conformité</a:t>
            </a:r>
          </a:p>
        </p:txBody>
      </p:sp>
      <p:sp>
        <p:nvSpPr>
          <p:cNvPr id="10" name="TextBox 9"/>
          <p:cNvSpPr txBox="1"/>
          <p:nvPr/>
        </p:nvSpPr>
        <p:spPr>
          <a:xfrm>
            <a:off x="749808" y="2157984"/>
            <a:ext cx="2508427" cy="640080"/>
          </a:xfrm>
          <a:prstGeom prst="rect">
            <a:avLst/>
          </a:prstGeom>
          <a:noFill/>
        </p:spPr>
        <p:txBody>
          <a:bodyPr wrap="square" lIns="0" rIns="0" tIns="0" bIns="0">
            <a:spAutoFit/>
          </a:bodyPr>
          <a:lstStyle/>
          <a:p>
            <a:pPr algn="l">
              <a:spcBef>
                <a:spcPts val="0"/>
              </a:spcBef>
            </a:pPr>
            <a:r>
              <a:rPr sz="1100" b="0" i="0">
                <a:solidFill>
                  <a:srgbClr val="595959"/>
                </a:solidFill>
                <a:latin typeface="Segoe UI"/>
              </a:rPr>
              <a:t>par pilier,</a:t>
            </a:r>
          </a:p>
          <a:p>
            <a:pPr algn="l">
              <a:spcBef>
                <a:spcPts val="300"/>
              </a:spcBef>
            </a:pPr>
            <a:r>
              <a:rPr sz="1100" b="0" i="0">
                <a:solidFill>
                  <a:srgbClr val="595959"/>
                </a:solidFill>
                <a:latin typeface="Segoe UI"/>
              </a:rPr>
              <a:t>chaîne de Markov</a:t>
            </a:r>
          </a:p>
        </p:txBody>
      </p:sp>
      <p:sp>
        <p:nvSpPr>
          <p:cNvPr id="11" name="Pentagon 10"/>
          <p:cNvSpPr/>
          <p:nvPr/>
        </p:nvSpPr>
        <p:spPr>
          <a:xfrm>
            <a:off x="3477691" y="1591056"/>
            <a:ext cx="2508427" cy="457200"/>
          </a:xfrm>
          <a:prstGeom prst="homePlate">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Bef>
                <a:spcPts val="0"/>
              </a:spcBef>
            </a:pPr>
            <a:r>
              <a:rPr sz="1300" b="1" i="0">
                <a:solidFill>
                  <a:srgbClr val="FFFFFF"/>
                </a:solidFill>
                <a:latin typeface="Segoe UI"/>
              </a:rPr>
              <a:t>Quatre canaux</a:t>
            </a:r>
          </a:p>
        </p:txBody>
      </p:sp>
      <p:sp>
        <p:nvSpPr>
          <p:cNvPr id="12" name="TextBox 11"/>
          <p:cNvSpPr txBox="1"/>
          <p:nvPr/>
        </p:nvSpPr>
        <p:spPr>
          <a:xfrm>
            <a:off x="3477691" y="2157984"/>
            <a:ext cx="2508427" cy="640080"/>
          </a:xfrm>
          <a:prstGeom prst="rect">
            <a:avLst/>
          </a:prstGeom>
          <a:noFill/>
        </p:spPr>
        <p:txBody>
          <a:bodyPr wrap="square" lIns="0" rIns="0" tIns="0" bIns="0">
            <a:spAutoFit/>
          </a:bodyPr>
          <a:lstStyle/>
          <a:p>
            <a:pPr algn="l">
              <a:spcBef>
                <a:spcPts val="0"/>
              </a:spcBef>
            </a:pPr>
            <a:r>
              <a:rPr sz="1100" b="0" i="0">
                <a:solidFill>
                  <a:srgbClr val="595959"/>
                </a:solidFill>
                <a:latin typeface="Segoe UI"/>
              </a:rPr>
              <a:t>fréquence, détection,</a:t>
            </a:r>
          </a:p>
          <a:p>
            <a:pPr algn="l">
              <a:spcBef>
                <a:spcPts val="300"/>
              </a:spcBef>
            </a:pPr>
            <a:r>
              <a:rPr sz="1100" b="0" i="0">
                <a:solidFill>
                  <a:srgbClr val="595959"/>
                </a:solidFill>
                <a:latin typeface="Segoe UI"/>
              </a:rPr>
              <a:t>propagation, accumulation</a:t>
            </a:r>
          </a:p>
        </p:txBody>
      </p:sp>
      <p:sp>
        <p:nvSpPr>
          <p:cNvPr id="13" name="Pentagon 12"/>
          <p:cNvSpPr/>
          <p:nvPr/>
        </p:nvSpPr>
        <p:spPr>
          <a:xfrm>
            <a:off x="6205575" y="1591056"/>
            <a:ext cx="2508427" cy="457200"/>
          </a:xfrm>
          <a:prstGeom prst="homePlate">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Bef>
                <a:spcPts val="0"/>
              </a:spcBef>
            </a:pPr>
            <a:r>
              <a:rPr sz="1300" b="1" i="0">
                <a:solidFill>
                  <a:srgbClr val="FFFFFF"/>
                </a:solidFill>
                <a:latin typeface="Segoe UI"/>
              </a:rPr>
              <a:t>Perte annuelle</a:t>
            </a:r>
          </a:p>
        </p:txBody>
      </p:sp>
      <p:sp>
        <p:nvSpPr>
          <p:cNvPr id="14" name="TextBox 13"/>
          <p:cNvSpPr txBox="1"/>
          <p:nvPr/>
        </p:nvSpPr>
        <p:spPr>
          <a:xfrm>
            <a:off x="6205575" y="2157984"/>
            <a:ext cx="2508427" cy="640080"/>
          </a:xfrm>
          <a:prstGeom prst="rect">
            <a:avLst/>
          </a:prstGeom>
          <a:noFill/>
        </p:spPr>
        <p:txBody>
          <a:bodyPr wrap="square" lIns="0" rIns="0" tIns="0" bIns="0">
            <a:spAutoFit/>
          </a:bodyPr>
          <a:lstStyle/>
          <a:p>
            <a:pPr algn="l">
              <a:spcBef>
                <a:spcPts val="0"/>
              </a:spcBef>
            </a:pPr>
            <a:r>
              <a:rPr sz="1100" b="0" i="0">
                <a:solidFill>
                  <a:srgbClr val="595959"/>
                </a:solidFill>
                <a:latin typeface="Segoe UI"/>
              </a:rPr>
              <a:t>fréquence et sévérité,</a:t>
            </a:r>
          </a:p>
          <a:p>
            <a:pPr algn="l">
              <a:spcBef>
                <a:spcPts val="300"/>
              </a:spcBef>
            </a:pPr>
            <a:r>
              <a:rPr sz="1100" b="0" i="0">
                <a:solidFill>
                  <a:srgbClr val="595959"/>
                </a:solidFill>
                <a:latin typeface="Segoe UI"/>
              </a:rPr>
              <a:t>cascade entre piliers</a:t>
            </a:r>
          </a:p>
        </p:txBody>
      </p:sp>
      <p:sp>
        <p:nvSpPr>
          <p:cNvPr id="15" name="Pentagon 14"/>
          <p:cNvSpPr/>
          <p:nvPr/>
        </p:nvSpPr>
        <p:spPr>
          <a:xfrm>
            <a:off x="8933459" y="1591056"/>
            <a:ext cx="2508427" cy="457200"/>
          </a:xfrm>
          <a:prstGeom prst="homePlate">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spcBef>
                <a:spcPts val="0"/>
              </a:spcBef>
            </a:pPr>
            <a:r>
              <a:rPr sz="1300" b="1" i="0">
                <a:solidFill>
                  <a:srgbClr val="FFFFFF"/>
                </a:solidFill>
                <a:latin typeface="Segoe UI"/>
              </a:rPr>
              <a:t>Capital et décision</a:t>
            </a:r>
          </a:p>
        </p:txBody>
      </p:sp>
      <p:sp>
        <p:nvSpPr>
          <p:cNvPr id="16" name="TextBox 15"/>
          <p:cNvSpPr txBox="1"/>
          <p:nvPr/>
        </p:nvSpPr>
        <p:spPr>
          <a:xfrm>
            <a:off x="8933459" y="2157984"/>
            <a:ext cx="2508427" cy="640080"/>
          </a:xfrm>
          <a:prstGeom prst="rect">
            <a:avLst/>
          </a:prstGeom>
          <a:noFill/>
        </p:spPr>
        <p:txBody>
          <a:bodyPr wrap="square" lIns="0" rIns="0" tIns="0" bIns="0">
            <a:spAutoFit/>
          </a:bodyPr>
          <a:lstStyle/>
          <a:p>
            <a:pPr algn="l">
              <a:spcBef>
                <a:spcPts val="0"/>
              </a:spcBef>
            </a:pPr>
            <a:r>
              <a:rPr sz="1100" b="0" i="0">
                <a:solidFill>
                  <a:srgbClr val="595959"/>
                </a:solidFill>
                <a:latin typeface="Segoe UI"/>
              </a:rPr>
              <a:t>quantile à 99,5 %,</a:t>
            </a:r>
          </a:p>
          <a:p>
            <a:pPr algn="l">
              <a:spcBef>
                <a:spcPts val="300"/>
              </a:spcBef>
            </a:pPr>
            <a:r>
              <a:rPr sz="1100" b="0" i="0">
                <a:solidFill>
                  <a:srgbClr val="595959"/>
                </a:solidFill>
                <a:latin typeface="Segoe UI"/>
              </a:rPr>
              <a:t>remédier ou transférer</a:t>
            </a:r>
          </a:p>
        </p:txBody>
      </p:sp>
      <p:cxnSp>
        <p:nvCxnSpPr>
          <p:cNvPr id="17" name="Connector 16"/>
          <p:cNvCxnSpPr/>
          <p:nvPr/>
        </p:nvCxnSpPr>
        <p:spPr>
          <a:xfrm>
            <a:off x="6095847" y="3246120"/>
            <a:ext cx="0" cy="2103120"/>
          </a:xfrm>
          <a:prstGeom prst="line">
            <a:avLst/>
          </a:prstGeom>
          <a:ln w="15875">
            <a:solidFill>
              <a:srgbClr val="9DC3C8"/>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49808" y="3246120"/>
            <a:ext cx="5071719" cy="310896"/>
          </a:xfrm>
          <a:prstGeom prst="rect">
            <a:avLst/>
          </a:prstGeom>
          <a:noFill/>
        </p:spPr>
        <p:txBody>
          <a:bodyPr wrap="square" lIns="0" rIns="0" tIns="0" bIns="0">
            <a:spAutoFit/>
          </a:bodyPr>
          <a:lstStyle/>
          <a:p>
            <a:pPr algn="l">
              <a:spcBef>
                <a:spcPts val="0"/>
              </a:spcBef>
            </a:pPr>
            <a:r>
              <a:rPr sz="1500" b="1" i="0">
                <a:solidFill>
                  <a:srgbClr val="B10031"/>
                </a:solidFill>
                <a:latin typeface="Segoe UI"/>
              </a:rPr>
              <a:t>① </a:t>
            </a:r>
            <a:r>
              <a:rPr sz="1500" b="1" i="0">
                <a:solidFill>
                  <a:srgbClr val="223E55"/>
                </a:solidFill>
                <a:latin typeface="Segoe UI"/>
              </a:rPr>
              <a:t>Calibrés sur données</a:t>
            </a:r>
          </a:p>
        </p:txBody>
      </p:sp>
      <p:sp>
        <p:nvSpPr>
          <p:cNvPr id="19" name="TextBox 18"/>
          <p:cNvSpPr txBox="1"/>
          <p:nvPr/>
        </p:nvSpPr>
        <p:spPr>
          <a:xfrm>
            <a:off x="749808" y="3575304"/>
            <a:ext cx="5071719" cy="1828800"/>
          </a:xfrm>
          <a:prstGeom prst="rect">
            <a:avLst/>
          </a:prstGeom>
          <a:noFill/>
        </p:spPr>
        <p:txBody>
          <a:bodyPr wrap="square" lIns="0" rIns="0" tIns="0" bIns="0">
            <a:spAutoFit/>
          </a:bodyPr>
          <a:lstStyle/>
          <a:p>
            <a:pPr algn="l" marL="219456" indent="-219456">
              <a:spcBef>
                <a:spcPts val="0"/>
              </a:spcBef>
            </a:pPr>
            <a:r>
              <a:rPr sz="1500" b="0" i="0">
                <a:solidFill>
                  <a:srgbClr val="595959"/>
                </a:solidFill>
                <a:latin typeface="Segoe UI"/>
              </a:rPr>
              <a:t>•   </a:t>
            </a:r>
            <a:r>
              <a:rPr sz="1500" b="0" i="0">
                <a:solidFill>
                  <a:srgbClr val="122738"/>
                </a:solidFill>
                <a:latin typeface="Segoe UI"/>
              </a:rPr>
              <a:t>Fréquence des incidents</a:t>
            </a:r>
          </a:p>
          <a:p>
            <a:pPr algn="l" marL="219456" indent="-219456">
              <a:spcBef>
                <a:spcPts val="1100"/>
              </a:spcBef>
            </a:pPr>
            <a:r>
              <a:rPr sz="1500" b="0" i="0">
                <a:solidFill>
                  <a:srgbClr val="595959"/>
                </a:solidFill>
                <a:latin typeface="Segoe UI"/>
              </a:rPr>
              <a:t>•   </a:t>
            </a:r>
            <a:r>
              <a:rPr sz="1500" b="0" i="0">
                <a:solidFill>
                  <a:srgbClr val="122738"/>
                </a:solidFill>
                <a:latin typeface="Segoe UI"/>
              </a:rPr>
              <a:t>Taux de détection des pertes</a:t>
            </a:r>
          </a:p>
          <a:p>
            <a:pPr algn="l">
              <a:spcBef>
                <a:spcPts val="1100"/>
              </a:spcBef>
            </a:pPr>
            <a:r>
              <a:rPr sz="1400" b="0" i="0">
                <a:solidFill>
                  <a:srgbClr val="595959"/>
                </a:solidFill>
                <a:latin typeface="Segoe UI"/>
              </a:rPr>
              <a:t>Ces deux canaux portent un intervalle estimé.</a:t>
            </a:r>
          </a:p>
        </p:txBody>
      </p:sp>
      <p:sp>
        <p:nvSpPr>
          <p:cNvPr id="20" name="TextBox 19"/>
          <p:cNvSpPr txBox="1"/>
          <p:nvPr/>
        </p:nvSpPr>
        <p:spPr>
          <a:xfrm>
            <a:off x="6351879" y="3246120"/>
            <a:ext cx="5090007" cy="310896"/>
          </a:xfrm>
          <a:prstGeom prst="rect">
            <a:avLst/>
          </a:prstGeom>
          <a:noFill/>
        </p:spPr>
        <p:txBody>
          <a:bodyPr wrap="square" lIns="0" rIns="0" tIns="0" bIns="0">
            <a:spAutoFit/>
          </a:bodyPr>
          <a:lstStyle/>
          <a:p>
            <a:pPr algn="l">
              <a:spcBef>
                <a:spcPts val="0"/>
              </a:spcBef>
            </a:pPr>
            <a:r>
              <a:rPr sz="1500" b="1" i="0">
                <a:solidFill>
                  <a:srgbClr val="B10031"/>
                </a:solidFill>
                <a:latin typeface="Segoe UI"/>
              </a:rPr>
              <a:t>② </a:t>
            </a:r>
            <a:r>
              <a:rPr sz="1500" b="1" i="0">
                <a:solidFill>
                  <a:srgbClr val="223E55"/>
                </a:solidFill>
                <a:latin typeface="Segoe UI"/>
              </a:rPr>
              <a:t>Bornés, non calibrés</a:t>
            </a:r>
          </a:p>
        </p:txBody>
      </p:sp>
      <p:sp>
        <p:nvSpPr>
          <p:cNvPr id="21" name="TextBox 20"/>
          <p:cNvSpPr txBox="1"/>
          <p:nvPr/>
        </p:nvSpPr>
        <p:spPr>
          <a:xfrm>
            <a:off x="6351879" y="3575304"/>
            <a:ext cx="5090007" cy="1828800"/>
          </a:xfrm>
          <a:prstGeom prst="rect">
            <a:avLst/>
          </a:prstGeom>
          <a:noFill/>
        </p:spPr>
        <p:txBody>
          <a:bodyPr wrap="square" lIns="0" rIns="0" tIns="0" bIns="0">
            <a:spAutoFit/>
          </a:bodyPr>
          <a:lstStyle/>
          <a:p>
            <a:pPr algn="l" marL="219456" indent="-219456">
              <a:spcBef>
                <a:spcPts val="0"/>
              </a:spcBef>
            </a:pPr>
            <a:r>
              <a:rPr sz="1500" b="0" i="0">
                <a:solidFill>
                  <a:srgbClr val="595959"/>
                </a:solidFill>
                <a:latin typeface="Segoe UI"/>
              </a:rPr>
              <a:t>•   </a:t>
            </a:r>
            <a:r>
              <a:rPr sz="1500" b="0" i="0">
                <a:solidFill>
                  <a:srgbClr val="122738"/>
                </a:solidFill>
                <a:latin typeface="Segoe UI"/>
              </a:rPr>
              <a:t>Gain de propagation entre piliers</a:t>
            </a:r>
          </a:p>
          <a:p>
            <a:pPr algn="l" marL="219456" indent="-219456">
              <a:spcBef>
                <a:spcPts val="1100"/>
              </a:spcBef>
            </a:pPr>
            <a:r>
              <a:rPr sz="1500" b="0" i="0">
                <a:solidFill>
                  <a:srgbClr val="595959"/>
                </a:solidFill>
                <a:latin typeface="Segoe UI"/>
              </a:rPr>
              <a:t>•   </a:t>
            </a:r>
            <a:r>
              <a:rPr sz="1500" b="0" i="0">
                <a:solidFill>
                  <a:srgbClr val="122738"/>
                </a:solidFill>
                <a:latin typeface="Segoe UI"/>
              </a:rPr>
              <a:t>Accumulation par prestataire commun</a:t>
            </a:r>
          </a:p>
          <a:p>
            <a:pPr algn="l">
              <a:spcBef>
                <a:spcPts val="1100"/>
              </a:spcBef>
            </a:pPr>
            <a:r>
              <a:rPr sz="1400" b="0" i="0">
                <a:solidFill>
                  <a:srgbClr val="595959"/>
                </a:solidFill>
                <a:latin typeface="Segoe UI"/>
              </a:rPr>
              <a:t>Ces deux canaux portent un scénario borné, et leur part n'est pas un budget de remédiation.</a:t>
            </a:r>
          </a:p>
        </p:txBody>
      </p:sp>
      <p:sp>
        <p:nvSpPr>
          <p:cNvPr id="22" name="Rectangle 21"/>
          <p:cNvSpPr/>
          <p:nvPr/>
        </p:nvSpPr>
        <p:spPr>
          <a:xfrm>
            <a:off x="566928" y="5788152"/>
            <a:ext cx="11057839"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5788152"/>
            <a:ext cx="76200" cy="54864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5907024"/>
            <a:ext cx="10783519" cy="402336"/>
          </a:xfrm>
          <a:prstGeom prst="rect">
            <a:avLst/>
          </a:prstGeom>
          <a:noFill/>
        </p:spPr>
        <p:txBody>
          <a:bodyPr wrap="square" lIns="0" rIns="0" tIns="0" bIns="0">
            <a:spAutoFit/>
          </a:bodyPr>
          <a:lstStyle/>
          <a:p>
            <a:pPr algn="l">
              <a:spcBef>
                <a:spcPts val="0"/>
              </a:spcBef>
            </a:pPr>
            <a:r>
              <a:rPr sz="1400" b="1" i="0">
                <a:solidFill>
                  <a:srgbClr val="B10031"/>
                </a:solidFill>
                <a:latin typeface="Segoe UI"/>
              </a:rPr>
              <a:t>Message clé   </a:t>
            </a:r>
            <a:r>
              <a:rPr sz="1400" b="0" i="0">
                <a:solidFill>
                  <a:srgbClr val="595959"/>
                </a:solidFill>
                <a:latin typeface="Segoe UI"/>
              </a:rPr>
              <a:t>le modèle est partiellement calibré et partiellement borné, et le document dit lequel est lequel.</a:t>
            </a:r>
          </a:p>
        </p:txBody>
      </p:sp>
      <p:sp>
        <p:nvSpPr>
          <p:cNvPr id="25" name="TextBox 24"/>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chapitres 5 à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8</a:t>
            </a:r>
          </a:p>
        </p:txBody>
      </p:sp>
      <p:sp>
        <p:nvSpPr>
          <p:cNvPr id="7" name="TextBox 6"/>
          <p:cNvSpPr txBox="1"/>
          <p:nvPr/>
        </p:nvSpPr>
        <p:spPr>
          <a:xfrm>
            <a:off x="749808" y="292608"/>
            <a:ext cx="8954719" cy="530352"/>
          </a:xfrm>
          <a:prstGeom prst="rect">
            <a:avLst/>
          </a:prstGeom>
          <a:noFill/>
        </p:spPr>
        <p:txBody>
          <a:bodyPr wrap="square" lIns="0" rIns="0" tIns="0" bIns="0">
            <a:spAutoFit/>
          </a:bodyPr>
          <a:lstStyle/>
          <a:p>
            <a:pPr algn="l">
              <a:spcBef>
                <a:spcPts val="0"/>
              </a:spcBef>
            </a:pPr>
            <a:r>
              <a:rPr sz="2600" b="1" i="0">
                <a:solidFill>
                  <a:srgbClr val="223E55"/>
                </a:solidFill>
                <a:latin typeface="Georgia"/>
              </a:rPr>
              <a:t>L'ordre de propagation change la criticité</a:t>
            </a:r>
          </a:p>
        </p:txBody>
      </p:sp>
      <p:sp>
        <p:nvSpPr>
          <p:cNvPr id="8" name="TextBox 7"/>
          <p:cNvSpPr txBox="1"/>
          <p:nvPr/>
        </p:nvSpPr>
        <p:spPr>
          <a:xfrm>
            <a:off x="749808" y="804672"/>
            <a:ext cx="8954719" cy="384048"/>
          </a:xfrm>
          <a:prstGeom prst="rect">
            <a:avLst/>
          </a:prstGeom>
          <a:noFill/>
        </p:spPr>
        <p:txBody>
          <a:bodyPr wrap="square" lIns="0" rIns="0" tIns="0" bIns="0">
            <a:spAutoFit/>
          </a:bodyPr>
          <a:lstStyle/>
          <a:p>
            <a:pPr algn="l">
              <a:spcBef>
                <a:spcPts val="0"/>
              </a:spcBef>
            </a:pPr>
            <a:r>
              <a:rPr sz="1800" b="1" i="0">
                <a:solidFill>
                  <a:srgbClr val="B10031"/>
                </a:solidFill>
                <a:latin typeface="Georgia"/>
              </a:rPr>
              <a:t>Ce qu'une structure de dépendance symétrique ne peut pas voir</a:t>
            </a:r>
          </a:p>
        </p:txBody>
      </p:sp>
      <p:pic>
        <p:nvPicPr>
          <p:cNvPr id="9" name="Picture 8" descr="H1_reseau_W.png"/>
          <p:cNvPicPr>
            <a:picLocks noChangeAspect="1"/>
          </p:cNvPicPr>
          <p:nvPr/>
        </p:nvPicPr>
        <p:blipFill>
          <a:blip r:embed="rId3"/>
          <a:stretch>
            <a:fillRect/>
          </a:stretch>
        </p:blipFill>
        <p:spPr>
          <a:xfrm>
            <a:off x="1352467" y="1389888"/>
            <a:ext cx="9486761" cy="4288536"/>
          </a:xfrm>
          <a:prstGeom prst="rect">
            <a:avLst/>
          </a:prstGeom>
        </p:spPr>
      </p:pic>
      <p:sp>
        <p:nvSpPr>
          <p:cNvPr id="10" name="Rectangle 9"/>
          <p:cNvSpPr/>
          <p:nvPr/>
        </p:nvSpPr>
        <p:spPr>
          <a:xfrm>
            <a:off x="566928" y="5788152"/>
            <a:ext cx="11057839"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5788152"/>
            <a:ext cx="76200" cy="54864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5907024"/>
            <a:ext cx="10783519" cy="402336"/>
          </a:xfrm>
          <a:prstGeom prst="rect">
            <a:avLst/>
          </a:prstGeom>
          <a:noFill/>
        </p:spPr>
        <p:txBody>
          <a:bodyPr wrap="square" lIns="0" rIns="0" tIns="0" bIns="0">
            <a:spAutoFit/>
          </a:bodyPr>
          <a:lstStyle/>
          <a:p>
            <a:pPr algn="l">
              <a:spcBef>
                <a:spcPts val="0"/>
              </a:spcBef>
            </a:pPr>
            <a:r>
              <a:rPr sz="1400" b="1" i="0">
                <a:solidFill>
                  <a:srgbClr val="B10031"/>
                </a:solidFill>
                <a:latin typeface="Segoe UI"/>
              </a:rPr>
              <a:t>Message clé   </a:t>
            </a:r>
            <a:r>
              <a:rPr sz="1400" b="0" i="0">
                <a:solidFill>
                  <a:srgbClr val="595959"/>
                </a:solidFill>
                <a:latin typeface="Segoe UI"/>
              </a:rPr>
              <a:t>une copule capture la co-occurrence des pertes, mais symétriquement : elle ne distingue pas ce qui entraîne de ce qui subit.</a:t>
            </a:r>
          </a:p>
        </p:txBody>
      </p:sp>
      <p:sp>
        <p:nvSpPr>
          <p:cNvPr id="13" name="TextBox 12"/>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6 ; figure produite par le script 29 ; comparaison au jumeau copule, chapitre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9</a:t>
            </a:r>
          </a:p>
        </p:txBody>
      </p:sp>
      <p:sp>
        <p:nvSpPr>
          <p:cNvPr id="7" name="TextBox 6"/>
          <p:cNvSpPr txBox="1"/>
          <p:nvPr/>
        </p:nvSpPr>
        <p:spPr>
          <a:xfrm>
            <a:off x="749808" y="292608"/>
            <a:ext cx="8954719" cy="530352"/>
          </a:xfrm>
          <a:prstGeom prst="rect">
            <a:avLst/>
          </a:prstGeom>
          <a:noFill/>
        </p:spPr>
        <p:txBody>
          <a:bodyPr wrap="square" lIns="0" rIns="0" tIns="0" bIns="0">
            <a:spAutoFit/>
          </a:bodyPr>
          <a:lstStyle/>
          <a:p>
            <a:pPr algn="l">
              <a:spcBef>
                <a:spcPts val="0"/>
              </a:spcBef>
            </a:pPr>
            <a:r>
              <a:rPr sz="2500" b="1" i="0">
                <a:solidFill>
                  <a:srgbClr val="223E55"/>
                </a:solidFill>
                <a:latin typeface="Georgia"/>
              </a:rPr>
              <a:t>La direction n'est pas identifiable, et c'est un résultat</a:t>
            </a:r>
          </a:p>
        </p:txBody>
      </p:sp>
      <p:sp>
        <p:nvSpPr>
          <p:cNvPr id="8" name="TextBox 7"/>
          <p:cNvSpPr txBox="1"/>
          <p:nvPr/>
        </p:nvSpPr>
        <p:spPr>
          <a:xfrm>
            <a:off x="749808" y="804672"/>
            <a:ext cx="8954719" cy="384048"/>
          </a:xfrm>
          <a:prstGeom prst="rect">
            <a:avLst/>
          </a:prstGeom>
          <a:noFill/>
        </p:spPr>
        <p:txBody>
          <a:bodyPr wrap="square" lIns="0" rIns="0" tIns="0" bIns="0">
            <a:spAutoFit/>
          </a:bodyPr>
          <a:lstStyle/>
          <a:p>
            <a:pPr algn="l">
              <a:spcBef>
                <a:spcPts val="0"/>
              </a:spcBef>
            </a:pPr>
            <a:r>
              <a:rPr sz="1800" b="1" i="0">
                <a:solidFill>
                  <a:srgbClr val="B10031"/>
                </a:solidFill>
                <a:latin typeface="Georgia"/>
              </a:rPr>
              <a:t>Le coeur du mémoire</a:t>
            </a:r>
          </a:p>
        </p:txBody>
      </p:sp>
      <p:pic>
        <p:nvPicPr>
          <p:cNvPr id="9" name="Picture 8" descr="Z11_reversibilite_martingale.png"/>
          <p:cNvPicPr>
            <a:picLocks noChangeAspect="1"/>
          </p:cNvPicPr>
          <p:nvPr/>
        </p:nvPicPr>
        <p:blipFill>
          <a:blip r:embed="rId3"/>
          <a:stretch>
            <a:fillRect/>
          </a:stretch>
        </p:blipFill>
        <p:spPr>
          <a:xfrm>
            <a:off x="749808" y="1592536"/>
            <a:ext cx="5126583" cy="3883239"/>
          </a:xfrm>
          <a:prstGeom prst="rect">
            <a:avLst/>
          </a:prstGeom>
        </p:spPr>
      </p:pic>
      <p:cxnSp>
        <p:nvCxnSpPr>
          <p:cNvPr id="10" name="Connector 9"/>
          <p:cNvCxnSpPr/>
          <p:nvPr/>
        </p:nvCxnSpPr>
        <p:spPr>
          <a:xfrm>
            <a:off x="6095847" y="1335024"/>
            <a:ext cx="0" cy="4288536"/>
          </a:xfrm>
          <a:prstGeom prst="line">
            <a:avLst/>
          </a:prstGeom>
          <a:ln w="15875">
            <a:solidFill>
              <a:srgbClr val="9DC3C8"/>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351879" y="1618488"/>
            <a:ext cx="5090007" cy="4032504"/>
          </a:xfrm>
          <a:prstGeom prst="rect">
            <a:avLst/>
          </a:prstGeom>
          <a:noFill/>
        </p:spPr>
        <p:txBody>
          <a:bodyPr wrap="square" lIns="0" rIns="0" tIns="0" bIns="0">
            <a:spAutoFit/>
          </a:bodyPr>
          <a:lstStyle/>
          <a:p>
            <a:pPr algn="l">
              <a:spcBef>
                <a:spcPts val="0"/>
              </a:spcBef>
            </a:pPr>
            <a:r>
              <a:rPr sz="1500" b="0" i="0">
                <a:solidFill>
                  <a:srgbClr val="122738"/>
                </a:solidFill>
                <a:latin typeface="Segoe UI"/>
              </a:rPr>
              <a:t>La matrice se décompose en une partie symétrique et une partie antisymétrique.</a:t>
            </a:r>
          </a:p>
          <a:p>
            <a:pPr algn="l">
              <a:spcBef>
                <a:spcPts val="1500"/>
              </a:spcBef>
            </a:pPr>
            <a:r>
              <a:rPr sz="1500" b="1" i="0">
                <a:solidFill>
                  <a:srgbClr val="223E55"/>
                </a:solidFill>
                <a:latin typeface="Segoe UI"/>
              </a:rPr>
              <a:t>La donnée identifie la première, la co-occurrence.</a:t>
            </a:r>
          </a:p>
          <a:p>
            <a:pPr algn="l">
              <a:spcBef>
                <a:spcPts val="1500"/>
              </a:spcBef>
            </a:pPr>
            <a:r>
              <a:rPr sz="1500" b="1" i="0">
                <a:solidFill>
                  <a:srgbClr val="B10031"/>
                </a:solidFill>
                <a:latin typeface="Segoe UI"/>
              </a:rPr>
              <a:t>Elle n'identifie pas la seconde, la direction.</a:t>
            </a:r>
          </a:p>
          <a:p>
            <a:pPr algn="l">
              <a:spcBef>
                <a:spcPts val="1500"/>
              </a:spcBef>
            </a:pPr>
            <a:r>
              <a:rPr sz="1500" b="0" i="0">
                <a:solidFill>
                  <a:srgbClr val="122738"/>
                </a:solidFill>
                <a:latin typeface="Segoe UI"/>
              </a:rPr>
              <a:t>Une matrice et sa transposée sont indistinguables pour la donnée, et donnent pourtant un capital et une décision différents.</a:t>
            </a:r>
          </a:p>
          <a:p>
            <a:pPr algn="l">
              <a:spcBef>
                <a:spcPts val="1500"/>
              </a:spcBef>
            </a:pPr>
            <a:r>
              <a:rPr sz="1400" b="0" i="0">
                <a:solidFill>
                  <a:srgbClr val="595959"/>
                </a:solidFill>
                <a:latin typeface="Segoe UI"/>
              </a:rPr>
              <a:t>Ce n'est pas un échec du modèle : c'est ce qui interdit de publier une direction comme si elle avait été observée.</a:t>
            </a:r>
          </a:p>
        </p:txBody>
      </p:sp>
      <p:sp>
        <p:nvSpPr>
          <p:cNvPr id="12" name="Rectangle 11"/>
          <p:cNvSpPr/>
          <p:nvPr/>
        </p:nvSpPr>
        <p:spPr>
          <a:xfrm>
            <a:off x="566928" y="5788152"/>
            <a:ext cx="11057839"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5788152"/>
            <a:ext cx="76200" cy="54864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907024"/>
            <a:ext cx="10783519" cy="402336"/>
          </a:xfrm>
          <a:prstGeom prst="rect">
            <a:avLst/>
          </a:prstGeom>
          <a:noFill/>
        </p:spPr>
        <p:txBody>
          <a:bodyPr wrap="square" lIns="0" rIns="0" tIns="0" bIns="0">
            <a:spAutoFit/>
          </a:bodyPr>
          <a:lstStyle/>
          <a:p>
            <a:pPr algn="l">
              <a:spcBef>
                <a:spcPts val="0"/>
              </a:spcBef>
            </a:pPr>
            <a:r>
              <a:rPr sz="1400" b="1" i="0">
                <a:solidFill>
                  <a:srgbClr val="B10031"/>
                </a:solidFill>
                <a:latin typeface="Segoe UI"/>
              </a:rPr>
              <a:t>Message clé   </a:t>
            </a:r>
            <a:r>
              <a:rPr sz="1400" b="0" i="0">
                <a:solidFill>
                  <a:srgbClr val="595959"/>
                </a:solidFill>
                <a:latin typeface="Segoe UI"/>
              </a:rPr>
              <a:t>un résultat d'identification, et non une limite de l'estimation.</a:t>
            </a:r>
          </a:p>
        </p:txBody>
      </p:sp>
      <p:sp>
        <p:nvSpPr>
          <p:cNvPr id="15" name="TextBox 14"/>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8 ; script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10</a:t>
            </a:r>
          </a:p>
        </p:txBody>
      </p:sp>
      <p:sp>
        <p:nvSpPr>
          <p:cNvPr id="7" name="TextBox 6"/>
          <p:cNvSpPr txBox="1"/>
          <p:nvPr/>
        </p:nvSpPr>
        <p:spPr>
          <a:xfrm>
            <a:off x="749808" y="292608"/>
            <a:ext cx="8954719" cy="530352"/>
          </a:xfrm>
          <a:prstGeom prst="rect">
            <a:avLst/>
          </a:prstGeom>
          <a:noFill/>
        </p:spPr>
        <p:txBody>
          <a:bodyPr wrap="square" lIns="0" rIns="0" tIns="0" bIns="0">
            <a:spAutoFit/>
          </a:bodyPr>
          <a:lstStyle/>
          <a:p>
            <a:pPr algn="l">
              <a:spcBef>
                <a:spcPts val="0"/>
              </a:spcBef>
            </a:pPr>
            <a:r>
              <a:rPr sz="2600" b="1" i="0">
                <a:solidFill>
                  <a:srgbClr val="223E55"/>
                </a:solidFill>
                <a:latin typeface="Georgia"/>
              </a:rPr>
              <a:t>Du point à la bande : borner plutôt que poser</a:t>
            </a:r>
          </a:p>
        </p:txBody>
      </p:sp>
      <p:sp>
        <p:nvSpPr>
          <p:cNvPr id="8" name="TextBox 7"/>
          <p:cNvSpPr txBox="1"/>
          <p:nvPr/>
        </p:nvSpPr>
        <p:spPr>
          <a:xfrm>
            <a:off x="749808" y="804672"/>
            <a:ext cx="8954719" cy="384048"/>
          </a:xfrm>
          <a:prstGeom prst="rect">
            <a:avLst/>
          </a:prstGeom>
          <a:noFill/>
        </p:spPr>
        <p:txBody>
          <a:bodyPr wrap="square" lIns="0" rIns="0" tIns="0" bIns="0">
            <a:spAutoFit/>
          </a:bodyPr>
          <a:lstStyle/>
          <a:p>
            <a:pPr algn="l">
              <a:spcBef>
                <a:spcPts val="0"/>
              </a:spcBef>
            </a:pPr>
            <a:r>
              <a:rPr sz="1800" b="1" i="0">
                <a:solidFill>
                  <a:srgbClr val="B10031"/>
                </a:solidFill>
                <a:latin typeface="Georgia"/>
              </a:rPr>
              <a:t>Identification partielle sur l'ensemble des matrices admissibles</a:t>
            </a:r>
          </a:p>
        </p:txBody>
      </p:sp>
      <p:cxnSp>
        <p:nvCxnSpPr>
          <p:cNvPr id="9" name="Connector 8"/>
          <p:cNvCxnSpPr/>
          <p:nvPr/>
        </p:nvCxnSpPr>
        <p:spPr>
          <a:xfrm>
            <a:off x="6095847" y="1335024"/>
            <a:ext cx="0" cy="4288536"/>
          </a:xfrm>
          <a:prstGeom prst="line">
            <a:avLst/>
          </a:prstGeom>
          <a:ln w="15875">
            <a:solidFill>
              <a:srgbClr val="9DC3C8"/>
            </a:solidFill>
            <a:prstDash val="dash"/>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316736" y="4892039"/>
            <a:ext cx="4468215" cy="952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4809743"/>
            <a:ext cx="493776" cy="164592"/>
          </a:xfrm>
          <a:prstGeom prst="rect">
            <a:avLst/>
          </a:prstGeom>
          <a:noFill/>
        </p:spPr>
        <p:txBody>
          <a:bodyPr wrap="square" lIns="0" rIns="0" tIns="0" bIns="0" anchor="ctr">
            <a:spAutoFit/>
          </a:bodyPr>
          <a:lstStyle/>
          <a:p>
            <a:pPr algn="r">
              <a:spcBef>
                <a:spcPts val="0"/>
              </a:spcBef>
            </a:pPr>
            <a:r>
              <a:rPr sz="1000" b="0" i="0">
                <a:solidFill>
                  <a:srgbClr val="A5A5A5"/>
                </a:solidFill>
                <a:latin typeface="Segoe UI"/>
              </a:rPr>
              <a:t>5 000</a:t>
            </a:r>
          </a:p>
        </p:txBody>
      </p:sp>
      <p:sp>
        <p:nvSpPr>
          <p:cNvPr id="12" name="Rectangle 11"/>
          <p:cNvSpPr/>
          <p:nvPr/>
        </p:nvSpPr>
        <p:spPr>
          <a:xfrm>
            <a:off x="1316736" y="4137659"/>
            <a:ext cx="4468215" cy="952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4055363"/>
            <a:ext cx="493776" cy="164592"/>
          </a:xfrm>
          <a:prstGeom prst="rect">
            <a:avLst/>
          </a:prstGeom>
          <a:noFill/>
        </p:spPr>
        <p:txBody>
          <a:bodyPr wrap="square" lIns="0" rIns="0" tIns="0" bIns="0" anchor="ctr">
            <a:spAutoFit/>
          </a:bodyPr>
          <a:lstStyle/>
          <a:p>
            <a:pPr algn="r">
              <a:spcBef>
                <a:spcPts val="0"/>
              </a:spcBef>
            </a:pPr>
            <a:r>
              <a:rPr sz="1000" b="0" i="0">
                <a:solidFill>
                  <a:srgbClr val="A5A5A5"/>
                </a:solidFill>
                <a:latin typeface="Segoe UI"/>
              </a:rPr>
              <a:t>6 000</a:t>
            </a:r>
          </a:p>
        </p:txBody>
      </p:sp>
      <p:sp>
        <p:nvSpPr>
          <p:cNvPr id="14" name="Rectangle 13"/>
          <p:cNvSpPr/>
          <p:nvPr/>
        </p:nvSpPr>
        <p:spPr>
          <a:xfrm>
            <a:off x="1316736" y="3383279"/>
            <a:ext cx="4468215" cy="952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300983"/>
            <a:ext cx="493776" cy="164592"/>
          </a:xfrm>
          <a:prstGeom prst="rect">
            <a:avLst/>
          </a:prstGeom>
          <a:noFill/>
        </p:spPr>
        <p:txBody>
          <a:bodyPr wrap="square" lIns="0" rIns="0" tIns="0" bIns="0" anchor="ctr">
            <a:spAutoFit/>
          </a:bodyPr>
          <a:lstStyle/>
          <a:p>
            <a:pPr algn="r">
              <a:spcBef>
                <a:spcPts val="0"/>
              </a:spcBef>
            </a:pPr>
            <a:r>
              <a:rPr sz="1000" b="0" i="0">
                <a:solidFill>
                  <a:srgbClr val="A5A5A5"/>
                </a:solidFill>
                <a:latin typeface="Segoe UI"/>
              </a:rPr>
              <a:t>7 000</a:t>
            </a:r>
          </a:p>
        </p:txBody>
      </p:sp>
      <p:sp>
        <p:nvSpPr>
          <p:cNvPr id="16" name="Rectangle 15"/>
          <p:cNvSpPr/>
          <p:nvPr/>
        </p:nvSpPr>
        <p:spPr>
          <a:xfrm>
            <a:off x="1316736" y="2628899"/>
            <a:ext cx="4468215" cy="952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2546603"/>
            <a:ext cx="493776" cy="164592"/>
          </a:xfrm>
          <a:prstGeom prst="rect">
            <a:avLst/>
          </a:prstGeom>
          <a:noFill/>
        </p:spPr>
        <p:txBody>
          <a:bodyPr wrap="square" lIns="0" rIns="0" tIns="0" bIns="0" anchor="ctr">
            <a:spAutoFit/>
          </a:bodyPr>
          <a:lstStyle/>
          <a:p>
            <a:pPr algn="r">
              <a:spcBef>
                <a:spcPts val="0"/>
              </a:spcBef>
            </a:pPr>
            <a:r>
              <a:rPr sz="1000" b="0" i="0">
                <a:solidFill>
                  <a:srgbClr val="A5A5A5"/>
                </a:solidFill>
                <a:latin typeface="Segoe UI"/>
              </a:rPr>
              <a:t>8 000</a:t>
            </a:r>
          </a:p>
        </p:txBody>
      </p:sp>
      <p:sp>
        <p:nvSpPr>
          <p:cNvPr id="18" name="Rectangle 17"/>
          <p:cNvSpPr/>
          <p:nvPr/>
        </p:nvSpPr>
        <p:spPr>
          <a:xfrm>
            <a:off x="1316736" y="1874519"/>
            <a:ext cx="4468215" cy="952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1792223"/>
            <a:ext cx="493776" cy="164592"/>
          </a:xfrm>
          <a:prstGeom prst="rect">
            <a:avLst/>
          </a:prstGeom>
          <a:noFill/>
        </p:spPr>
        <p:txBody>
          <a:bodyPr wrap="square" lIns="0" rIns="0" tIns="0" bIns="0" anchor="ctr">
            <a:spAutoFit/>
          </a:bodyPr>
          <a:lstStyle/>
          <a:p>
            <a:pPr algn="r">
              <a:spcBef>
                <a:spcPts val="0"/>
              </a:spcBef>
            </a:pPr>
            <a:r>
              <a:rPr sz="1000" b="0" i="0">
                <a:solidFill>
                  <a:srgbClr val="A5A5A5"/>
                </a:solidFill>
                <a:latin typeface="Segoe UI"/>
              </a:rPr>
              <a:t>9 000</a:t>
            </a:r>
          </a:p>
        </p:txBody>
      </p:sp>
      <p:sp>
        <p:nvSpPr>
          <p:cNvPr id="20" name="Rectangle 19"/>
          <p:cNvSpPr/>
          <p:nvPr/>
        </p:nvSpPr>
        <p:spPr>
          <a:xfrm>
            <a:off x="1640681" y="2497636"/>
            <a:ext cx="469162" cy="254226"/>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66361" y="2259892"/>
            <a:ext cx="1017802" cy="201168"/>
          </a:xfrm>
          <a:prstGeom prst="rect">
            <a:avLst/>
          </a:prstGeom>
          <a:noFill/>
        </p:spPr>
        <p:txBody>
          <a:bodyPr wrap="square" lIns="0" rIns="0" tIns="0" bIns="0" anchor="ctr">
            <a:spAutoFit/>
          </a:bodyPr>
          <a:lstStyle/>
          <a:p>
            <a:pPr algn="ctr">
              <a:spcBef>
                <a:spcPts val="0"/>
              </a:spcBef>
            </a:pPr>
            <a:r>
              <a:rPr sz="1100" b="1" i="0">
                <a:solidFill>
                  <a:srgbClr val="B10031"/>
                </a:solidFill>
                <a:latin typeface="Segoe UI"/>
              </a:rPr>
              <a:t>336</a:t>
            </a:r>
          </a:p>
        </p:txBody>
      </p:sp>
      <p:sp>
        <p:nvSpPr>
          <p:cNvPr id="22" name="TextBox 21"/>
          <p:cNvSpPr txBox="1"/>
          <p:nvPr/>
        </p:nvSpPr>
        <p:spPr>
          <a:xfrm>
            <a:off x="1366361" y="4928615"/>
            <a:ext cx="1017802" cy="182880"/>
          </a:xfrm>
          <a:prstGeom prst="rect">
            <a:avLst/>
          </a:prstGeom>
          <a:noFill/>
        </p:spPr>
        <p:txBody>
          <a:bodyPr wrap="square" lIns="0" rIns="0" tIns="0" bIns="0" anchor="ctr">
            <a:spAutoFit/>
          </a:bodyPr>
          <a:lstStyle/>
          <a:p>
            <a:pPr algn="ctr">
              <a:spcBef>
                <a:spcPts val="0"/>
              </a:spcBef>
            </a:pPr>
            <a:r>
              <a:rPr sz="1100" b="1" i="0">
                <a:solidFill>
                  <a:srgbClr val="223E55"/>
                </a:solidFill>
                <a:latin typeface="Segoe UI"/>
              </a:rPr>
              <a:t>t = 0,25</a:t>
            </a:r>
          </a:p>
        </p:txBody>
      </p:sp>
      <p:sp>
        <p:nvSpPr>
          <p:cNvPr id="23" name="Rectangle 22"/>
          <p:cNvSpPr/>
          <p:nvPr/>
        </p:nvSpPr>
        <p:spPr>
          <a:xfrm>
            <a:off x="2757735" y="2402585"/>
            <a:ext cx="469162" cy="524294"/>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83415" y="2164841"/>
            <a:ext cx="1017802" cy="201168"/>
          </a:xfrm>
          <a:prstGeom prst="rect">
            <a:avLst/>
          </a:prstGeom>
          <a:noFill/>
        </p:spPr>
        <p:txBody>
          <a:bodyPr wrap="square" lIns="0" rIns="0" tIns="0" bIns="0" anchor="ctr">
            <a:spAutoFit/>
          </a:bodyPr>
          <a:lstStyle/>
          <a:p>
            <a:pPr algn="ctr">
              <a:spcBef>
                <a:spcPts val="0"/>
              </a:spcBef>
            </a:pPr>
            <a:r>
              <a:rPr sz="1100" b="1" i="0">
                <a:solidFill>
                  <a:srgbClr val="B10031"/>
                </a:solidFill>
                <a:latin typeface="Segoe UI"/>
              </a:rPr>
              <a:t>695</a:t>
            </a:r>
          </a:p>
        </p:txBody>
      </p:sp>
      <p:sp>
        <p:nvSpPr>
          <p:cNvPr id="25" name="TextBox 24"/>
          <p:cNvSpPr txBox="1"/>
          <p:nvPr/>
        </p:nvSpPr>
        <p:spPr>
          <a:xfrm>
            <a:off x="2483415" y="4928615"/>
            <a:ext cx="1017802" cy="182880"/>
          </a:xfrm>
          <a:prstGeom prst="rect">
            <a:avLst/>
          </a:prstGeom>
          <a:noFill/>
        </p:spPr>
        <p:txBody>
          <a:bodyPr wrap="square" lIns="0" rIns="0" tIns="0" bIns="0" anchor="ctr">
            <a:spAutoFit/>
          </a:bodyPr>
          <a:lstStyle/>
          <a:p>
            <a:pPr algn="ctr">
              <a:spcBef>
                <a:spcPts val="0"/>
              </a:spcBef>
            </a:pPr>
            <a:r>
              <a:rPr sz="1100" b="1" i="0">
                <a:solidFill>
                  <a:srgbClr val="223E55"/>
                </a:solidFill>
                <a:latin typeface="Segoe UI"/>
              </a:rPr>
              <a:t>t = 0,50</a:t>
            </a:r>
          </a:p>
        </p:txBody>
      </p:sp>
      <p:sp>
        <p:nvSpPr>
          <p:cNvPr id="26" name="Rectangle 25"/>
          <p:cNvSpPr/>
          <p:nvPr/>
        </p:nvSpPr>
        <p:spPr>
          <a:xfrm>
            <a:off x="3874789" y="2303761"/>
            <a:ext cx="469162" cy="816993"/>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0469" y="2066017"/>
            <a:ext cx="1017802" cy="201168"/>
          </a:xfrm>
          <a:prstGeom prst="rect">
            <a:avLst/>
          </a:prstGeom>
          <a:noFill/>
        </p:spPr>
        <p:txBody>
          <a:bodyPr wrap="square" lIns="0" rIns="0" tIns="0" bIns="0" anchor="ctr">
            <a:spAutoFit/>
          </a:bodyPr>
          <a:lstStyle/>
          <a:p>
            <a:pPr algn="ctr">
              <a:spcBef>
                <a:spcPts val="0"/>
              </a:spcBef>
            </a:pPr>
            <a:r>
              <a:rPr sz="1100" b="1" i="0">
                <a:solidFill>
                  <a:srgbClr val="B10031"/>
                </a:solidFill>
                <a:latin typeface="Segoe UI"/>
              </a:rPr>
              <a:t>1 083</a:t>
            </a:r>
          </a:p>
        </p:txBody>
      </p:sp>
      <p:sp>
        <p:nvSpPr>
          <p:cNvPr id="28" name="TextBox 27"/>
          <p:cNvSpPr txBox="1"/>
          <p:nvPr/>
        </p:nvSpPr>
        <p:spPr>
          <a:xfrm>
            <a:off x="3600469" y="4928615"/>
            <a:ext cx="1017802" cy="182880"/>
          </a:xfrm>
          <a:prstGeom prst="rect">
            <a:avLst/>
          </a:prstGeom>
          <a:noFill/>
        </p:spPr>
        <p:txBody>
          <a:bodyPr wrap="square" lIns="0" rIns="0" tIns="0" bIns="0" anchor="ctr">
            <a:spAutoFit/>
          </a:bodyPr>
          <a:lstStyle/>
          <a:p>
            <a:pPr algn="ctr">
              <a:spcBef>
                <a:spcPts val="0"/>
              </a:spcBef>
            </a:pPr>
            <a:r>
              <a:rPr sz="1100" b="1" i="0">
                <a:solidFill>
                  <a:srgbClr val="223E55"/>
                </a:solidFill>
                <a:latin typeface="Segoe UI"/>
              </a:rPr>
              <a:t>t = 0,75</a:t>
            </a:r>
          </a:p>
        </p:txBody>
      </p:sp>
      <p:sp>
        <p:nvSpPr>
          <p:cNvPr id="29" name="Rectangle 28"/>
          <p:cNvSpPr/>
          <p:nvPr/>
        </p:nvSpPr>
        <p:spPr>
          <a:xfrm>
            <a:off x="4991843" y="2103096"/>
            <a:ext cx="469162" cy="1387304"/>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17523" y="1865352"/>
            <a:ext cx="1017802" cy="201168"/>
          </a:xfrm>
          <a:prstGeom prst="rect">
            <a:avLst/>
          </a:prstGeom>
          <a:noFill/>
        </p:spPr>
        <p:txBody>
          <a:bodyPr wrap="square" lIns="0" rIns="0" tIns="0" bIns="0" anchor="ctr">
            <a:spAutoFit/>
          </a:bodyPr>
          <a:lstStyle/>
          <a:p>
            <a:pPr algn="ctr">
              <a:spcBef>
                <a:spcPts val="0"/>
              </a:spcBef>
            </a:pPr>
            <a:r>
              <a:rPr sz="1100" b="1" i="0">
                <a:solidFill>
                  <a:srgbClr val="B10031"/>
                </a:solidFill>
                <a:latin typeface="Segoe UI"/>
              </a:rPr>
              <a:t>1 839</a:t>
            </a:r>
          </a:p>
        </p:txBody>
      </p:sp>
      <p:sp>
        <p:nvSpPr>
          <p:cNvPr id="31" name="TextBox 30"/>
          <p:cNvSpPr txBox="1"/>
          <p:nvPr/>
        </p:nvSpPr>
        <p:spPr>
          <a:xfrm>
            <a:off x="4717523" y="4928615"/>
            <a:ext cx="1017802" cy="182880"/>
          </a:xfrm>
          <a:prstGeom prst="rect">
            <a:avLst/>
          </a:prstGeom>
          <a:noFill/>
        </p:spPr>
        <p:txBody>
          <a:bodyPr wrap="square" lIns="0" rIns="0" tIns="0" bIns="0" anchor="ctr">
            <a:spAutoFit/>
          </a:bodyPr>
          <a:lstStyle/>
          <a:p>
            <a:pPr algn="ctr">
              <a:spcBef>
                <a:spcPts val="0"/>
              </a:spcBef>
            </a:pPr>
            <a:r>
              <a:rPr sz="1100" b="1" i="0">
                <a:solidFill>
                  <a:srgbClr val="223E55"/>
                </a:solidFill>
                <a:latin typeface="Segoe UI"/>
              </a:rPr>
              <a:t>t = 1,00</a:t>
            </a:r>
          </a:p>
        </p:txBody>
      </p:sp>
      <p:sp>
        <p:nvSpPr>
          <p:cNvPr id="32" name="Rectangle 31"/>
          <p:cNvSpPr/>
          <p:nvPr/>
        </p:nvSpPr>
        <p:spPr>
          <a:xfrm>
            <a:off x="1316736" y="4675059"/>
            <a:ext cx="4468215" cy="19050"/>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16736" y="4465128"/>
            <a:ext cx="4431639" cy="182880"/>
          </a:xfrm>
          <a:prstGeom prst="rect">
            <a:avLst/>
          </a:prstGeom>
          <a:noFill/>
        </p:spPr>
        <p:txBody>
          <a:bodyPr wrap="square" lIns="0" rIns="0" tIns="0" bIns="0" anchor="ctr">
            <a:spAutoFit/>
          </a:bodyPr>
          <a:lstStyle/>
          <a:p>
            <a:pPr algn="r">
              <a:spcBef>
                <a:spcPts val="0"/>
              </a:spcBef>
            </a:pPr>
            <a:r>
              <a:rPr sz="1100" b="1" i="0">
                <a:solidFill>
                  <a:srgbClr val="595959"/>
                </a:solidFill>
                <a:latin typeface="Segoe UI"/>
              </a:rPr>
              <a:t>socle identifié, sans aucune contagion</a:t>
            </a:r>
          </a:p>
        </p:txBody>
      </p:sp>
      <p:sp>
        <p:nvSpPr>
          <p:cNvPr id="34" name="TextBox 33"/>
          <p:cNvSpPr txBox="1"/>
          <p:nvPr/>
        </p:nvSpPr>
        <p:spPr>
          <a:xfrm>
            <a:off x="749808" y="1655063"/>
            <a:ext cx="2194560" cy="182880"/>
          </a:xfrm>
          <a:prstGeom prst="rect">
            <a:avLst/>
          </a:prstGeom>
          <a:noFill/>
        </p:spPr>
        <p:txBody>
          <a:bodyPr wrap="square" lIns="0" rIns="0" tIns="0" bIns="0" anchor="ctr">
            <a:spAutoFit/>
          </a:bodyPr>
          <a:lstStyle/>
          <a:p>
            <a:pPr algn="l">
              <a:spcBef>
                <a:spcPts val="0"/>
              </a:spcBef>
            </a:pPr>
            <a:r>
              <a:rPr sz="1000" b="0" i="1">
                <a:solidFill>
                  <a:srgbClr val="A5A5A5"/>
                </a:solidFill>
                <a:latin typeface="Segoe UI"/>
              </a:rPr>
              <a:t>capital, en M€</a:t>
            </a:r>
          </a:p>
        </p:txBody>
      </p:sp>
      <p:sp>
        <p:nvSpPr>
          <p:cNvPr id="35" name="TextBox 34"/>
          <p:cNvSpPr txBox="1"/>
          <p:nvPr/>
        </p:nvSpPr>
        <p:spPr>
          <a:xfrm>
            <a:off x="749808" y="5303520"/>
            <a:ext cx="5035143" cy="201168"/>
          </a:xfrm>
          <a:prstGeom prst="rect">
            <a:avLst/>
          </a:prstGeom>
          <a:noFill/>
        </p:spPr>
        <p:txBody>
          <a:bodyPr wrap="square" lIns="0" rIns="0" tIns="0" bIns="0" anchor="ctr">
            <a:spAutoFit/>
          </a:bodyPr>
          <a:lstStyle/>
          <a:p>
            <a:pPr algn="ctr">
              <a:spcBef>
                <a:spcPts val="0"/>
              </a:spcBef>
            </a:pPr>
            <a:r>
              <a:rPr sz="1100" b="0" i="1">
                <a:solidFill>
                  <a:srgbClr val="A5A5A5"/>
                </a:solidFill>
                <a:latin typeface="Segoe UI"/>
              </a:rPr>
              <a:t>t : ignorance sur la direction, 1 = état actuel des données</a:t>
            </a:r>
          </a:p>
        </p:txBody>
      </p:sp>
      <p:sp>
        <p:nvSpPr>
          <p:cNvPr id="36" name="TextBox 35"/>
          <p:cNvSpPr txBox="1"/>
          <p:nvPr/>
        </p:nvSpPr>
        <p:spPr>
          <a:xfrm>
            <a:off x="6351879" y="1618488"/>
            <a:ext cx="5090007" cy="4032504"/>
          </a:xfrm>
          <a:prstGeom prst="rect">
            <a:avLst/>
          </a:prstGeom>
          <a:noFill/>
        </p:spPr>
        <p:txBody>
          <a:bodyPr wrap="square" lIns="0" rIns="0" tIns="0" bIns="0">
            <a:spAutoFit/>
          </a:bodyPr>
          <a:lstStyle/>
          <a:p>
            <a:pPr algn="l">
              <a:spcBef>
                <a:spcPts val="0"/>
              </a:spcBef>
            </a:pPr>
            <a:r>
              <a:rPr sz="1500" b="0" i="0">
                <a:solidFill>
                  <a:srgbClr val="122738"/>
                </a:solidFill>
                <a:latin typeface="Segoe UI"/>
              </a:rPr>
              <a:t>Plutôt que de poser la direction, le capital est borné sur l'ensemble des matrices compatibles avec ce que la donnée identifie.</a:t>
            </a:r>
          </a:p>
          <a:p>
            <a:pPr algn="l">
              <a:spcBef>
                <a:spcPts val="1400"/>
              </a:spcBef>
            </a:pPr>
            <a:r>
              <a:rPr sz="1500" b="1" i="0">
                <a:solidFill>
                  <a:srgbClr val="223E55"/>
                </a:solidFill>
                <a:latin typeface="Segoe UI"/>
              </a:rPr>
              <a:t>1 024 sommets, énumérés exhaustivement</a:t>
            </a:r>
          </a:p>
          <a:p>
            <a:pPr algn="l">
              <a:spcBef>
                <a:spcPts val="1400"/>
              </a:spcBef>
            </a:pPr>
            <a:r>
              <a:rPr sz="1500" b="0" i="0">
                <a:solidFill>
                  <a:srgbClr val="122738"/>
                </a:solidFill>
                <a:latin typeface="Segoe UI"/>
              </a:rPr>
              <a:t>En rouge, la largeur de la bande. Elle croît linéairement avec l'ignorance, et son maximum est connu d'avance : c'est plus favorable qu'un intervalle de confiance ordinaire.</a:t>
            </a:r>
          </a:p>
          <a:p>
            <a:pPr algn="l">
              <a:spcBef>
                <a:spcPts val="1400"/>
              </a:spcBef>
            </a:pPr>
            <a:r>
              <a:rPr sz="1500" b="0" i="0">
                <a:solidFill>
                  <a:srgbClr val="122738"/>
                </a:solidFill>
                <a:latin typeface="Segoe UI"/>
              </a:rPr>
              <a:t>Le point d'expert, 8 110 M€, est un point de cet ensemble, jamais sa mesure.</a:t>
            </a:r>
          </a:p>
          <a:p>
            <a:pPr algn="l">
              <a:spcBef>
                <a:spcPts val="1400"/>
              </a:spcBef>
            </a:pPr>
            <a:r>
              <a:rPr sz="1500" b="1" i="0">
                <a:solidFill>
                  <a:srgbClr val="B10031"/>
                </a:solidFill>
                <a:latin typeface="Segoe UI"/>
              </a:rPr>
              <a:t>Le niveau affiché reste illustratif.</a:t>
            </a:r>
          </a:p>
        </p:txBody>
      </p:sp>
      <p:sp>
        <p:nvSpPr>
          <p:cNvPr id="37" name="Rectangle 36"/>
          <p:cNvSpPr/>
          <p:nvPr/>
        </p:nvSpPr>
        <p:spPr>
          <a:xfrm>
            <a:off x="566928" y="5788152"/>
            <a:ext cx="11057839"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66928" y="5788152"/>
            <a:ext cx="76200" cy="54864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907024"/>
            <a:ext cx="10783519" cy="402336"/>
          </a:xfrm>
          <a:prstGeom prst="rect">
            <a:avLst/>
          </a:prstGeom>
          <a:noFill/>
        </p:spPr>
        <p:txBody>
          <a:bodyPr wrap="square" lIns="0" rIns="0" tIns="0" bIns="0">
            <a:spAutoFit/>
          </a:bodyPr>
          <a:lstStyle/>
          <a:p>
            <a:pPr algn="l">
              <a:spcBef>
                <a:spcPts val="0"/>
              </a:spcBef>
            </a:pPr>
            <a:r>
              <a:rPr sz="1400" b="1" i="0">
                <a:solidFill>
                  <a:srgbClr val="B10031"/>
                </a:solidFill>
                <a:latin typeface="Segoe UI"/>
              </a:rPr>
              <a:t>Message clé   </a:t>
            </a:r>
            <a:r>
              <a:rPr sz="1400" b="0" i="0">
                <a:solidFill>
                  <a:srgbClr val="595959"/>
                </a:solidFill>
                <a:latin typeface="Segoe UI"/>
              </a:rPr>
              <a:t>la bande quantifie une incertitude structurelle au lieu de la masquer derrière un point.</a:t>
            </a:r>
          </a:p>
        </p:txBody>
      </p:sp>
      <p:sp>
        <p:nvSpPr>
          <p:cNvPr id="40" name="TextBox 39"/>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9 ; valeurs lues dans la sortie versionnée du script 30 ; énumération, script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11</a:t>
            </a:r>
          </a:p>
        </p:txBody>
      </p:sp>
      <p:sp>
        <p:nvSpPr>
          <p:cNvPr id="7" name="TextBox 6"/>
          <p:cNvSpPr txBox="1"/>
          <p:nvPr/>
        </p:nvSpPr>
        <p:spPr>
          <a:xfrm>
            <a:off x="749808" y="292608"/>
            <a:ext cx="8954719" cy="530352"/>
          </a:xfrm>
          <a:prstGeom prst="rect">
            <a:avLst/>
          </a:prstGeom>
          <a:noFill/>
        </p:spPr>
        <p:txBody>
          <a:bodyPr wrap="square" lIns="0" rIns="0" tIns="0" bIns="0">
            <a:spAutoFit/>
          </a:bodyPr>
          <a:lstStyle/>
          <a:p>
            <a:pPr algn="l">
              <a:spcBef>
                <a:spcPts val="0"/>
              </a:spcBef>
            </a:pPr>
            <a:r>
              <a:rPr sz="2200" b="1" i="0">
                <a:solidFill>
                  <a:srgbClr val="223E55"/>
                </a:solidFill>
                <a:latin typeface="Georgia"/>
              </a:rPr>
              <a:t>Quatre canaux déplacés, et leurs effets ne s'additionnent pas</a:t>
            </a:r>
          </a:p>
        </p:txBody>
      </p:sp>
      <p:sp>
        <p:nvSpPr>
          <p:cNvPr id="8" name="TextBox 7"/>
          <p:cNvSpPr txBox="1"/>
          <p:nvPr/>
        </p:nvSpPr>
        <p:spPr>
          <a:xfrm>
            <a:off x="749808" y="804672"/>
            <a:ext cx="8954719" cy="384048"/>
          </a:xfrm>
          <a:prstGeom prst="rect">
            <a:avLst/>
          </a:prstGeom>
          <a:noFill/>
        </p:spPr>
        <p:txBody>
          <a:bodyPr wrap="square" lIns="0" rIns="0" tIns="0" bIns="0">
            <a:spAutoFit/>
          </a:bodyPr>
          <a:lstStyle/>
          <a:p>
            <a:pPr algn="l">
              <a:spcBef>
                <a:spcPts val="0"/>
              </a:spcBef>
            </a:pPr>
            <a:r>
              <a:rPr sz="1800" b="1" i="0">
                <a:solidFill>
                  <a:srgbClr val="B10031"/>
                </a:solidFill>
                <a:latin typeface="Georgia"/>
              </a:rPr>
              <a:t>Au secteur, et non à l'échelle d'une entité</a:t>
            </a:r>
          </a:p>
        </p:txBody>
      </p:sp>
      <p:sp>
        <p:nvSpPr>
          <p:cNvPr id="9" name="TextBox 8"/>
          <p:cNvSpPr txBox="1"/>
          <p:nvPr/>
        </p:nvSpPr>
        <p:spPr>
          <a:xfrm>
            <a:off x="749808" y="1298448"/>
            <a:ext cx="10692079" cy="402336"/>
          </a:xfrm>
          <a:prstGeom prst="rect">
            <a:avLst/>
          </a:prstGeom>
          <a:noFill/>
        </p:spPr>
        <p:txBody>
          <a:bodyPr wrap="square" lIns="0" rIns="0" tIns="0" bIns="0">
            <a:spAutoFit/>
          </a:bodyPr>
          <a:lstStyle/>
          <a:p>
            <a:pPr algn="l">
              <a:spcBef>
                <a:spcPts val="0"/>
              </a:spcBef>
            </a:pPr>
            <a:r>
              <a:rPr sz="1400" b="0" i="0">
                <a:solidFill>
                  <a:srgbClr val="122738"/>
                </a:solidFill>
                <a:latin typeface="Segoe UI"/>
              </a:rPr>
              <a:t>Au secteur, le besoin de capital passe de 6 049 à 20 188 M€, soit un facteur 3,34. La non-conformité n'ajoute aucune pénalité : elle déplace quatre paramètres de la loi de perte.</a:t>
            </a:r>
          </a:p>
        </p:txBody>
      </p:sp>
      <p:sp>
        <p:nvSpPr>
          <p:cNvPr id="10" name="Rectangle 9"/>
          <p:cNvSpPr/>
          <p:nvPr/>
        </p:nvSpPr>
        <p:spPr>
          <a:xfrm>
            <a:off x="2029968" y="1796796"/>
            <a:ext cx="155448" cy="91440"/>
          </a:xfrm>
          <a:prstGeom prst="rect">
            <a:avLst/>
          </a:prstGeom>
          <a:solidFill>
            <a:srgbClr val="435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40280" y="1755648"/>
            <a:ext cx="1846453" cy="182880"/>
          </a:xfrm>
          <a:prstGeom prst="rect">
            <a:avLst/>
          </a:prstGeom>
          <a:noFill/>
        </p:spPr>
        <p:txBody>
          <a:bodyPr wrap="square" lIns="0" rIns="0" tIns="0" bIns="0" anchor="ctr">
            <a:spAutoFit/>
          </a:bodyPr>
          <a:lstStyle/>
          <a:p>
            <a:pPr algn="l">
              <a:spcBef>
                <a:spcPts val="0"/>
              </a:spcBef>
            </a:pPr>
            <a:r>
              <a:rPr sz="1100" b="0" i="0">
                <a:solidFill>
                  <a:srgbClr val="595959"/>
                </a:solidFill>
                <a:latin typeface="Segoe UI"/>
              </a:rPr>
              <a:t>isolé, depuis l'état conforme</a:t>
            </a:r>
          </a:p>
        </p:txBody>
      </p:sp>
      <p:sp>
        <p:nvSpPr>
          <p:cNvPr id="12" name="Rectangle 11"/>
          <p:cNvSpPr/>
          <p:nvPr/>
        </p:nvSpPr>
        <p:spPr>
          <a:xfrm>
            <a:off x="4342765" y="1796796"/>
            <a:ext cx="155448" cy="91440"/>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077" y="1755648"/>
            <a:ext cx="2108241" cy="182880"/>
          </a:xfrm>
          <a:prstGeom prst="rect">
            <a:avLst/>
          </a:prstGeom>
          <a:noFill/>
        </p:spPr>
        <p:txBody>
          <a:bodyPr wrap="square" lIns="0" rIns="0" tIns="0" bIns="0" anchor="ctr">
            <a:spAutoFit/>
          </a:bodyPr>
          <a:lstStyle/>
          <a:p>
            <a:pPr algn="l">
              <a:spcBef>
                <a:spcPts val="0"/>
              </a:spcBef>
            </a:pPr>
            <a:r>
              <a:rPr sz="1100" b="0" i="0">
                <a:solidFill>
                  <a:srgbClr val="595959"/>
                </a:solidFill>
                <a:latin typeface="Segoe UI"/>
              </a:rPr>
              <a:t>Shapley, la seule lecture additive</a:t>
            </a:r>
          </a:p>
        </p:txBody>
      </p:sp>
      <p:sp>
        <p:nvSpPr>
          <p:cNvPr id="14" name="Rectangle 13"/>
          <p:cNvSpPr/>
          <p:nvPr/>
        </p:nvSpPr>
        <p:spPr>
          <a:xfrm>
            <a:off x="6917350" y="1796796"/>
            <a:ext cx="155448" cy="9144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27662" y="1755648"/>
            <a:ext cx="2454440" cy="182880"/>
          </a:xfrm>
          <a:prstGeom prst="rect">
            <a:avLst/>
          </a:prstGeom>
          <a:noFill/>
        </p:spPr>
        <p:txBody>
          <a:bodyPr wrap="square" lIns="0" rIns="0" tIns="0" bIns="0" anchor="ctr">
            <a:spAutoFit/>
          </a:bodyPr>
          <a:lstStyle/>
          <a:p>
            <a:pPr algn="l">
              <a:spcBef>
                <a:spcPts val="0"/>
              </a:spcBef>
            </a:pPr>
            <a:r>
              <a:rPr sz="1100" b="0" i="0">
                <a:solidFill>
                  <a:srgbClr val="595959"/>
                </a:solidFill>
                <a:latin typeface="Segoe UI"/>
              </a:rPr>
              <a:t>fermeture, depuis l'état non conforme</a:t>
            </a:r>
          </a:p>
        </p:txBody>
      </p:sp>
      <p:sp>
        <p:nvSpPr>
          <p:cNvPr id="16" name="TextBox 15"/>
          <p:cNvSpPr txBox="1"/>
          <p:nvPr/>
        </p:nvSpPr>
        <p:spPr>
          <a:xfrm>
            <a:off x="749808" y="2029968"/>
            <a:ext cx="1115568" cy="662940"/>
          </a:xfrm>
          <a:prstGeom prst="rect">
            <a:avLst/>
          </a:prstGeom>
          <a:noFill/>
        </p:spPr>
        <p:txBody>
          <a:bodyPr wrap="square" lIns="0" rIns="0" tIns="0" bIns="0" anchor="ctr">
            <a:spAutoFit/>
          </a:bodyPr>
          <a:lstStyle/>
          <a:p>
            <a:pPr algn="r">
              <a:spcBef>
                <a:spcPts val="0"/>
              </a:spcBef>
            </a:pPr>
            <a:r>
              <a:rPr sz="1200" b="1" i="0">
                <a:solidFill>
                  <a:srgbClr val="223E55"/>
                </a:solidFill>
                <a:latin typeface="Segoe UI"/>
              </a:rPr>
              <a:t>Fréquence</a:t>
            </a:r>
          </a:p>
        </p:txBody>
      </p:sp>
      <p:sp>
        <p:nvSpPr>
          <p:cNvPr id="17" name="Rectangle 16"/>
          <p:cNvSpPr/>
          <p:nvPr/>
        </p:nvSpPr>
        <p:spPr>
          <a:xfrm>
            <a:off x="1938528" y="2113257"/>
            <a:ext cx="3706993" cy="144117"/>
          </a:xfrm>
          <a:prstGeom prst="rect">
            <a:avLst/>
          </a:prstGeom>
          <a:solidFill>
            <a:srgbClr val="435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248955" y="2178966"/>
            <a:ext cx="396566" cy="127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5521" y="2178966"/>
            <a:ext cx="396566" cy="12700"/>
          </a:xfrm>
          <a:prstGeom prst="rect">
            <a:avLst/>
          </a:prstGeom>
          <a:solidFill>
            <a:srgbClr val="435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242605" y="2142081"/>
            <a:ext cx="12700" cy="8647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35737" y="2142081"/>
            <a:ext cx="12700" cy="86470"/>
          </a:xfrm>
          <a:prstGeom prst="rect">
            <a:avLst/>
          </a:prstGeom>
          <a:solidFill>
            <a:srgbClr val="435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33527" y="2058393"/>
            <a:ext cx="1127506" cy="253845"/>
          </a:xfrm>
          <a:prstGeom prst="rect">
            <a:avLst/>
          </a:prstGeom>
          <a:noFill/>
        </p:spPr>
        <p:txBody>
          <a:bodyPr wrap="square" lIns="0" rIns="0" tIns="0" bIns="0" anchor="ctr">
            <a:spAutoFit/>
          </a:bodyPr>
          <a:lstStyle/>
          <a:p>
            <a:pPr algn="l">
              <a:spcBef>
                <a:spcPts val="0"/>
              </a:spcBef>
            </a:pPr>
            <a:r>
              <a:rPr sz="1100" b="1" i="0">
                <a:solidFill>
                  <a:srgbClr val="435B6E"/>
                </a:solidFill>
                <a:latin typeface="Segoe UI"/>
              </a:rPr>
              <a:t>4 328</a:t>
            </a:r>
            <a:r>
              <a:rPr sz="1100" b="0" i="0">
                <a:solidFill>
                  <a:srgbClr val="595959"/>
                </a:solidFill>
                <a:latin typeface="Segoe UI"/>
              </a:rPr>
              <a:t>   ± 463</a:t>
            </a:r>
          </a:p>
        </p:txBody>
      </p:sp>
      <p:sp>
        <p:nvSpPr>
          <p:cNvPr id="23" name="Rectangle 22"/>
          <p:cNvSpPr/>
          <p:nvPr/>
        </p:nvSpPr>
        <p:spPr>
          <a:xfrm>
            <a:off x="1938528" y="2289379"/>
            <a:ext cx="5606742" cy="144117"/>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153843" y="2355087"/>
            <a:ext cx="391427" cy="127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545270" y="2355087"/>
            <a:ext cx="391427" cy="12700"/>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47493" y="2318202"/>
            <a:ext cx="12700" cy="8647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930347" y="2318202"/>
            <a:ext cx="12700" cy="86470"/>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28137" y="2234515"/>
            <a:ext cx="1127506" cy="253845"/>
          </a:xfrm>
          <a:prstGeom prst="rect">
            <a:avLst/>
          </a:prstGeom>
          <a:noFill/>
        </p:spPr>
        <p:txBody>
          <a:bodyPr wrap="square" lIns="0" rIns="0" tIns="0" bIns="0" anchor="ctr">
            <a:spAutoFit/>
          </a:bodyPr>
          <a:lstStyle/>
          <a:p>
            <a:pPr algn="l">
              <a:spcBef>
                <a:spcPts val="0"/>
              </a:spcBef>
            </a:pPr>
            <a:r>
              <a:rPr sz="1100" b="1" i="0">
                <a:solidFill>
                  <a:srgbClr val="223E55"/>
                </a:solidFill>
                <a:latin typeface="Segoe UI"/>
              </a:rPr>
              <a:t>6 546</a:t>
            </a:r>
            <a:r>
              <a:rPr sz="1100" b="0" i="0">
                <a:solidFill>
                  <a:srgbClr val="595959"/>
                </a:solidFill>
                <a:latin typeface="Segoe UI"/>
              </a:rPr>
              <a:t>   ± 457</a:t>
            </a:r>
          </a:p>
        </p:txBody>
      </p:sp>
      <p:sp>
        <p:nvSpPr>
          <p:cNvPr id="29" name="Rectangle 28"/>
          <p:cNvSpPr/>
          <p:nvPr/>
        </p:nvSpPr>
        <p:spPr>
          <a:xfrm>
            <a:off x="1938528" y="2465500"/>
            <a:ext cx="7515912" cy="144117"/>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594500" y="2531209"/>
            <a:ext cx="859940" cy="127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454440" y="2531209"/>
            <a:ext cx="859940" cy="1270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88150" y="2494324"/>
            <a:ext cx="12700" cy="8647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308031" y="2494324"/>
            <a:ext cx="12700" cy="8647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05821" y="2410636"/>
            <a:ext cx="1127506" cy="253845"/>
          </a:xfrm>
          <a:prstGeom prst="rect">
            <a:avLst/>
          </a:prstGeom>
          <a:noFill/>
        </p:spPr>
        <p:txBody>
          <a:bodyPr wrap="square" lIns="0" rIns="0" tIns="0" bIns="0" anchor="ctr">
            <a:spAutoFit/>
          </a:bodyPr>
          <a:lstStyle/>
          <a:p>
            <a:pPr algn="l">
              <a:spcBef>
                <a:spcPts val="0"/>
              </a:spcBef>
            </a:pPr>
            <a:r>
              <a:rPr sz="1100" b="1" i="0">
                <a:solidFill>
                  <a:srgbClr val="B10031"/>
                </a:solidFill>
                <a:latin typeface="Segoe UI"/>
              </a:rPr>
              <a:t>8 775</a:t>
            </a:r>
            <a:r>
              <a:rPr sz="1100" b="0" i="0">
                <a:solidFill>
                  <a:srgbClr val="595959"/>
                </a:solidFill>
                <a:latin typeface="Segoe UI"/>
              </a:rPr>
              <a:t>   ± 1 004</a:t>
            </a:r>
          </a:p>
        </p:txBody>
      </p:sp>
      <p:sp>
        <p:nvSpPr>
          <p:cNvPr id="35" name="TextBox 34"/>
          <p:cNvSpPr txBox="1"/>
          <p:nvPr/>
        </p:nvSpPr>
        <p:spPr>
          <a:xfrm>
            <a:off x="749808" y="2692908"/>
            <a:ext cx="1115568" cy="662940"/>
          </a:xfrm>
          <a:prstGeom prst="rect">
            <a:avLst/>
          </a:prstGeom>
          <a:noFill/>
        </p:spPr>
        <p:txBody>
          <a:bodyPr wrap="square" lIns="0" rIns="0" tIns="0" bIns="0" anchor="ctr">
            <a:spAutoFit/>
          </a:bodyPr>
          <a:lstStyle/>
          <a:p>
            <a:pPr algn="r">
              <a:spcBef>
                <a:spcPts val="0"/>
              </a:spcBef>
            </a:pPr>
            <a:r>
              <a:rPr sz="1200" b="1" i="0">
                <a:solidFill>
                  <a:srgbClr val="223E55"/>
                </a:solidFill>
                <a:latin typeface="Segoe UI"/>
              </a:rPr>
              <a:t>Détection</a:t>
            </a:r>
          </a:p>
        </p:txBody>
      </p:sp>
      <p:sp>
        <p:nvSpPr>
          <p:cNvPr id="36" name="Rectangle 35"/>
          <p:cNvSpPr/>
          <p:nvPr/>
        </p:nvSpPr>
        <p:spPr>
          <a:xfrm>
            <a:off x="1938528" y="2776197"/>
            <a:ext cx="1240232" cy="144117"/>
          </a:xfrm>
          <a:prstGeom prst="rect">
            <a:avLst/>
          </a:prstGeom>
          <a:solidFill>
            <a:srgbClr val="435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941506" y="2841906"/>
            <a:ext cx="237254" cy="127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178760" y="2841906"/>
            <a:ext cx="237254" cy="12700"/>
          </a:xfrm>
          <a:prstGeom prst="rect">
            <a:avLst/>
          </a:prstGeom>
          <a:solidFill>
            <a:srgbClr val="435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935156" y="2805021"/>
            <a:ext cx="12700" cy="8647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409665" y="2805021"/>
            <a:ext cx="12700" cy="86470"/>
          </a:xfrm>
          <a:prstGeom prst="rect">
            <a:avLst/>
          </a:prstGeom>
          <a:solidFill>
            <a:srgbClr val="435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07455" y="2721333"/>
            <a:ext cx="1127506" cy="253845"/>
          </a:xfrm>
          <a:prstGeom prst="rect">
            <a:avLst/>
          </a:prstGeom>
          <a:noFill/>
        </p:spPr>
        <p:txBody>
          <a:bodyPr wrap="square" lIns="0" rIns="0" tIns="0" bIns="0" anchor="ctr">
            <a:spAutoFit/>
          </a:bodyPr>
          <a:lstStyle/>
          <a:p>
            <a:pPr algn="l">
              <a:spcBef>
                <a:spcPts val="0"/>
              </a:spcBef>
            </a:pPr>
            <a:r>
              <a:rPr sz="1100" b="1" i="0">
                <a:solidFill>
                  <a:srgbClr val="435B6E"/>
                </a:solidFill>
                <a:latin typeface="Segoe UI"/>
              </a:rPr>
              <a:t>1 448</a:t>
            </a:r>
            <a:r>
              <a:rPr sz="1100" b="0" i="0">
                <a:solidFill>
                  <a:srgbClr val="595959"/>
                </a:solidFill>
                <a:latin typeface="Segoe UI"/>
              </a:rPr>
              <a:t>   ± 277</a:t>
            </a:r>
          </a:p>
        </p:txBody>
      </p:sp>
      <p:sp>
        <p:nvSpPr>
          <p:cNvPr id="42" name="Rectangle 41"/>
          <p:cNvSpPr/>
          <p:nvPr/>
        </p:nvSpPr>
        <p:spPr>
          <a:xfrm>
            <a:off x="1938528" y="2952319"/>
            <a:ext cx="2507873" cy="144117"/>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52617" y="3018027"/>
            <a:ext cx="293784" cy="127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446401" y="3018027"/>
            <a:ext cx="293784" cy="12700"/>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46267" y="2981142"/>
            <a:ext cx="12700" cy="8647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733836" y="2981142"/>
            <a:ext cx="12700" cy="86470"/>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831626" y="2897455"/>
            <a:ext cx="1127506" cy="253845"/>
          </a:xfrm>
          <a:prstGeom prst="rect">
            <a:avLst/>
          </a:prstGeom>
          <a:noFill/>
        </p:spPr>
        <p:txBody>
          <a:bodyPr wrap="square" lIns="0" rIns="0" tIns="0" bIns="0" anchor="ctr">
            <a:spAutoFit/>
          </a:bodyPr>
          <a:lstStyle/>
          <a:p>
            <a:pPr algn="l">
              <a:spcBef>
                <a:spcPts val="0"/>
              </a:spcBef>
            </a:pPr>
            <a:r>
              <a:rPr sz="1100" b="1" i="0">
                <a:solidFill>
                  <a:srgbClr val="223E55"/>
                </a:solidFill>
                <a:latin typeface="Segoe UI"/>
              </a:rPr>
              <a:t>2 928</a:t>
            </a:r>
            <a:r>
              <a:rPr sz="1100" b="0" i="0">
                <a:solidFill>
                  <a:srgbClr val="595959"/>
                </a:solidFill>
                <a:latin typeface="Segoe UI"/>
              </a:rPr>
              <a:t>   ± 343</a:t>
            </a:r>
          </a:p>
        </p:txBody>
      </p:sp>
      <p:sp>
        <p:nvSpPr>
          <p:cNvPr id="48" name="Rectangle 47"/>
          <p:cNvSpPr/>
          <p:nvPr/>
        </p:nvSpPr>
        <p:spPr>
          <a:xfrm>
            <a:off x="1938528" y="3128440"/>
            <a:ext cx="3907418" cy="144117"/>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144460" y="3194149"/>
            <a:ext cx="701485" cy="127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845946" y="3194149"/>
            <a:ext cx="701485" cy="1270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138110" y="3157264"/>
            <a:ext cx="12700" cy="8647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541081" y="3157264"/>
            <a:ext cx="12700" cy="8647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38871" y="3073576"/>
            <a:ext cx="1127506" cy="253845"/>
          </a:xfrm>
          <a:prstGeom prst="rect">
            <a:avLst/>
          </a:prstGeom>
          <a:noFill/>
        </p:spPr>
        <p:txBody>
          <a:bodyPr wrap="square" lIns="0" rIns="0" tIns="0" bIns="0" anchor="ctr">
            <a:spAutoFit/>
          </a:bodyPr>
          <a:lstStyle/>
          <a:p>
            <a:pPr algn="l">
              <a:spcBef>
                <a:spcPts val="0"/>
              </a:spcBef>
            </a:pPr>
            <a:r>
              <a:rPr sz="1100" b="1" i="0">
                <a:solidFill>
                  <a:srgbClr val="B10031"/>
                </a:solidFill>
                <a:latin typeface="Segoe UI"/>
              </a:rPr>
              <a:t>4 562</a:t>
            </a:r>
            <a:r>
              <a:rPr sz="1100" b="0" i="0">
                <a:solidFill>
                  <a:srgbClr val="595959"/>
                </a:solidFill>
                <a:latin typeface="Segoe UI"/>
              </a:rPr>
              <a:t>   ± 819</a:t>
            </a:r>
          </a:p>
        </p:txBody>
      </p:sp>
      <p:sp>
        <p:nvSpPr>
          <p:cNvPr id="54" name="TextBox 53"/>
          <p:cNvSpPr txBox="1"/>
          <p:nvPr/>
        </p:nvSpPr>
        <p:spPr>
          <a:xfrm>
            <a:off x="749808" y="3355848"/>
            <a:ext cx="1115568" cy="662940"/>
          </a:xfrm>
          <a:prstGeom prst="rect">
            <a:avLst/>
          </a:prstGeom>
          <a:noFill/>
        </p:spPr>
        <p:txBody>
          <a:bodyPr wrap="square" lIns="0" rIns="0" tIns="0" bIns="0" anchor="ctr">
            <a:spAutoFit/>
          </a:bodyPr>
          <a:lstStyle/>
          <a:p>
            <a:pPr algn="r">
              <a:spcBef>
                <a:spcPts val="0"/>
              </a:spcBef>
            </a:pPr>
            <a:r>
              <a:rPr sz="1200" b="1" i="0">
                <a:solidFill>
                  <a:srgbClr val="223E55"/>
                </a:solidFill>
                <a:latin typeface="Segoe UI"/>
              </a:rPr>
              <a:t>Propagation</a:t>
            </a:r>
          </a:p>
        </p:txBody>
      </p:sp>
      <p:sp>
        <p:nvSpPr>
          <p:cNvPr id="55" name="Rectangle 54"/>
          <p:cNvSpPr/>
          <p:nvPr/>
        </p:nvSpPr>
        <p:spPr>
          <a:xfrm>
            <a:off x="1938528" y="3439137"/>
            <a:ext cx="1398687" cy="144117"/>
          </a:xfrm>
          <a:prstGeom prst="rect">
            <a:avLst/>
          </a:prstGeom>
          <a:solidFill>
            <a:srgbClr val="435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176191" y="3504846"/>
            <a:ext cx="161024" cy="127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337215" y="3504846"/>
            <a:ext cx="161024" cy="12700"/>
          </a:xfrm>
          <a:prstGeom prst="rect">
            <a:avLst/>
          </a:prstGeom>
          <a:solidFill>
            <a:srgbClr val="435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3169841" y="3467961"/>
            <a:ext cx="12700" cy="8647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491890" y="3467961"/>
            <a:ext cx="12700" cy="86470"/>
          </a:xfrm>
          <a:prstGeom prst="rect">
            <a:avLst/>
          </a:prstGeom>
          <a:solidFill>
            <a:srgbClr val="435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589680" y="3384273"/>
            <a:ext cx="1127506" cy="253845"/>
          </a:xfrm>
          <a:prstGeom prst="rect">
            <a:avLst/>
          </a:prstGeom>
          <a:noFill/>
        </p:spPr>
        <p:txBody>
          <a:bodyPr wrap="square" lIns="0" rIns="0" tIns="0" bIns="0" anchor="ctr">
            <a:spAutoFit/>
          </a:bodyPr>
          <a:lstStyle/>
          <a:p>
            <a:pPr algn="l">
              <a:spcBef>
                <a:spcPts val="0"/>
              </a:spcBef>
            </a:pPr>
            <a:r>
              <a:rPr sz="1100" b="1" i="0">
                <a:solidFill>
                  <a:srgbClr val="435B6E"/>
                </a:solidFill>
                <a:latin typeface="Segoe UI"/>
              </a:rPr>
              <a:t>1 633</a:t>
            </a:r>
            <a:r>
              <a:rPr sz="1100" b="0" i="0">
                <a:solidFill>
                  <a:srgbClr val="595959"/>
                </a:solidFill>
                <a:latin typeface="Segoe UI"/>
              </a:rPr>
              <a:t>   ± 188</a:t>
            </a:r>
          </a:p>
        </p:txBody>
      </p:sp>
      <p:sp>
        <p:nvSpPr>
          <p:cNvPr id="61" name="Rectangle 60"/>
          <p:cNvSpPr/>
          <p:nvPr/>
        </p:nvSpPr>
        <p:spPr>
          <a:xfrm>
            <a:off x="1938528" y="3615259"/>
            <a:ext cx="1788401" cy="144117"/>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3596739" y="3680967"/>
            <a:ext cx="130190" cy="127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726929" y="3680967"/>
            <a:ext cx="130190" cy="12700"/>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590389" y="3644082"/>
            <a:ext cx="12700" cy="8647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3850769" y="3644082"/>
            <a:ext cx="12700" cy="86470"/>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948559" y="3560395"/>
            <a:ext cx="1127506" cy="253845"/>
          </a:xfrm>
          <a:prstGeom prst="rect">
            <a:avLst/>
          </a:prstGeom>
          <a:noFill/>
        </p:spPr>
        <p:txBody>
          <a:bodyPr wrap="square" lIns="0" rIns="0" tIns="0" bIns="0" anchor="ctr">
            <a:spAutoFit/>
          </a:bodyPr>
          <a:lstStyle/>
          <a:p>
            <a:pPr algn="l">
              <a:spcBef>
                <a:spcPts val="0"/>
              </a:spcBef>
            </a:pPr>
            <a:r>
              <a:rPr sz="1100" b="1" i="0">
                <a:solidFill>
                  <a:srgbClr val="223E55"/>
                </a:solidFill>
                <a:latin typeface="Segoe UI"/>
              </a:rPr>
              <a:t>2 088</a:t>
            </a:r>
            <a:r>
              <a:rPr sz="1100" b="0" i="0">
                <a:solidFill>
                  <a:srgbClr val="595959"/>
                </a:solidFill>
                <a:latin typeface="Segoe UI"/>
              </a:rPr>
              <a:t>   ± 152</a:t>
            </a:r>
          </a:p>
        </p:txBody>
      </p:sp>
      <p:sp>
        <p:nvSpPr>
          <p:cNvPr id="67" name="Rectangle 66"/>
          <p:cNvSpPr/>
          <p:nvPr/>
        </p:nvSpPr>
        <p:spPr>
          <a:xfrm>
            <a:off x="1938528" y="3791380"/>
            <a:ext cx="2057347" cy="144117"/>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617295" y="3857089"/>
            <a:ext cx="378579" cy="127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3995875" y="3857089"/>
            <a:ext cx="378579" cy="1270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3610945" y="3820204"/>
            <a:ext cx="12700" cy="8647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368104" y="3820204"/>
            <a:ext cx="12700" cy="8647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465894" y="3736516"/>
            <a:ext cx="1127506" cy="253845"/>
          </a:xfrm>
          <a:prstGeom prst="rect">
            <a:avLst/>
          </a:prstGeom>
          <a:noFill/>
        </p:spPr>
        <p:txBody>
          <a:bodyPr wrap="square" lIns="0" rIns="0" tIns="0" bIns="0" anchor="ctr">
            <a:spAutoFit/>
          </a:bodyPr>
          <a:lstStyle/>
          <a:p>
            <a:pPr algn="l">
              <a:spcBef>
                <a:spcPts val="0"/>
              </a:spcBef>
            </a:pPr>
            <a:r>
              <a:rPr sz="1100" b="1" i="0">
                <a:solidFill>
                  <a:srgbClr val="B10031"/>
                </a:solidFill>
                <a:latin typeface="Segoe UI"/>
              </a:rPr>
              <a:t>2 402</a:t>
            </a:r>
            <a:r>
              <a:rPr sz="1100" b="0" i="0">
                <a:solidFill>
                  <a:srgbClr val="595959"/>
                </a:solidFill>
                <a:latin typeface="Segoe UI"/>
              </a:rPr>
              <a:t>   ± 442</a:t>
            </a:r>
          </a:p>
        </p:txBody>
      </p:sp>
      <p:sp>
        <p:nvSpPr>
          <p:cNvPr id="73" name="TextBox 72"/>
          <p:cNvSpPr txBox="1"/>
          <p:nvPr/>
        </p:nvSpPr>
        <p:spPr>
          <a:xfrm>
            <a:off x="749808" y="4018788"/>
            <a:ext cx="1115568" cy="662940"/>
          </a:xfrm>
          <a:prstGeom prst="rect">
            <a:avLst/>
          </a:prstGeom>
          <a:noFill/>
        </p:spPr>
        <p:txBody>
          <a:bodyPr wrap="square" lIns="0" rIns="0" tIns="0" bIns="0" anchor="ctr">
            <a:spAutoFit/>
          </a:bodyPr>
          <a:lstStyle/>
          <a:p>
            <a:pPr algn="r">
              <a:spcBef>
                <a:spcPts val="0"/>
              </a:spcBef>
            </a:pPr>
            <a:r>
              <a:rPr sz="1200" b="1" i="0">
                <a:solidFill>
                  <a:srgbClr val="223E55"/>
                </a:solidFill>
                <a:latin typeface="Segoe UI"/>
              </a:rPr>
              <a:t>Accumulation</a:t>
            </a:r>
          </a:p>
        </p:txBody>
      </p:sp>
      <p:sp>
        <p:nvSpPr>
          <p:cNvPr id="74" name="Rectangle 73"/>
          <p:cNvSpPr/>
          <p:nvPr/>
        </p:nvSpPr>
        <p:spPr>
          <a:xfrm>
            <a:off x="1938528" y="4102077"/>
            <a:ext cx="1480056" cy="144117"/>
          </a:xfrm>
          <a:prstGeom prst="rect">
            <a:avLst/>
          </a:prstGeom>
          <a:solidFill>
            <a:srgbClr val="435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3238716" y="4167786"/>
            <a:ext cx="179867" cy="127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3418584" y="4167786"/>
            <a:ext cx="179867" cy="12700"/>
          </a:xfrm>
          <a:prstGeom prst="rect">
            <a:avLst/>
          </a:prstGeom>
          <a:solidFill>
            <a:srgbClr val="435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232366" y="4130901"/>
            <a:ext cx="12700" cy="8647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3592102" y="4130901"/>
            <a:ext cx="12700" cy="86470"/>
          </a:xfrm>
          <a:prstGeom prst="rect">
            <a:avLst/>
          </a:prstGeom>
          <a:solidFill>
            <a:srgbClr val="435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689892" y="4047213"/>
            <a:ext cx="1127506" cy="253845"/>
          </a:xfrm>
          <a:prstGeom prst="rect">
            <a:avLst/>
          </a:prstGeom>
          <a:noFill/>
        </p:spPr>
        <p:txBody>
          <a:bodyPr wrap="square" lIns="0" rIns="0" tIns="0" bIns="0" anchor="ctr">
            <a:spAutoFit/>
          </a:bodyPr>
          <a:lstStyle/>
          <a:p>
            <a:pPr algn="l">
              <a:spcBef>
                <a:spcPts val="0"/>
              </a:spcBef>
            </a:pPr>
            <a:r>
              <a:rPr sz="1100" b="1" i="0">
                <a:solidFill>
                  <a:srgbClr val="435B6E"/>
                </a:solidFill>
                <a:latin typeface="Segoe UI"/>
              </a:rPr>
              <a:t>1 728</a:t>
            </a:r>
            <a:r>
              <a:rPr sz="1100" b="0" i="0">
                <a:solidFill>
                  <a:srgbClr val="595959"/>
                </a:solidFill>
                <a:latin typeface="Segoe UI"/>
              </a:rPr>
              <a:t>   ± 210</a:t>
            </a:r>
          </a:p>
        </p:txBody>
      </p:sp>
      <p:sp>
        <p:nvSpPr>
          <p:cNvPr id="80" name="Rectangle 79"/>
          <p:cNvSpPr/>
          <p:nvPr/>
        </p:nvSpPr>
        <p:spPr>
          <a:xfrm>
            <a:off x="1938528" y="4278199"/>
            <a:ext cx="2206380" cy="144117"/>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954762" y="4343908"/>
            <a:ext cx="190146" cy="127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144908" y="4343908"/>
            <a:ext cx="190146" cy="12700"/>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948412" y="4307022"/>
            <a:ext cx="12700" cy="8647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328704" y="4307022"/>
            <a:ext cx="12700" cy="86470"/>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426494" y="4223335"/>
            <a:ext cx="1127506" cy="253845"/>
          </a:xfrm>
          <a:prstGeom prst="rect">
            <a:avLst/>
          </a:prstGeom>
          <a:noFill/>
        </p:spPr>
        <p:txBody>
          <a:bodyPr wrap="square" lIns="0" rIns="0" tIns="0" bIns="0" anchor="ctr">
            <a:spAutoFit/>
          </a:bodyPr>
          <a:lstStyle/>
          <a:p>
            <a:pPr algn="l">
              <a:spcBef>
                <a:spcPts val="0"/>
              </a:spcBef>
            </a:pPr>
            <a:r>
              <a:rPr sz="1100" b="1" i="0">
                <a:solidFill>
                  <a:srgbClr val="223E55"/>
                </a:solidFill>
                <a:latin typeface="Segoe UI"/>
              </a:rPr>
              <a:t>2 576</a:t>
            </a:r>
            <a:r>
              <a:rPr sz="1100" b="0" i="0">
                <a:solidFill>
                  <a:srgbClr val="595959"/>
                </a:solidFill>
                <a:latin typeface="Segoe UI"/>
              </a:rPr>
              <a:t>   ± 222</a:t>
            </a:r>
          </a:p>
        </p:txBody>
      </p:sp>
      <p:sp>
        <p:nvSpPr>
          <p:cNvPr id="86" name="Rectangle 85"/>
          <p:cNvSpPr/>
          <p:nvPr/>
        </p:nvSpPr>
        <p:spPr>
          <a:xfrm>
            <a:off x="1938528" y="4454320"/>
            <a:ext cx="2913861" cy="144117"/>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4430127" y="4520029"/>
            <a:ext cx="422261" cy="127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4852389" y="4520029"/>
            <a:ext cx="422261" cy="1270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4423777" y="4483144"/>
            <a:ext cx="12700" cy="8647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5268301" y="4483144"/>
            <a:ext cx="12700" cy="8647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5366091" y="4399456"/>
            <a:ext cx="1127506" cy="253845"/>
          </a:xfrm>
          <a:prstGeom prst="rect">
            <a:avLst/>
          </a:prstGeom>
          <a:noFill/>
        </p:spPr>
        <p:txBody>
          <a:bodyPr wrap="square" lIns="0" rIns="0" tIns="0" bIns="0" anchor="ctr">
            <a:spAutoFit/>
          </a:bodyPr>
          <a:lstStyle/>
          <a:p>
            <a:pPr algn="l">
              <a:spcBef>
                <a:spcPts val="0"/>
              </a:spcBef>
            </a:pPr>
            <a:r>
              <a:rPr sz="1100" b="1" i="0">
                <a:solidFill>
                  <a:srgbClr val="B10031"/>
                </a:solidFill>
                <a:latin typeface="Segoe UI"/>
              </a:rPr>
              <a:t>3 402</a:t>
            </a:r>
            <a:r>
              <a:rPr sz="1100" b="0" i="0">
                <a:solidFill>
                  <a:srgbClr val="595959"/>
                </a:solidFill>
                <a:latin typeface="Segoe UI"/>
              </a:rPr>
              <a:t>   ± 493</a:t>
            </a:r>
          </a:p>
        </p:txBody>
      </p:sp>
      <p:sp>
        <p:nvSpPr>
          <p:cNvPr id="92" name="Rectangle 91"/>
          <p:cNvSpPr/>
          <p:nvPr/>
        </p:nvSpPr>
        <p:spPr>
          <a:xfrm>
            <a:off x="1925828" y="2029968"/>
            <a:ext cx="12700" cy="265176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938528" y="4709160"/>
            <a:ext cx="2743200" cy="182880"/>
          </a:xfrm>
          <a:prstGeom prst="rect">
            <a:avLst/>
          </a:prstGeom>
          <a:noFill/>
        </p:spPr>
        <p:txBody>
          <a:bodyPr wrap="square" lIns="0" rIns="0" tIns="0" bIns="0" anchor="ctr">
            <a:spAutoFit/>
          </a:bodyPr>
          <a:lstStyle/>
          <a:p>
            <a:pPr algn="l">
              <a:spcBef>
                <a:spcPts val="0"/>
              </a:spcBef>
            </a:pPr>
            <a:r>
              <a:rPr sz="1000" b="0" i="1">
                <a:solidFill>
                  <a:srgbClr val="A5A5A5"/>
                </a:solidFill>
                <a:latin typeface="Segoe UI"/>
              </a:rPr>
              <a:t>capital en jeu, en M€</a:t>
            </a:r>
          </a:p>
        </p:txBody>
      </p:sp>
      <p:sp>
        <p:nvSpPr>
          <p:cNvPr id="94" name="Rectangle 93"/>
          <p:cNvSpPr/>
          <p:nvPr/>
        </p:nvSpPr>
        <p:spPr>
          <a:xfrm>
            <a:off x="749808" y="5102352"/>
            <a:ext cx="3417722" cy="530352"/>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pPr>
            <a:r>
              <a:rPr sz="1400" b="0" i="0">
                <a:solidFill>
                  <a:srgbClr val="595959"/>
                </a:solidFill>
                <a:latin typeface="Segoe UI"/>
              </a:rPr>
              <a:t>Canaux isolés   </a:t>
            </a:r>
            <a:r>
              <a:rPr sz="1400" b="1" i="0">
                <a:solidFill>
                  <a:srgbClr val="B10031"/>
                </a:solidFill>
                <a:latin typeface="Segoe UI"/>
              </a:rPr>
              <a:t>9 138 M€</a:t>
            </a:r>
          </a:p>
        </p:txBody>
      </p:sp>
      <p:sp>
        <p:nvSpPr>
          <p:cNvPr id="95" name="Rectangle 94"/>
          <p:cNvSpPr/>
          <p:nvPr/>
        </p:nvSpPr>
        <p:spPr>
          <a:xfrm>
            <a:off x="4386986" y="5102352"/>
            <a:ext cx="3417722" cy="530352"/>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pPr>
            <a:r>
              <a:rPr sz="1400" b="0" i="0">
                <a:solidFill>
                  <a:srgbClr val="595959"/>
                </a:solidFill>
                <a:latin typeface="Segoe UI"/>
              </a:rPr>
              <a:t>Écart total   </a:t>
            </a:r>
            <a:r>
              <a:rPr sz="1400" b="1" i="0">
                <a:solidFill>
                  <a:srgbClr val="B10031"/>
                </a:solidFill>
                <a:latin typeface="Segoe UI"/>
              </a:rPr>
              <a:t>14 139 M€</a:t>
            </a:r>
          </a:p>
        </p:txBody>
      </p:sp>
      <p:sp>
        <p:nvSpPr>
          <p:cNvPr id="96" name="Rectangle 95"/>
          <p:cNvSpPr/>
          <p:nvPr/>
        </p:nvSpPr>
        <p:spPr>
          <a:xfrm>
            <a:off x="8024164" y="5102352"/>
            <a:ext cx="3417722" cy="530352"/>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pPr>
            <a:r>
              <a:rPr sz="1400" b="0" i="0">
                <a:solidFill>
                  <a:srgbClr val="595959"/>
                </a:solidFill>
                <a:latin typeface="Segoe UI"/>
              </a:rPr>
              <a:t>Interaction   </a:t>
            </a:r>
            <a:r>
              <a:rPr sz="1400" b="1" i="0">
                <a:solidFill>
                  <a:srgbClr val="B10031"/>
                </a:solidFill>
                <a:latin typeface="Segoe UI"/>
              </a:rPr>
              <a:t>5 001 M€, soit 35 %</a:t>
            </a:r>
          </a:p>
        </p:txBody>
      </p:sp>
      <p:sp>
        <p:nvSpPr>
          <p:cNvPr id="97" name="Rectangle 96"/>
          <p:cNvSpPr/>
          <p:nvPr/>
        </p:nvSpPr>
        <p:spPr>
          <a:xfrm>
            <a:off x="566928" y="5788152"/>
            <a:ext cx="11057839"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566928" y="5788152"/>
            <a:ext cx="76200" cy="54864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04672" y="5907024"/>
            <a:ext cx="10783519" cy="402336"/>
          </a:xfrm>
          <a:prstGeom prst="rect">
            <a:avLst/>
          </a:prstGeom>
          <a:noFill/>
        </p:spPr>
        <p:txBody>
          <a:bodyPr wrap="square" lIns="0" rIns="0" tIns="0" bIns="0">
            <a:spAutoFit/>
          </a:bodyPr>
          <a:lstStyle/>
          <a:p>
            <a:pPr algn="l">
              <a:spcBef>
                <a:spcPts val="0"/>
              </a:spcBef>
            </a:pPr>
            <a:r>
              <a:rPr sz="1400" b="1" i="0">
                <a:solidFill>
                  <a:srgbClr val="B10031"/>
                </a:solidFill>
                <a:latin typeface="Segoe UI"/>
              </a:rPr>
              <a:t>Message clé   </a:t>
            </a:r>
            <a:r>
              <a:rPr sz="1400" b="0" i="0">
                <a:solidFill>
                  <a:srgbClr val="595959"/>
                </a:solidFill>
                <a:latin typeface="Segoe UI"/>
              </a:rPr>
              <a:t>remédier un canal rapporte davantage à une entité défaillante partout : c'est la lecture de fermeture qu'un plan doit citer.</a:t>
            </a:r>
          </a:p>
        </p:txBody>
      </p:sp>
      <p:sp>
        <p:nvSpPr>
          <p:cNvPr id="100" name="TextBox 99"/>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10 ; les douze valeurs et leur bruit sont lus dans la sortie versionnée du script 68 ; repères du script 43.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12</a:t>
            </a:r>
          </a:p>
        </p:txBody>
      </p:sp>
      <p:sp>
        <p:nvSpPr>
          <p:cNvPr id="7" name="TextBox 6"/>
          <p:cNvSpPr txBox="1"/>
          <p:nvPr/>
        </p:nvSpPr>
        <p:spPr>
          <a:xfrm>
            <a:off x="749808" y="292608"/>
            <a:ext cx="8954719" cy="530352"/>
          </a:xfrm>
          <a:prstGeom prst="rect">
            <a:avLst/>
          </a:prstGeom>
          <a:noFill/>
        </p:spPr>
        <p:txBody>
          <a:bodyPr wrap="square" lIns="0" rIns="0" tIns="0" bIns="0">
            <a:spAutoFit/>
          </a:bodyPr>
          <a:lstStyle/>
          <a:p>
            <a:pPr algn="l">
              <a:spcBef>
                <a:spcPts val="0"/>
              </a:spcBef>
            </a:pPr>
            <a:r>
              <a:rPr sz="2400" b="1" i="0">
                <a:solidFill>
                  <a:srgbClr val="223E55"/>
                </a:solidFill>
                <a:latin typeface="Georgia"/>
              </a:rPr>
              <a:t>Le pilier des tiers concentre, il ne propage pas seulement</a:t>
            </a:r>
          </a:p>
        </p:txBody>
      </p:sp>
      <p:sp>
        <p:nvSpPr>
          <p:cNvPr id="8" name="TextBox 7"/>
          <p:cNvSpPr txBox="1"/>
          <p:nvPr/>
        </p:nvSpPr>
        <p:spPr>
          <a:xfrm>
            <a:off x="749808" y="804672"/>
            <a:ext cx="8954719" cy="384048"/>
          </a:xfrm>
          <a:prstGeom prst="rect">
            <a:avLst/>
          </a:prstGeom>
          <a:noFill/>
        </p:spPr>
        <p:txBody>
          <a:bodyPr wrap="square" lIns="0" rIns="0" tIns="0" bIns="0">
            <a:spAutoFit/>
          </a:bodyPr>
          <a:lstStyle/>
          <a:p>
            <a:pPr algn="l">
              <a:spcBef>
                <a:spcPts val="0"/>
              </a:spcBef>
            </a:pPr>
            <a:r>
              <a:rPr sz="1800" b="1" i="0">
                <a:solidFill>
                  <a:srgbClr val="B10031"/>
                </a:solidFill>
                <a:latin typeface="Georgia"/>
              </a:rPr>
              <a:t>Contagion et accumulation sont deux mécanismes distincts</a:t>
            </a:r>
          </a:p>
        </p:txBody>
      </p:sp>
      <p:pic>
        <p:nvPicPr>
          <p:cNvPr id="9" name="Picture 8" descr="Z9_p4_accumulation.png"/>
          <p:cNvPicPr>
            <a:picLocks noChangeAspect="1"/>
          </p:cNvPicPr>
          <p:nvPr/>
        </p:nvPicPr>
        <p:blipFill>
          <a:blip r:embed="rId3"/>
          <a:stretch>
            <a:fillRect/>
          </a:stretch>
        </p:blipFill>
        <p:spPr>
          <a:xfrm>
            <a:off x="1451376" y="1389888"/>
            <a:ext cx="9288943" cy="3456432"/>
          </a:xfrm>
          <a:prstGeom prst="rect">
            <a:avLst/>
          </a:prstGeom>
        </p:spPr>
      </p:pic>
      <p:sp>
        <p:nvSpPr>
          <p:cNvPr id="10" name="TextBox 9"/>
          <p:cNvSpPr txBox="1"/>
          <p:nvPr/>
        </p:nvSpPr>
        <p:spPr>
          <a:xfrm>
            <a:off x="749808" y="5074920"/>
            <a:ext cx="10692079" cy="640080"/>
          </a:xfrm>
          <a:prstGeom prst="rect">
            <a:avLst/>
          </a:prstGeom>
          <a:noFill/>
        </p:spPr>
        <p:txBody>
          <a:bodyPr wrap="square" lIns="0" rIns="0" tIns="0" bIns="0">
            <a:spAutoFit/>
          </a:bodyPr>
          <a:lstStyle/>
          <a:p>
            <a:pPr algn="l">
              <a:spcBef>
                <a:spcPts val="0"/>
              </a:spcBef>
            </a:pPr>
            <a:r>
              <a:rPr sz="1400" b="0" i="0">
                <a:solidFill>
                  <a:srgbClr val="122738"/>
                </a:solidFill>
                <a:latin typeface="Segoe UI"/>
              </a:rPr>
              <a:t>Un prestataire commun crée un choc partagé entre entités : ce n'est plus de la contagion d'un pilier vers un autre dans une même entité, c'est de l'accumulation.</a:t>
            </a:r>
          </a:p>
        </p:txBody>
      </p:sp>
      <p:sp>
        <p:nvSpPr>
          <p:cNvPr id="11" name="Rectangle 10"/>
          <p:cNvSpPr/>
          <p:nvPr/>
        </p:nvSpPr>
        <p:spPr>
          <a:xfrm>
            <a:off x="566928" y="5788152"/>
            <a:ext cx="11057839"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5788152"/>
            <a:ext cx="76200" cy="54864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907024"/>
            <a:ext cx="10783519" cy="402336"/>
          </a:xfrm>
          <a:prstGeom prst="rect">
            <a:avLst/>
          </a:prstGeom>
          <a:noFill/>
        </p:spPr>
        <p:txBody>
          <a:bodyPr wrap="square" lIns="0" rIns="0" tIns="0" bIns="0">
            <a:spAutoFit/>
          </a:bodyPr>
          <a:lstStyle/>
          <a:p>
            <a:pPr algn="l">
              <a:spcBef>
                <a:spcPts val="0"/>
              </a:spcBef>
            </a:pPr>
            <a:r>
              <a:rPr sz="1400" b="1" i="0">
                <a:solidFill>
                  <a:srgbClr val="B10031"/>
                </a:solidFill>
                <a:latin typeface="Segoe UI"/>
              </a:rPr>
              <a:t>Message clé   </a:t>
            </a:r>
            <a:r>
              <a:rPr sz="1400" b="0" i="0">
                <a:solidFill>
                  <a:srgbClr val="595959"/>
                </a:solidFill>
                <a:latin typeface="Segoe UI"/>
              </a:rPr>
              <a:t>c'est exactement ce que DORA demande de cartographier : la dépendance à des prestataires TIC critiques.</a:t>
            </a:r>
          </a:p>
        </p:txBody>
      </p:sp>
      <p:sp>
        <p:nvSpPr>
          <p:cNvPr id="14" name="TextBox 13"/>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annexe C (adaptations par pilier) ; script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13</a:t>
            </a:r>
          </a:p>
        </p:txBody>
      </p:sp>
      <p:sp>
        <p:nvSpPr>
          <p:cNvPr id="7" name="TextBox 6"/>
          <p:cNvSpPr txBox="1"/>
          <p:nvPr/>
        </p:nvSpPr>
        <p:spPr>
          <a:xfrm>
            <a:off x="749808" y="292608"/>
            <a:ext cx="8954719" cy="530352"/>
          </a:xfrm>
          <a:prstGeom prst="rect">
            <a:avLst/>
          </a:prstGeom>
          <a:noFill/>
        </p:spPr>
        <p:txBody>
          <a:bodyPr wrap="square" lIns="0" rIns="0" tIns="0" bIns="0">
            <a:spAutoFit/>
          </a:bodyPr>
          <a:lstStyle/>
          <a:p>
            <a:pPr algn="l">
              <a:spcBef>
                <a:spcPts val="0"/>
              </a:spcBef>
            </a:pPr>
            <a:r>
              <a:rPr sz="2400" b="1" i="0">
                <a:solidFill>
                  <a:srgbClr val="223E55"/>
                </a:solidFill>
                <a:latin typeface="Georgia"/>
              </a:rPr>
              <a:t>La donnée manquante devient une exigence de reporting</a:t>
            </a:r>
          </a:p>
        </p:txBody>
      </p:sp>
      <p:sp>
        <p:nvSpPr>
          <p:cNvPr id="8" name="TextBox 7"/>
          <p:cNvSpPr txBox="1"/>
          <p:nvPr/>
        </p:nvSpPr>
        <p:spPr>
          <a:xfrm>
            <a:off x="749808" y="804672"/>
            <a:ext cx="8954719" cy="384048"/>
          </a:xfrm>
          <a:prstGeom prst="rect">
            <a:avLst/>
          </a:prstGeom>
          <a:noFill/>
        </p:spPr>
        <p:txBody>
          <a:bodyPr wrap="square" lIns="0" rIns="0" tIns="0" bIns="0">
            <a:spAutoFit/>
          </a:bodyPr>
          <a:lstStyle/>
          <a:p>
            <a:pPr algn="l">
              <a:spcBef>
                <a:spcPts val="0"/>
              </a:spcBef>
            </a:pPr>
            <a:r>
              <a:rPr sz="1800" b="1" i="0">
                <a:solidFill>
                  <a:srgbClr val="B10031"/>
                </a:solidFill>
                <a:latin typeface="Georgia"/>
              </a:rPr>
              <a:t>Le registre d'incidents comme instrument de capital</a:t>
            </a:r>
          </a:p>
        </p:txBody>
      </p:sp>
      <p:pic>
        <p:nvPicPr>
          <p:cNvPr id="9" name="Picture 8" descr="Z18_valeur_information.png"/>
          <p:cNvPicPr>
            <a:picLocks noChangeAspect="1"/>
          </p:cNvPicPr>
          <p:nvPr/>
        </p:nvPicPr>
        <p:blipFill>
          <a:blip r:embed="rId3"/>
          <a:stretch>
            <a:fillRect/>
          </a:stretch>
        </p:blipFill>
        <p:spPr>
          <a:xfrm>
            <a:off x="749808" y="1758774"/>
            <a:ext cx="5126583" cy="3550763"/>
          </a:xfrm>
          <a:prstGeom prst="rect">
            <a:avLst/>
          </a:prstGeom>
        </p:spPr>
      </p:pic>
      <p:cxnSp>
        <p:nvCxnSpPr>
          <p:cNvPr id="10" name="Connector 9"/>
          <p:cNvCxnSpPr/>
          <p:nvPr/>
        </p:nvCxnSpPr>
        <p:spPr>
          <a:xfrm>
            <a:off x="6095847" y="1335024"/>
            <a:ext cx="0" cy="4288536"/>
          </a:xfrm>
          <a:prstGeom prst="line">
            <a:avLst/>
          </a:prstGeom>
          <a:ln w="15875">
            <a:solidFill>
              <a:srgbClr val="9DC3C8"/>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351879" y="1618488"/>
            <a:ext cx="5090007" cy="310896"/>
          </a:xfrm>
          <a:prstGeom prst="rect">
            <a:avLst/>
          </a:prstGeom>
          <a:noFill/>
        </p:spPr>
        <p:txBody>
          <a:bodyPr wrap="square" lIns="0" rIns="0" tIns="0" bIns="0">
            <a:spAutoFit/>
          </a:bodyPr>
          <a:lstStyle/>
          <a:p>
            <a:pPr algn="l">
              <a:spcBef>
                <a:spcPts val="0"/>
              </a:spcBef>
            </a:pPr>
            <a:r>
              <a:rPr sz="1500" b="1" i="0">
                <a:solidFill>
                  <a:srgbClr val="B10031"/>
                </a:solidFill>
                <a:latin typeface="Segoe UI"/>
              </a:rPr>
              <a:t>① </a:t>
            </a:r>
            <a:r>
              <a:rPr sz="1500" b="1" i="0">
                <a:solidFill>
                  <a:srgbClr val="223E55"/>
                </a:solidFill>
                <a:latin typeface="Segoe UI"/>
              </a:rPr>
              <a:t>Quatre champs, hiérarchisés par ce qu'ils resserrent</a:t>
            </a:r>
          </a:p>
        </p:txBody>
      </p:sp>
      <p:sp>
        <p:nvSpPr>
          <p:cNvPr id="12" name="TextBox 11"/>
          <p:cNvSpPr txBox="1"/>
          <p:nvPr/>
        </p:nvSpPr>
        <p:spPr>
          <a:xfrm>
            <a:off x="6351879" y="1947672"/>
            <a:ext cx="5090007" cy="3703320"/>
          </a:xfrm>
          <a:prstGeom prst="rect">
            <a:avLst/>
          </a:prstGeom>
          <a:noFill/>
        </p:spPr>
        <p:txBody>
          <a:bodyPr wrap="square" lIns="0" rIns="0" tIns="0" bIns="0">
            <a:spAutoFit/>
          </a:bodyPr>
          <a:lstStyle/>
          <a:p>
            <a:pPr algn="l">
              <a:spcBef>
                <a:spcPts val="0"/>
              </a:spcBef>
            </a:pPr>
            <a:r>
              <a:rPr sz="1500" b="1" i="0">
                <a:solidFill>
                  <a:srgbClr val="B10031"/>
                </a:solidFill>
                <a:latin typeface="Segoe UI"/>
              </a:rPr>
              <a:t>Horodatage des incidents</a:t>
            </a:r>
          </a:p>
          <a:p>
            <a:pPr algn="l">
              <a:spcBef>
                <a:spcPts val="1300"/>
              </a:spcBef>
            </a:pPr>
            <a:r>
              <a:rPr sz="1500" b="1" i="0">
                <a:solidFill>
                  <a:srgbClr val="B10031"/>
                </a:solidFill>
                <a:latin typeface="Segoe UI"/>
              </a:rPr>
              <a:t>Domaine de contrôle touché</a:t>
            </a:r>
          </a:p>
          <a:p>
            <a:pPr algn="l">
              <a:spcBef>
                <a:spcPts val="1300"/>
              </a:spcBef>
            </a:pPr>
            <a:r>
              <a:rPr sz="1500" b="1" i="0">
                <a:solidFill>
                  <a:srgbClr val="B10031"/>
                </a:solidFill>
                <a:latin typeface="Segoe UI"/>
              </a:rPr>
              <a:t>Cause commune consolidée</a:t>
            </a:r>
          </a:p>
          <a:p>
            <a:pPr algn="l">
              <a:spcBef>
                <a:spcPts val="1300"/>
              </a:spcBef>
            </a:pPr>
            <a:r>
              <a:rPr sz="1500" b="1" i="0">
                <a:solidFill>
                  <a:srgbClr val="B10031"/>
                </a:solidFill>
                <a:latin typeface="Segoe UI"/>
              </a:rPr>
              <a:t>Champs renseignés obligatoires</a:t>
            </a:r>
          </a:p>
          <a:p>
            <a:pPr algn="l">
              <a:spcBef>
                <a:spcPts val="1300"/>
              </a:spcBef>
            </a:pPr>
            <a:r>
              <a:rPr sz="1400" b="0" i="0">
                <a:solidFill>
                  <a:srgbClr val="595959"/>
                </a:solidFill>
                <a:latin typeface="Segoe UI"/>
              </a:rPr>
              <a:t>Le modèle ne dit pas seulement qu'il manque une donnée : il dit laquelle, et ce qu'elle rapporte en resserrement de bande.</a:t>
            </a:r>
          </a:p>
        </p:txBody>
      </p:sp>
      <p:sp>
        <p:nvSpPr>
          <p:cNvPr id="13" name="Rectangle 12"/>
          <p:cNvSpPr/>
          <p:nvPr/>
        </p:nvSpPr>
        <p:spPr>
          <a:xfrm>
            <a:off x="566928" y="5788152"/>
            <a:ext cx="11057839"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5788152"/>
            <a:ext cx="76200" cy="54864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907024"/>
            <a:ext cx="10783519" cy="402336"/>
          </a:xfrm>
          <a:prstGeom prst="rect">
            <a:avLst/>
          </a:prstGeom>
          <a:noFill/>
        </p:spPr>
        <p:txBody>
          <a:bodyPr wrap="square" lIns="0" rIns="0" tIns="0" bIns="0">
            <a:spAutoFit/>
          </a:bodyPr>
          <a:lstStyle/>
          <a:p>
            <a:pPr algn="l">
              <a:spcBef>
                <a:spcPts val="0"/>
              </a:spcBef>
            </a:pPr>
            <a:r>
              <a:rPr sz="1400" b="1" i="0">
                <a:solidFill>
                  <a:srgbClr val="B10031"/>
                </a:solidFill>
                <a:latin typeface="Segoe UI"/>
              </a:rPr>
              <a:t>Message clé   </a:t>
            </a:r>
            <a:r>
              <a:rPr sz="1400" b="0" i="0">
                <a:solidFill>
                  <a:srgbClr val="595959"/>
                </a:solidFill>
                <a:latin typeface="Segoe UI"/>
              </a:rPr>
              <a:t>chaque champ renseigné resserre la bande, et la limite de données devient un livrable.</a:t>
            </a:r>
          </a:p>
        </p:txBody>
      </p:sp>
      <p:sp>
        <p:nvSpPr>
          <p:cNvPr id="16" name="TextBox 15"/>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12 ; script 55.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14</a:t>
            </a:r>
          </a:p>
        </p:txBody>
      </p:sp>
      <p:sp>
        <p:nvSpPr>
          <p:cNvPr id="7" name="TextBox 6"/>
          <p:cNvSpPr txBox="1"/>
          <p:nvPr/>
        </p:nvSpPr>
        <p:spPr>
          <a:xfrm>
            <a:off x="749808" y="292608"/>
            <a:ext cx="8954719" cy="530352"/>
          </a:xfrm>
          <a:prstGeom prst="rect">
            <a:avLst/>
          </a:prstGeom>
          <a:noFill/>
        </p:spPr>
        <p:txBody>
          <a:bodyPr wrap="square" lIns="0" rIns="0" tIns="0" bIns="0">
            <a:spAutoFit/>
          </a:bodyPr>
          <a:lstStyle/>
          <a:p>
            <a:pPr algn="l">
              <a:spcBef>
                <a:spcPts val="0"/>
              </a:spcBef>
            </a:pPr>
            <a:r>
              <a:rPr sz="2500" b="1" i="0">
                <a:solidFill>
                  <a:srgbClr val="223E55"/>
                </a:solidFill>
                <a:latin typeface="Georgia"/>
              </a:rPr>
              <a:t>Trois décisions, et une confusion à ne pas commettre</a:t>
            </a:r>
          </a:p>
        </p:txBody>
      </p:sp>
      <p:sp>
        <p:nvSpPr>
          <p:cNvPr id="8" name="TextBox 7"/>
          <p:cNvSpPr txBox="1"/>
          <p:nvPr/>
        </p:nvSpPr>
        <p:spPr>
          <a:xfrm>
            <a:off x="749808" y="804672"/>
            <a:ext cx="8954719" cy="384048"/>
          </a:xfrm>
          <a:prstGeom prst="rect">
            <a:avLst/>
          </a:prstGeom>
          <a:noFill/>
        </p:spPr>
        <p:txBody>
          <a:bodyPr wrap="square" lIns="0" rIns="0" tIns="0" bIns="0">
            <a:spAutoFit/>
          </a:bodyPr>
          <a:lstStyle/>
          <a:p>
            <a:pPr algn="l">
              <a:spcBef>
                <a:spcPts val="0"/>
              </a:spcBef>
            </a:pPr>
            <a:r>
              <a:rPr sz="1800" b="1" i="0">
                <a:solidFill>
                  <a:srgbClr val="B10031"/>
                </a:solidFill>
                <a:latin typeface="Georgia"/>
              </a:rPr>
              <a:t>Ce que la borne autorise, et ce qu'elle n'autorise pas</a:t>
            </a:r>
          </a:p>
        </p:txBody>
      </p:sp>
      <p:sp>
        <p:nvSpPr>
          <p:cNvPr id="9" name="Rectangle 8"/>
          <p:cNvSpPr/>
          <p:nvPr/>
        </p:nvSpPr>
        <p:spPr>
          <a:xfrm>
            <a:off x="749808" y="1664208"/>
            <a:ext cx="3381146" cy="310896"/>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spcBef>
                <a:spcPts val="0"/>
              </a:spcBef>
            </a:pPr>
            <a:r>
              <a:rPr sz="1400" b="1" i="0">
                <a:solidFill>
                  <a:srgbClr val="FFFFFF"/>
                </a:solidFill>
                <a:latin typeface="Segoe UI"/>
              </a:rPr>
              <a:t>Remédier</a:t>
            </a:r>
          </a:p>
        </p:txBody>
      </p:sp>
      <p:sp>
        <p:nvSpPr>
          <p:cNvPr id="10" name="Rectangle 9"/>
          <p:cNvSpPr/>
          <p:nvPr/>
        </p:nvSpPr>
        <p:spPr>
          <a:xfrm>
            <a:off x="749808" y="1975104"/>
            <a:ext cx="3381146" cy="142646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a:lstStyle/>
          <a:p>
            <a:pPr algn="ctr">
              <a:spcBef>
                <a:spcPts val="0"/>
              </a:spcBef>
            </a:pPr>
            <a:r>
              <a:rPr sz="1300" b="0" i="0">
                <a:solidFill>
                  <a:srgbClr val="122738"/>
                </a:solidFill>
                <a:latin typeface="Segoe UI"/>
              </a:rPr>
              <a:t>Prioriser les canaux calibrables :</a:t>
            </a:r>
          </a:p>
          <a:p>
            <a:pPr algn="ctr">
              <a:spcBef>
                <a:spcPts val="500"/>
              </a:spcBef>
            </a:pPr>
            <a:r>
              <a:rPr sz="1300" b="0" i="0">
                <a:solidFill>
                  <a:srgbClr val="122738"/>
                </a:solidFill>
                <a:latin typeface="Segoe UI"/>
              </a:rPr>
              <a:t>fréquence et détection</a:t>
            </a:r>
          </a:p>
        </p:txBody>
      </p:sp>
      <p:sp>
        <p:nvSpPr>
          <p:cNvPr id="11" name="Rectangle 10"/>
          <p:cNvSpPr/>
          <p:nvPr/>
        </p:nvSpPr>
        <p:spPr>
          <a:xfrm>
            <a:off x="4405274" y="1664208"/>
            <a:ext cx="3381146" cy="310896"/>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spcBef>
                <a:spcPts val="0"/>
              </a:spcBef>
            </a:pPr>
            <a:r>
              <a:rPr sz="1400" b="1" i="0">
                <a:solidFill>
                  <a:srgbClr val="FFFFFF"/>
                </a:solidFill>
                <a:latin typeface="Segoe UI"/>
              </a:rPr>
              <a:t>Détenir</a:t>
            </a:r>
          </a:p>
        </p:txBody>
      </p:sp>
      <p:sp>
        <p:nvSpPr>
          <p:cNvPr id="12" name="Rectangle 11"/>
          <p:cNvSpPr/>
          <p:nvPr/>
        </p:nvSpPr>
        <p:spPr>
          <a:xfrm>
            <a:off x="4405274" y="1975104"/>
            <a:ext cx="3381146" cy="142646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a:lstStyle/>
          <a:p>
            <a:pPr algn="ctr">
              <a:spcBef>
                <a:spcPts val="0"/>
              </a:spcBef>
            </a:pPr>
            <a:r>
              <a:rPr sz="1300" b="0" i="0">
                <a:solidFill>
                  <a:srgbClr val="122738"/>
                </a:solidFill>
                <a:latin typeface="Segoe UI"/>
              </a:rPr>
              <a:t>Le capital immobilisé coûte</a:t>
            </a:r>
          </a:p>
          <a:p>
            <a:pPr algn="ctr">
              <a:spcBef>
                <a:spcPts val="500"/>
              </a:spcBef>
            </a:pPr>
            <a:r>
              <a:rPr sz="1300" b="0" i="0">
                <a:solidFill>
                  <a:srgbClr val="122738"/>
                </a:solidFill>
                <a:latin typeface="Segoe UI"/>
              </a:rPr>
              <a:t>chaque année, pas une seule fois</a:t>
            </a:r>
          </a:p>
        </p:txBody>
      </p:sp>
      <p:sp>
        <p:nvSpPr>
          <p:cNvPr id="13" name="Rectangle 12"/>
          <p:cNvSpPr/>
          <p:nvPr/>
        </p:nvSpPr>
        <p:spPr>
          <a:xfrm>
            <a:off x="8060740" y="1664208"/>
            <a:ext cx="3381146" cy="310896"/>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spcBef>
                <a:spcPts val="0"/>
              </a:spcBef>
            </a:pPr>
            <a:r>
              <a:rPr sz="1400" b="1" i="0">
                <a:solidFill>
                  <a:srgbClr val="FFFFFF"/>
                </a:solidFill>
                <a:latin typeface="Segoe UI"/>
              </a:rPr>
              <a:t>Transférer</a:t>
            </a:r>
          </a:p>
        </p:txBody>
      </p:sp>
      <p:sp>
        <p:nvSpPr>
          <p:cNvPr id="14" name="Rectangle 13"/>
          <p:cNvSpPr/>
          <p:nvPr/>
        </p:nvSpPr>
        <p:spPr>
          <a:xfrm>
            <a:off x="8060740" y="1975104"/>
            <a:ext cx="3381146" cy="142646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a:lstStyle/>
          <a:p>
            <a:pPr algn="ctr">
              <a:spcBef>
                <a:spcPts val="0"/>
              </a:spcBef>
            </a:pPr>
            <a:r>
              <a:rPr sz="1300" b="0" i="0">
                <a:solidFill>
                  <a:srgbClr val="122738"/>
                </a:solidFill>
                <a:latin typeface="Segoe UI"/>
              </a:rPr>
              <a:t>Comparer au prix de marché</a:t>
            </a:r>
          </a:p>
          <a:p>
            <a:pPr algn="ctr">
              <a:spcBef>
                <a:spcPts val="500"/>
              </a:spcBef>
            </a:pPr>
            <a:r>
              <a:rPr sz="1300" b="0" i="0">
                <a:solidFill>
                  <a:srgbClr val="122738"/>
                </a:solidFill>
                <a:latin typeface="Segoe UI"/>
              </a:rPr>
              <a:t>du même risque</a:t>
            </a:r>
          </a:p>
        </p:txBody>
      </p:sp>
      <p:sp>
        <p:nvSpPr>
          <p:cNvPr id="15" name="Rectangle 14"/>
          <p:cNvSpPr/>
          <p:nvPr/>
        </p:nvSpPr>
        <p:spPr>
          <a:xfrm>
            <a:off x="749808" y="4023360"/>
            <a:ext cx="10692079" cy="7315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spcBef>
                <a:spcPts val="0"/>
              </a:spcBef>
            </a:pPr>
            <a:r>
              <a:rPr sz="1500" b="1" i="0">
                <a:solidFill>
                  <a:srgbClr val="B10031"/>
                </a:solidFill>
                <a:latin typeface="Segoe UI"/>
              </a:rPr>
              <a:t>Une borne de capital n'est pas un budget de remédiation : deux des quatre canaux sont des bornes posées, et leur part n'est pas une enveloppe à dépenser.</a:t>
            </a:r>
          </a:p>
        </p:txBody>
      </p:sp>
      <p:sp>
        <p:nvSpPr>
          <p:cNvPr id="16" name="Rectangle 15"/>
          <p:cNvSpPr/>
          <p:nvPr/>
        </p:nvSpPr>
        <p:spPr>
          <a:xfrm>
            <a:off x="749808" y="4023360"/>
            <a:ext cx="76200" cy="73152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29200"/>
            <a:ext cx="10692079" cy="548640"/>
          </a:xfrm>
          <a:prstGeom prst="rect">
            <a:avLst/>
          </a:prstGeom>
          <a:noFill/>
        </p:spPr>
        <p:txBody>
          <a:bodyPr wrap="square" lIns="0" rIns="0" tIns="0" bIns="0">
            <a:spAutoFit/>
          </a:bodyPr>
          <a:lstStyle/>
          <a:p>
            <a:pPr algn="l">
              <a:spcBef>
                <a:spcPts val="0"/>
              </a:spcBef>
            </a:pPr>
            <a:r>
              <a:rPr sz="1400" b="0" i="0">
                <a:solidFill>
                  <a:srgbClr val="122738"/>
                </a:solidFill>
                <a:latin typeface="Segoe UI"/>
              </a:rPr>
              <a:t>Le bénéfice d'une remédiation a deux composantes, et la plus grosse n'est pas le capital libéré mais la perte évitée.</a:t>
            </a:r>
          </a:p>
        </p:txBody>
      </p:sp>
      <p:sp>
        <p:nvSpPr>
          <p:cNvPr id="18" name="Rectangle 17"/>
          <p:cNvSpPr/>
          <p:nvPr/>
        </p:nvSpPr>
        <p:spPr>
          <a:xfrm>
            <a:off x="566928" y="5788152"/>
            <a:ext cx="11057839"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5788152"/>
            <a:ext cx="76200" cy="54864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907024"/>
            <a:ext cx="10783519" cy="402336"/>
          </a:xfrm>
          <a:prstGeom prst="rect">
            <a:avLst/>
          </a:prstGeom>
          <a:noFill/>
        </p:spPr>
        <p:txBody>
          <a:bodyPr wrap="square" lIns="0" rIns="0" tIns="0" bIns="0">
            <a:spAutoFit/>
          </a:bodyPr>
          <a:lstStyle/>
          <a:p>
            <a:pPr algn="l">
              <a:spcBef>
                <a:spcPts val="0"/>
              </a:spcBef>
            </a:pPr>
            <a:r>
              <a:rPr sz="1400" b="1" i="0">
                <a:solidFill>
                  <a:srgbClr val="B10031"/>
                </a:solidFill>
                <a:latin typeface="Segoe UI"/>
              </a:rPr>
              <a:t>Message clé   </a:t>
            </a:r>
            <a:r>
              <a:rPr sz="1400" b="0" i="0">
                <a:solidFill>
                  <a:srgbClr val="595959"/>
                </a:solidFill>
                <a:latin typeface="Segoe UI"/>
              </a:rPr>
              <a:t>le retour calculé sur le seul portage de capital est un majorant, pas un plancher.</a:t>
            </a:r>
          </a:p>
        </p:txBody>
      </p:sp>
      <p:sp>
        <p:nvSpPr>
          <p:cNvPr id="21" name="TextBox 20"/>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10 ; scripts 50 et 83.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15</a:t>
            </a:r>
          </a:p>
        </p:txBody>
      </p:sp>
      <p:sp>
        <p:nvSpPr>
          <p:cNvPr id="7" name="TextBox 6"/>
          <p:cNvSpPr txBox="1"/>
          <p:nvPr/>
        </p:nvSpPr>
        <p:spPr>
          <a:xfrm>
            <a:off x="749808" y="292608"/>
            <a:ext cx="8954719" cy="530352"/>
          </a:xfrm>
          <a:prstGeom prst="rect">
            <a:avLst/>
          </a:prstGeom>
          <a:noFill/>
        </p:spPr>
        <p:txBody>
          <a:bodyPr wrap="square" lIns="0" rIns="0" tIns="0" bIns="0">
            <a:spAutoFit/>
          </a:bodyPr>
          <a:lstStyle/>
          <a:p>
            <a:pPr algn="l">
              <a:spcBef>
                <a:spcPts val="0"/>
              </a:spcBef>
            </a:pPr>
            <a:r>
              <a:rPr sz="2400" b="1" i="0">
                <a:solidFill>
                  <a:srgbClr val="223E55"/>
                </a:solidFill>
                <a:latin typeface="Georgia"/>
              </a:rPr>
              <a:t>Ce que ce travail n'établit pas, et ce qui tient malgré cela</a:t>
            </a:r>
          </a:p>
        </p:txBody>
      </p:sp>
      <p:sp>
        <p:nvSpPr>
          <p:cNvPr id="8" name="TextBox 7"/>
          <p:cNvSpPr txBox="1"/>
          <p:nvPr/>
        </p:nvSpPr>
        <p:spPr>
          <a:xfrm>
            <a:off x="749808" y="804672"/>
            <a:ext cx="8954719" cy="384048"/>
          </a:xfrm>
          <a:prstGeom prst="rect">
            <a:avLst/>
          </a:prstGeom>
          <a:noFill/>
        </p:spPr>
        <p:txBody>
          <a:bodyPr wrap="square" lIns="0" rIns="0" tIns="0" bIns="0">
            <a:spAutoFit/>
          </a:bodyPr>
          <a:lstStyle/>
          <a:p>
            <a:pPr algn="l">
              <a:spcBef>
                <a:spcPts val="0"/>
              </a:spcBef>
            </a:pPr>
            <a:r>
              <a:rPr sz="1800" b="1" i="0">
                <a:solidFill>
                  <a:srgbClr val="B10031"/>
                </a:solidFill>
                <a:latin typeface="Georgia"/>
              </a:rPr>
              <a:t>Les deux colonnes se présentent ensemble, jamais la gauche seule</a:t>
            </a:r>
          </a:p>
        </p:txBody>
      </p:sp>
      <p:cxnSp>
        <p:nvCxnSpPr>
          <p:cNvPr id="9" name="Connector 8"/>
          <p:cNvCxnSpPr/>
          <p:nvPr/>
        </p:nvCxnSpPr>
        <p:spPr>
          <a:xfrm>
            <a:off x="6095847" y="1335024"/>
            <a:ext cx="0" cy="4288536"/>
          </a:xfrm>
          <a:prstGeom prst="line">
            <a:avLst/>
          </a:prstGeom>
          <a:ln w="15875">
            <a:solidFill>
              <a:srgbClr val="9DC3C8"/>
            </a:solidFill>
            <a:prstDash val="dash"/>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749808" y="1389888"/>
            <a:ext cx="5071719" cy="310896"/>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spcBef>
                <a:spcPts val="0"/>
              </a:spcBef>
            </a:pPr>
            <a:r>
              <a:rPr sz="1500" b="1" i="0">
                <a:solidFill>
                  <a:srgbClr val="FFFFFF"/>
                </a:solidFill>
                <a:latin typeface="Segoe UI"/>
              </a:rPr>
              <a:t>Non établi</a:t>
            </a:r>
          </a:p>
        </p:txBody>
      </p:sp>
      <p:sp>
        <p:nvSpPr>
          <p:cNvPr id="11" name="TextBox 10"/>
          <p:cNvSpPr txBox="1"/>
          <p:nvPr/>
        </p:nvSpPr>
        <p:spPr>
          <a:xfrm>
            <a:off x="749808" y="1865376"/>
            <a:ext cx="5071719" cy="2606040"/>
          </a:xfrm>
          <a:prstGeom prst="rect">
            <a:avLst/>
          </a:prstGeom>
          <a:noFill/>
        </p:spPr>
        <p:txBody>
          <a:bodyPr wrap="square" lIns="0" rIns="0" tIns="0" bIns="0">
            <a:spAutoFit/>
          </a:bodyPr>
          <a:lstStyle/>
          <a:p>
            <a:pPr algn="l" marL="219456" indent="-219456">
              <a:spcBef>
                <a:spcPts val="0"/>
              </a:spcBef>
            </a:pPr>
            <a:r>
              <a:rPr sz="1400" b="0" i="0">
                <a:solidFill>
                  <a:srgbClr val="595959"/>
                </a:solidFill>
                <a:latin typeface="Segoe UI"/>
              </a:rPr>
              <a:t>•   </a:t>
            </a:r>
            <a:r>
              <a:rPr sz="1400" b="0" i="0">
                <a:solidFill>
                  <a:srgbClr val="122738"/>
                </a:solidFill>
                <a:latin typeface="Segoe UI"/>
              </a:rPr>
              <a:t>La direction de contagion n'est pas identifiée</a:t>
            </a:r>
          </a:p>
          <a:p>
            <a:pPr algn="l" marL="219456" indent="-219456">
              <a:spcBef>
                <a:spcPts val="1100"/>
              </a:spcBef>
            </a:pPr>
            <a:r>
              <a:rPr sz="1400" b="0" i="0">
                <a:solidFill>
                  <a:srgbClr val="595959"/>
                </a:solidFill>
                <a:latin typeface="Segoe UI"/>
              </a:rPr>
              <a:t>•   </a:t>
            </a:r>
            <a:r>
              <a:rPr sz="1400" b="0" i="0">
                <a:solidFill>
                  <a:srgbClr val="122738"/>
                </a:solidFill>
                <a:latin typeface="Segoe UI"/>
              </a:rPr>
              <a:t>Le niveau absolu est illustratif, et c'est une borne supérieure à l'échelle d'une entité</a:t>
            </a:r>
          </a:p>
          <a:p>
            <a:pPr algn="l" marL="219456" indent="-219456">
              <a:spcBef>
                <a:spcPts val="1100"/>
              </a:spcBef>
            </a:pPr>
            <a:r>
              <a:rPr sz="1400" b="0" i="0">
                <a:solidFill>
                  <a:srgbClr val="595959"/>
                </a:solidFill>
                <a:latin typeface="Segoe UI"/>
              </a:rPr>
              <a:t>•   </a:t>
            </a:r>
            <a:r>
              <a:rPr sz="1400" b="0" i="0">
                <a:solidFill>
                  <a:srgbClr val="122738"/>
                </a:solidFill>
                <a:latin typeface="Segoe UI"/>
              </a:rPr>
              <a:t>L'incertitude de queue est large</a:t>
            </a:r>
          </a:p>
          <a:p>
            <a:pPr algn="l" marL="219456" indent="-219456">
              <a:spcBef>
                <a:spcPts val="1100"/>
              </a:spcBef>
            </a:pPr>
            <a:r>
              <a:rPr sz="1400" b="0" i="0">
                <a:solidFill>
                  <a:srgbClr val="595959"/>
                </a:solidFill>
                <a:latin typeface="Segoe UI"/>
              </a:rPr>
              <a:t>•   </a:t>
            </a:r>
            <a:r>
              <a:rPr sz="1400" b="0" i="0">
                <a:solidFill>
                  <a:srgbClr val="122738"/>
                </a:solidFill>
                <a:latin typeface="Segoe UI"/>
              </a:rPr>
              <a:t>Deux canaux sur quatre sont bornés, non calibrés</a:t>
            </a:r>
          </a:p>
          <a:p>
            <a:pPr algn="l" marL="219456" indent="-219456">
              <a:spcBef>
                <a:spcPts val="1100"/>
              </a:spcBef>
            </a:pPr>
            <a:r>
              <a:rPr sz="1400" b="0" i="0">
                <a:solidFill>
                  <a:srgbClr val="595959"/>
                </a:solidFill>
                <a:latin typeface="Segoe UI"/>
              </a:rPr>
              <a:t>•   </a:t>
            </a:r>
            <a:r>
              <a:rPr sz="1400" b="0" i="0">
                <a:solidFill>
                  <a:srgbClr val="122738"/>
                </a:solidFill>
                <a:latin typeface="Segoe UI"/>
              </a:rPr>
              <a:t>Le niveau de sévérité dérive dans le temps, et le backtest le mesure</a:t>
            </a:r>
          </a:p>
        </p:txBody>
      </p:sp>
      <p:sp>
        <p:nvSpPr>
          <p:cNvPr id="12" name="Rectangle 11"/>
          <p:cNvSpPr/>
          <p:nvPr/>
        </p:nvSpPr>
        <p:spPr>
          <a:xfrm>
            <a:off x="6351879" y="1389888"/>
            <a:ext cx="5090007" cy="310896"/>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spcBef>
                <a:spcPts val="0"/>
              </a:spcBef>
            </a:pPr>
            <a:r>
              <a:rPr sz="1500" b="1" i="0">
                <a:solidFill>
                  <a:srgbClr val="FFFFFF"/>
                </a:solidFill>
                <a:latin typeface="Segoe UI"/>
              </a:rPr>
              <a:t>Établi malgré cela</a:t>
            </a:r>
          </a:p>
        </p:txBody>
      </p:sp>
      <p:sp>
        <p:nvSpPr>
          <p:cNvPr id="13" name="TextBox 12"/>
          <p:cNvSpPr txBox="1"/>
          <p:nvPr/>
        </p:nvSpPr>
        <p:spPr>
          <a:xfrm>
            <a:off x="6351879" y="1865376"/>
            <a:ext cx="5090007" cy="2606040"/>
          </a:xfrm>
          <a:prstGeom prst="rect">
            <a:avLst/>
          </a:prstGeom>
          <a:noFill/>
        </p:spPr>
        <p:txBody>
          <a:bodyPr wrap="square" lIns="0" rIns="0" tIns="0" bIns="0">
            <a:spAutoFit/>
          </a:bodyPr>
          <a:lstStyle/>
          <a:p>
            <a:pPr algn="l" marL="219456" indent="-219456">
              <a:spcBef>
                <a:spcPts val="0"/>
              </a:spcBef>
            </a:pPr>
            <a:r>
              <a:rPr sz="1400" b="0" i="0">
                <a:solidFill>
                  <a:srgbClr val="595959"/>
                </a:solidFill>
                <a:latin typeface="Segoe UI"/>
              </a:rPr>
              <a:t>•   </a:t>
            </a:r>
            <a:r>
              <a:rPr sz="1400" b="0" i="0">
                <a:solidFill>
                  <a:srgbClr val="122738"/>
                </a:solidFill>
                <a:latin typeface="Segoe UI"/>
              </a:rPr>
              <a:t>Le signe et l'ordre de l'écart entre états</a:t>
            </a:r>
          </a:p>
          <a:p>
            <a:pPr algn="l" marL="219456" indent="-219456">
              <a:spcBef>
                <a:spcPts val="1100"/>
              </a:spcBef>
            </a:pPr>
            <a:r>
              <a:rPr sz="1400" b="0" i="0">
                <a:solidFill>
                  <a:srgbClr val="595959"/>
                </a:solidFill>
                <a:latin typeface="Segoe UI"/>
              </a:rPr>
              <a:t>•   </a:t>
            </a:r>
            <a:r>
              <a:rPr sz="1400" b="0" i="0">
                <a:solidFill>
                  <a:srgbClr val="122738"/>
                </a:solidFill>
                <a:latin typeface="Segoe UI"/>
              </a:rPr>
              <a:t>La hiérarchie des piliers par contribution</a:t>
            </a:r>
          </a:p>
          <a:p>
            <a:pPr algn="l" marL="219456" indent="-219456">
              <a:spcBef>
                <a:spcPts val="1100"/>
              </a:spcBef>
            </a:pPr>
            <a:r>
              <a:rPr sz="1400" b="0" i="0">
                <a:solidFill>
                  <a:srgbClr val="595959"/>
                </a:solidFill>
                <a:latin typeface="Segoe UI"/>
              </a:rPr>
              <a:t>•   </a:t>
            </a:r>
            <a:r>
              <a:rPr sz="1400" b="0" i="0">
                <a:solidFill>
                  <a:srgbClr val="122738"/>
                </a:solidFill>
                <a:latin typeface="Segoe UI"/>
              </a:rPr>
              <a:t>Le cadre de bornage et son coût, mesuré</a:t>
            </a:r>
          </a:p>
          <a:p>
            <a:pPr algn="l" marL="219456" indent="-219456">
              <a:spcBef>
                <a:spcPts val="1100"/>
              </a:spcBef>
            </a:pPr>
            <a:r>
              <a:rPr sz="1400" b="0" i="0">
                <a:solidFill>
                  <a:srgbClr val="595959"/>
                </a:solidFill>
                <a:latin typeface="Segoe UI"/>
              </a:rPr>
              <a:t>•   </a:t>
            </a:r>
            <a:r>
              <a:rPr sz="1400" b="0" i="0">
                <a:solidFill>
                  <a:srgbClr val="122738"/>
                </a:solidFill>
                <a:latin typeface="Segoe UI"/>
              </a:rPr>
              <a:t>La recommandation de reporting et sa priorité</a:t>
            </a:r>
          </a:p>
          <a:p>
            <a:pPr algn="l" marL="219456" indent="-219456">
              <a:spcBef>
                <a:spcPts val="1100"/>
              </a:spcBef>
            </a:pPr>
            <a:r>
              <a:rPr sz="1400" b="0" i="0">
                <a:solidFill>
                  <a:srgbClr val="595959"/>
                </a:solidFill>
                <a:latin typeface="Segoe UI"/>
              </a:rPr>
              <a:t>•   </a:t>
            </a:r>
            <a:r>
              <a:rPr sz="1400" b="0" i="0">
                <a:solidFill>
                  <a:srgbClr val="122738"/>
                </a:solidFill>
                <a:latin typeface="Segoe UI"/>
              </a:rPr>
              <a:t>La loi de comptage et la forme de la queue, validées hors échantillon</a:t>
            </a:r>
          </a:p>
        </p:txBody>
      </p:sp>
      <p:sp>
        <p:nvSpPr>
          <p:cNvPr id="14" name="TextBox 13"/>
          <p:cNvSpPr txBox="1"/>
          <p:nvPr/>
        </p:nvSpPr>
        <p:spPr>
          <a:xfrm>
            <a:off x="749808" y="4846320"/>
            <a:ext cx="10692079" cy="548640"/>
          </a:xfrm>
          <a:prstGeom prst="rect">
            <a:avLst/>
          </a:prstGeom>
          <a:noFill/>
        </p:spPr>
        <p:txBody>
          <a:bodyPr wrap="square" lIns="0" rIns="0" tIns="0" bIns="0">
            <a:spAutoFit/>
          </a:bodyPr>
          <a:lstStyle/>
          <a:p>
            <a:pPr algn="l">
              <a:spcBef>
                <a:spcPts val="0"/>
              </a:spcBef>
            </a:pPr>
            <a:r>
              <a:rPr sz="1500" b="1" i="0">
                <a:solidFill>
                  <a:srgbClr val="B10031"/>
                </a:solidFill>
                <a:latin typeface="Segoe UI"/>
              </a:rPr>
              <a:t>Une thèse de départ a été réfutée par son auteur, et un chiffre d'entité requalifié en borne supérieure. Ce sont des résultats.</a:t>
            </a:r>
          </a:p>
        </p:txBody>
      </p:sp>
      <p:sp>
        <p:nvSpPr>
          <p:cNvPr id="15" name="Rectangle 14"/>
          <p:cNvSpPr/>
          <p:nvPr/>
        </p:nvSpPr>
        <p:spPr>
          <a:xfrm>
            <a:off x="566928" y="5788152"/>
            <a:ext cx="11057839" cy="548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5788152"/>
            <a:ext cx="76200" cy="54864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907024"/>
            <a:ext cx="10783519" cy="402336"/>
          </a:xfrm>
          <a:prstGeom prst="rect">
            <a:avLst/>
          </a:prstGeom>
          <a:noFill/>
        </p:spPr>
        <p:txBody>
          <a:bodyPr wrap="square" lIns="0" rIns="0" tIns="0" bIns="0">
            <a:spAutoFit/>
          </a:bodyPr>
          <a:lstStyle/>
          <a:p>
            <a:pPr algn="l">
              <a:spcBef>
                <a:spcPts val="0"/>
              </a:spcBef>
            </a:pPr>
            <a:r>
              <a:rPr sz="1400" b="1" i="0">
                <a:solidFill>
                  <a:srgbClr val="B10031"/>
                </a:solidFill>
                <a:latin typeface="Segoe UI"/>
              </a:rPr>
              <a:t>Message clé   </a:t>
            </a:r>
            <a:r>
              <a:rPr sz="1400" b="0" i="0">
                <a:solidFill>
                  <a:srgbClr val="595959"/>
                </a:solidFill>
                <a:latin typeface="Segoe UI"/>
              </a:rPr>
              <a:t>ces limites sont publiées, pas concédées, et c'est ce qui rend le reste défendable.</a:t>
            </a:r>
          </a:p>
        </p:txBody>
      </p:sp>
      <p:sp>
        <p:nvSpPr>
          <p:cNvPr id="18" name="TextBox 17"/>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11, table des limites en deux colonnes.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16</a:t>
            </a:r>
          </a:p>
        </p:txBody>
      </p:sp>
      <p:sp>
        <p:nvSpPr>
          <p:cNvPr id="7" name="TextBox 6"/>
          <p:cNvSpPr txBox="1"/>
          <p:nvPr/>
        </p:nvSpPr>
        <p:spPr>
          <a:xfrm>
            <a:off x="749808" y="292608"/>
            <a:ext cx="8954719" cy="530352"/>
          </a:xfrm>
          <a:prstGeom prst="rect">
            <a:avLst/>
          </a:prstGeom>
          <a:noFill/>
        </p:spPr>
        <p:txBody>
          <a:bodyPr wrap="square" lIns="0" rIns="0" tIns="0" bIns="0">
            <a:spAutoFit/>
          </a:bodyPr>
          <a:lstStyle/>
          <a:p>
            <a:pPr algn="l">
              <a:spcBef>
                <a:spcPts val="0"/>
              </a:spcBef>
            </a:pPr>
            <a:r>
              <a:rPr sz="2600" b="1" i="0">
                <a:solidFill>
                  <a:srgbClr val="223E55"/>
                </a:solidFill>
                <a:latin typeface="Georgia"/>
              </a:rPr>
              <a:t>Trois messages</a:t>
            </a:r>
          </a:p>
        </p:txBody>
      </p:sp>
      <p:sp>
        <p:nvSpPr>
          <p:cNvPr id="8" name="TextBox 7"/>
          <p:cNvSpPr txBox="1"/>
          <p:nvPr/>
        </p:nvSpPr>
        <p:spPr>
          <a:xfrm>
            <a:off x="749808" y="804672"/>
            <a:ext cx="8954719" cy="384048"/>
          </a:xfrm>
          <a:prstGeom prst="rect">
            <a:avLst/>
          </a:prstGeom>
          <a:noFill/>
        </p:spPr>
        <p:txBody>
          <a:bodyPr wrap="square" lIns="0" rIns="0" tIns="0" bIns="0">
            <a:spAutoFit/>
          </a:bodyPr>
          <a:lstStyle/>
          <a:p>
            <a:pPr algn="l">
              <a:spcBef>
                <a:spcPts val="0"/>
              </a:spcBef>
            </a:pPr>
            <a:r>
              <a:rPr sz="1800" b="1" i="0">
                <a:solidFill>
                  <a:srgbClr val="B10031"/>
                </a:solidFill>
                <a:latin typeface="Georgia"/>
              </a:rPr>
              <a:t>Et la réponse à la question posée en ouverture</a:t>
            </a:r>
          </a:p>
        </p:txBody>
      </p:sp>
      <p:sp>
        <p:nvSpPr>
          <p:cNvPr id="9" name="TextBox 8"/>
          <p:cNvSpPr txBox="1"/>
          <p:nvPr/>
        </p:nvSpPr>
        <p:spPr>
          <a:xfrm>
            <a:off x="749808" y="1527048"/>
            <a:ext cx="10692079" cy="868680"/>
          </a:xfrm>
          <a:prstGeom prst="rect">
            <a:avLst/>
          </a:prstGeom>
          <a:noFill/>
        </p:spPr>
        <p:txBody>
          <a:bodyPr wrap="square" lIns="0" rIns="0" tIns="0" bIns="0">
            <a:spAutoFit/>
          </a:bodyPr>
          <a:lstStyle/>
          <a:p>
            <a:pPr algn="l">
              <a:spcBef>
                <a:spcPts val="0"/>
              </a:spcBef>
            </a:pPr>
            <a:r>
              <a:rPr sz="1600" b="1" i="0">
                <a:solidFill>
                  <a:srgbClr val="B10031"/>
                </a:solidFill>
                <a:latin typeface="Georgia"/>
              </a:rPr>
              <a:t>1.   </a:t>
            </a:r>
            <a:r>
              <a:rPr sz="1600" b="1" i="0">
                <a:solidFill>
                  <a:srgbClr val="223E55"/>
                </a:solidFill>
                <a:latin typeface="Segoe UI"/>
              </a:rPr>
              <a:t>La non-conformité à DORA se traduit en coût de risque et en capital</a:t>
            </a:r>
          </a:p>
          <a:p>
            <a:pPr algn="l">
              <a:spcBef>
                <a:spcPts val="400"/>
              </a:spcBef>
            </a:pPr>
            <a:r>
              <a:rPr sz="1400" b="0" i="0">
                <a:solidFill>
                  <a:srgbClr val="595959"/>
                </a:solidFill>
                <a:latin typeface="Segoe UI"/>
              </a:rPr>
              <a:t>      par le déplacement de quatre paramètres de la loi de perte, et non par une pénalité ajoutée</a:t>
            </a:r>
          </a:p>
        </p:txBody>
      </p:sp>
      <p:sp>
        <p:nvSpPr>
          <p:cNvPr id="10" name="TextBox 9"/>
          <p:cNvSpPr txBox="1"/>
          <p:nvPr/>
        </p:nvSpPr>
        <p:spPr>
          <a:xfrm>
            <a:off x="749808" y="2487168"/>
            <a:ext cx="10692079" cy="868680"/>
          </a:xfrm>
          <a:prstGeom prst="rect">
            <a:avLst/>
          </a:prstGeom>
          <a:noFill/>
        </p:spPr>
        <p:txBody>
          <a:bodyPr wrap="square" lIns="0" rIns="0" tIns="0" bIns="0">
            <a:spAutoFit/>
          </a:bodyPr>
          <a:lstStyle/>
          <a:p>
            <a:pPr algn="l">
              <a:spcBef>
                <a:spcPts val="0"/>
              </a:spcBef>
            </a:pPr>
            <a:r>
              <a:rPr sz="1600" b="1" i="0">
                <a:solidFill>
                  <a:srgbClr val="B10031"/>
                </a:solidFill>
                <a:latin typeface="Georgia"/>
              </a:rPr>
              <a:t>2.   </a:t>
            </a:r>
            <a:r>
              <a:rPr sz="1600" b="1" i="0">
                <a:solidFill>
                  <a:srgbClr val="223E55"/>
                </a:solidFill>
                <a:latin typeface="Segoe UI"/>
              </a:rPr>
              <a:t>La dépendance directionnelle ne doit pas être calibrée sur des données qui ne l'identifient pas</a:t>
            </a:r>
          </a:p>
          <a:p>
            <a:pPr algn="l">
              <a:spcBef>
                <a:spcPts val="400"/>
              </a:spcBef>
            </a:pPr>
            <a:r>
              <a:rPr sz="1400" b="0" i="0">
                <a:solidFill>
                  <a:srgbClr val="595959"/>
                </a:solidFill>
                <a:latin typeface="Segoe UI"/>
              </a:rPr>
              <a:t>      d'où une bande, et le coût de l'ignorance mesuré plutôt que masqué</a:t>
            </a:r>
          </a:p>
        </p:txBody>
      </p:sp>
      <p:sp>
        <p:nvSpPr>
          <p:cNvPr id="11" name="TextBox 10"/>
          <p:cNvSpPr txBox="1"/>
          <p:nvPr/>
        </p:nvSpPr>
        <p:spPr>
          <a:xfrm>
            <a:off x="749808" y="3447288"/>
            <a:ext cx="10692079" cy="868680"/>
          </a:xfrm>
          <a:prstGeom prst="rect">
            <a:avLst/>
          </a:prstGeom>
          <a:noFill/>
        </p:spPr>
        <p:txBody>
          <a:bodyPr wrap="square" lIns="0" rIns="0" tIns="0" bIns="0">
            <a:spAutoFit/>
          </a:bodyPr>
          <a:lstStyle/>
          <a:p>
            <a:pPr algn="l">
              <a:spcBef>
                <a:spcPts val="0"/>
              </a:spcBef>
            </a:pPr>
            <a:r>
              <a:rPr sz="1600" b="1" i="0">
                <a:solidFill>
                  <a:srgbClr val="B10031"/>
                </a:solidFill>
                <a:latin typeface="Georgia"/>
              </a:rPr>
              <a:t>3.   </a:t>
            </a:r>
            <a:r>
              <a:rPr sz="1600" b="1" i="0">
                <a:solidFill>
                  <a:srgbClr val="223E55"/>
                </a:solidFill>
                <a:latin typeface="Segoe UI"/>
              </a:rPr>
              <a:t>La limite de données devient une recommandation actionnable</a:t>
            </a:r>
          </a:p>
          <a:p>
            <a:pPr algn="l">
              <a:spcBef>
                <a:spcPts val="400"/>
              </a:spcBef>
            </a:pPr>
            <a:r>
              <a:rPr sz="1400" b="0" i="0">
                <a:solidFill>
                  <a:srgbClr val="595959"/>
                </a:solidFill>
                <a:latin typeface="Segoe UI"/>
              </a:rPr>
              <a:t>      pour l'entité comme pour le régulateur, hiérarchisée par ce que chaque champ rapporte</a:t>
            </a:r>
          </a:p>
        </p:txBody>
      </p:sp>
      <p:sp>
        <p:nvSpPr>
          <p:cNvPr id="12" name="Rectangle 11"/>
          <p:cNvSpPr/>
          <p:nvPr/>
        </p:nvSpPr>
        <p:spPr>
          <a:xfrm>
            <a:off x="749808" y="4526280"/>
            <a:ext cx="10692079"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l">
              <a:spcBef>
                <a:spcPts val="0"/>
              </a:spcBef>
            </a:pPr>
            <a:r>
              <a:rPr sz="1700" b="1" i="0">
                <a:solidFill>
                  <a:srgbClr val="223E55"/>
                </a:solidFill>
                <a:latin typeface="Georgia"/>
              </a:rPr>
              <a:t>Quand la dépendance n'est pas identifiable, la bonne réponse actuarielle n'est pas la fausse précision : c'est une borne, une hiérarchie de données et une décision mieux informée.</a:t>
            </a:r>
          </a:p>
        </p:txBody>
      </p:sp>
      <p:sp>
        <p:nvSpPr>
          <p:cNvPr id="13" name="Rectangle 12"/>
          <p:cNvSpPr/>
          <p:nvPr/>
        </p:nvSpPr>
        <p:spPr>
          <a:xfrm>
            <a:off x="749808" y="4526280"/>
            <a:ext cx="76200" cy="96012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hoto_couverture.jpg"/>
          <p:cNvPicPr>
            <a:picLocks noChangeAspect="1"/>
          </p:cNvPicPr>
          <p:nvPr/>
        </p:nvPicPr>
        <p:blipFill>
          <a:blip r:embed="rId2"/>
          <a:srcRect l="21415" r="21415"/>
          <a:stretch>
            <a:fillRect/>
          </a:stretch>
        </p:blipFill>
        <p:spPr>
          <a:xfrm>
            <a:off x="6309360" y="0"/>
            <a:ext cx="5882335" cy="6858000"/>
          </a:xfrm>
          <a:prstGeom prst="rect">
            <a:avLst/>
          </a:prstGeom>
        </p:spPr>
      </p:pic>
      <p:sp>
        <p:nvSpPr>
          <p:cNvPr id="4" name="Freeform 3"/>
          <p:cNvSpPr/>
          <p:nvPr/>
        </p:nvSpPr>
        <p:spPr>
          <a:xfrm>
            <a:off x="6309360" y="0"/>
            <a:ext cx="2103120" cy="6858000"/>
          </a:xfrm>
          <a:custGeom>
            <a:avLst/>
            <a:gdLst/>
            <a:ahLst/>
            <a:cxnLst/>
            <a:rect l="l" t="t" r="r" b="b"/>
            <a:pathLst>
              <a:path w="2103120" h="6858000">
                <a:moveTo>
                  <a:pt x="0" y="0"/>
                </a:moveTo>
                <a:lnTo>
                  <a:pt x="0" y="6858000"/>
                </a:lnTo>
                <a:lnTo>
                  <a:pt x="2103120" y="68580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0" y="0"/>
            <a:ext cx="603504" cy="896112"/>
          </a:xfrm>
          <a:custGeom>
            <a:avLst/>
            <a:gdLst/>
            <a:ahLst/>
            <a:cxnLst/>
            <a:rect l="l" t="t" r="r" b="b"/>
            <a:pathLst>
              <a:path w="603504" h="896112">
                <a:moveTo>
                  <a:pt x="0" y="0"/>
                </a:moveTo>
                <a:lnTo>
                  <a:pt x="603504" y="0"/>
                </a:lnTo>
                <a:lnTo>
                  <a:pt x="0" y="8961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exialog.png"/>
          <p:cNvPicPr>
            <a:picLocks noChangeAspect="1"/>
          </p:cNvPicPr>
          <p:nvPr/>
        </p:nvPicPr>
        <p:blipFill>
          <a:blip r:embed="rId3"/>
          <a:stretch>
            <a:fillRect/>
          </a:stretch>
        </p:blipFill>
        <p:spPr>
          <a:xfrm>
            <a:off x="502920" y="548640"/>
            <a:ext cx="2011680" cy="731520"/>
          </a:xfrm>
          <a:prstGeom prst="rect">
            <a:avLst/>
          </a:prstGeom>
        </p:spPr>
      </p:pic>
      <p:sp>
        <p:nvSpPr>
          <p:cNvPr id="7" name="TextBox 6"/>
          <p:cNvSpPr txBox="1"/>
          <p:nvPr/>
        </p:nvSpPr>
        <p:spPr>
          <a:xfrm>
            <a:off x="502920" y="2606040"/>
            <a:ext cx="5577840" cy="1463040"/>
          </a:xfrm>
          <a:prstGeom prst="rect">
            <a:avLst/>
          </a:prstGeom>
          <a:noFill/>
        </p:spPr>
        <p:txBody>
          <a:bodyPr wrap="square" lIns="0" rIns="0" tIns="0" bIns="0">
            <a:spAutoFit/>
          </a:bodyPr>
          <a:lstStyle/>
          <a:p>
            <a:pPr algn="l">
              <a:spcBef>
                <a:spcPts val="0"/>
              </a:spcBef>
            </a:pPr>
            <a:r>
              <a:rPr sz="3200" b="1" i="0">
                <a:solidFill>
                  <a:srgbClr val="223E55"/>
                </a:solidFill>
                <a:latin typeface="Georgia"/>
              </a:rPr>
              <a:t>Merci pour votre attention</a:t>
            </a:r>
          </a:p>
          <a:p>
            <a:pPr algn="l">
              <a:spcBef>
                <a:spcPts val="1600"/>
              </a:spcBef>
            </a:pPr>
            <a:r>
              <a:rPr sz="2800" b="1" i="0">
                <a:solidFill>
                  <a:srgbClr val="B10031"/>
                </a:solidFill>
                <a:latin typeface="Georgia"/>
              </a:rPr>
              <a:t>Des questions ?</a:t>
            </a:r>
          </a:p>
        </p:txBody>
      </p:sp>
      <p:sp>
        <p:nvSpPr>
          <p:cNvPr id="8" name="Rectangle 7"/>
          <p:cNvSpPr/>
          <p:nvPr/>
        </p:nvSpPr>
        <p:spPr>
          <a:xfrm>
            <a:off x="502920" y="4480560"/>
            <a:ext cx="2377440" cy="63500"/>
          </a:xfrm>
          <a:prstGeom prst="rect">
            <a:avLst/>
          </a:pr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4754880"/>
            <a:ext cx="5577840" cy="1005840"/>
          </a:xfrm>
          <a:prstGeom prst="rect">
            <a:avLst/>
          </a:prstGeom>
          <a:noFill/>
        </p:spPr>
        <p:txBody>
          <a:bodyPr wrap="square" lIns="0" rIns="0" tIns="0" bIns="0">
            <a:spAutoFit/>
          </a:bodyPr>
          <a:lstStyle/>
          <a:p>
            <a:pPr algn="l">
              <a:spcBef>
                <a:spcPts val="0"/>
              </a:spcBef>
            </a:pPr>
            <a:r>
              <a:rPr sz="1300" b="0" i="0">
                <a:solidFill>
                  <a:srgbClr val="595959"/>
                </a:solidFill>
                <a:latin typeface="Segoe UI"/>
              </a:rPr>
              <a:t>Dix diapositives de sauvegarde suivent : sources, paramètres, sévérité, cascade, identifiabilité, bande, canaux, tiers, limites, glossaire.</a:t>
            </a:r>
          </a:p>
        </p:txBody>
      </p:sp>
      <p:pic>
        <p:nvPicPr>
          <p:cNvPr id="10" name="Picture 9" descr="think_smart.png"/>
          <p:cNvPicPr>
            <a:picLocks noChangeAspect="1"/>
          </p:cNvPicPr>
          <p:nvPr/>
        </p:nvPicPr>
        <p:blipFill>
          <a:blip r:embed="rId4"/>
          <a:stretch>
            <a:fillRect/>
          </a:stretch>
        </p:blipFill>
        <p:spPr>
          <a:xfrm>
            <a:off x="502920" y="6217920"/>
            <a:ext cx="2331720" cy="310896"/>
          </a:xfrm>
          <a:prstGeom prst="rect">
            <a:avLst/>
          </a:prstGeom>
        </p:spPr>
      </p:pic>
      <p:sp>
        <p:nvSpPr>
          <p:cNvPr id="11" name="TextBox 10"/>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hoto_section.jpg"/>
          <p:cNvPicPr>
            <a:picLocks noChangeAspect="1"/>
          </p:cNvPicPr>
          <p:nvPr/>
        </p:nvPicPr>
        <p:blipFill>
          <a:blip r:embed="rId2"/>
          <a:srcRect t="13408" b="13408"/>
          <a:stretch>
            <a:fillRect/>
          </a:stretch>
        </p:blipFill>
        <p:spPr>
          <a:xfrm>
            <a:off x="0" y="0"/>
            <a:ext cx="12191695" cy="6858000"/>
          </a:xfrm>
          <a:prstGeom prst="rect">
            <a:avLst/>
          </a:prstGeom>
        </p:spPr>
      </p:pic>
      <p:sp>
        <p:nvSpPr>
          <p:cNvPr id="4" name="Freeform 3"/>
          <p:cNvSpPr/>
          <p:nvPr/>
        </p:nvSpPr>
        <p:spPr>
          <a:xfrm>
            <a:off x="0" y="0"/>
            <a:ext cx="7680960" cy="6858000"/>
          </a:xfrm>
          <a:custGeom>
            <a:avLst/>
            <a:gdLst/>
            <a:ahLst/>
            <a:cxnLst/>
            <a:rect l="l" t="t" r="r" b="b"/>
            <a:pathLst>
              <a:path w="7680960" h="6858000">
                <a:moveTo>
                  <a:pt x="0" y="0"/>
                </a:moveTo>
                <a:lnTo>
                  <a:pt x="3154680" y="0"/>
                </a:lnTo>
                <a:lnTo>
                  <a:pt x="7680960" y="6858000"/>
                </a:lnTo>
                <a:lnTo>
                  <a:pt x="0" y="6858000"/>
                </a:lnTo>
                <a:close/>
              </a:path>
            </a:pathLst>
          </a:custGeom>
          <a:solidFill>
            <a:srgbClr val="192E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0" y="0"/>
            <a:ext cx="7315200" cy="6858000"/>
          </a:xfrm>
          <a:custGeom>
            <a:avLst/>
            <a:gdLst/>
            <a:ahLst/>
            <a:cxnLst/>
            <a:rect l="l" t="t" r="r" b="b"/>
            <a:pathLst>
              <a:path w="7315200" h="6858000">
                <a:moveTo>
                  <a:pt x="0" y="0"/>
                </a:moveTo>
                <a:lnTo>
                  <a:pt x="2788920" y="0"/>
                </a:lnTo>
                <a:lnTo>
                  <a:pt x="7315200" y="6858000"/>
                </a:lnTo>
                <a:lnTo>
                  <a:pt x="0" y="68580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9692640" y="0"/>
            <a:ext cx="2499055" cy="1554480"/>
          </a:xfrm>
          <a:custGeom>
            <a:avLst/>
            <a:gdLst/>
            <a:ahLst/>
            <a:cxnLst/>
            <a:rect l="l" t="t" r="r" b="b"/>
            <a:pathLst>
              <a:path w="2499055" h="1554480">
                <a:moveTo>
                  <a:pt x="2499055" y="0"/>
                </a:moveTo>
                <a:lnTo>
                  <a:pt x="2499055" y="1554480"/>
                </a:lnTo>
                <a:lnTo>
                  <a:pt x="0" y="0"/>
                </a:lnTo>
                <a:close/>
              </a:path>
            </a:pathLst>
          </a:cu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0" y="0"/>
            <a:ext cx="603504" cy="896112"/>
          </a:xfrm>
          <a:custGeom>
            <a:avLst/>
            <a:gdLst/>
            <a:ahLst/>
            <a:cxnLst/>
            <a:rect l="l" t="t" r="r" b="b"/>
            <a:pathLst>
              <a:path w="603504" h="896112">
                <a:moveTo>
                  <a:pt x="0" y="0"/>
                </a:moveTo>
                <a:lnTo>
                  <a:pt x="603504" y="0"/>
                </a:lnTo>
                <a:lnTo>
                  <a:pt x="0" y="8961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nexialog_blanc.png"/>
          <p:cNvPicPr>
            <a:picLocks noChangeAspect="1"/>
          </p:cNvPicPr>
          <p:nvPr/>
        </p:nvPicPr>
        <p:blipFill>
          <a:blip r:embed="rId3"/>
          <a:stretch>
            <a:fillRect/>
          </a:stretch>
        </p:blipFill>
        <p:spPr>
          <a:xfrm>
            <a:off x="10362895" y="164592"/>
            <a:ext cx="1417320" cy="512064"/>
          </a:xfrm>
          <a:prstGeom prst="rect">
            <a:avLst/>
          </a:prstGeom>
        </p:spPr>
      </p:pic>
      <p:sp>
        <p:nvSpPr>
          <p:cNvPr id="9" name="Rectangle 8"/>
          <p:cNvSpPr/>
          <p:nvPr/>
        </p:nvSpPr>
        <p:spPr>
          <a:xfrm>
            <a:off x="1051560" y="1783080"/>
            <a:ext cx="4160520"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think_smart.png"/>
          <p:cNvPicPr>
            <a:picLocks noChangeAspect="1"/>
          </p:cNvPicPr>
          <p:nvPr/>
        </p:nvPicPr>
        <p:blipFill>
          <a:blip r:embed="rId4"/>
          <a:stretch>
            <a:fillRect/>
          </a:stretch>
        </p:blipFill>
        <p:spPr>
          <a:xfrm>
            <a:off x="1600200" y="1911095"/>
            <a:ext cx="3017520" cy="365760"/>
          </a:xfrm>
          <a:prstGeom prst="rect">
            <a:avLst/>
          </a:prstGeom>
        </p:spPr>
      </p:pic>
      <p:sp>
        <p:nvSpPr>
          <p:cNvPr id="11" name="Rectangle 10"/>
          <p:cNvSpPr/>
          <p:nvPr/>
        </p:nvSpPr>
        <p:spPr>
          <a:xfrm>
            <a:off x="548640" y="3611880"/>
            <a:ext cx="2377440" cy="635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069080"/>
            <a:ext cx="4754880" cy="822960"/>
          </a:xfrm>
          <a:prstGeom prst="rect">
            <a:avLst/>
          </a:prstGeom>
          <a:noFill/>
        </p:spPr>
        <p:txBody>
          <a:bodyPr wrap="square" lIns="0" rIns="0" tIns="0" bIns="0">
            <a:spAutoFit/>
          </a:bodyPr>
          <a:lstStyle/>
          <a:p>
            <a:pPr algn="l">
              <a:spcBef>
                <a:spcPts val="0"/>
              </a:spcBef>
            </a:pPr>
            <a:r>
              <a:rPr sz="3400" b="0" i="0">
                <a:solidFill>
                  <a:srgbClr val="B10031"/>
                </a:solidFill>
                <a:latin typeface="Georgia"/>
              </a:rPr>
              <a:t>Annexes</a:t>
            </a:r>
          </a:p>
        </p:txBody>
      </p:sp>
      <p:sp>
        <p:nvSpPr>
          <p:cNvPr id="13" name="TextBox 12"/>
          <p:cNvSpPr txBox="1"/>
          <p:nvPr/>
        </p:nvSpPr>
        <p:spPr>
          <a:xfrm>
            <a:off x="429768" y="6428232"/>
            <a:ext cx="2743200" cy="256032"/>
          </a:xfrm>
          <a:prstGeom prst="rect">
            <a:avLst/>
          </a:prstGeom>
          <a:noFill/>
        </p:spPr>
        <p:txBody>
          <a:bodyPr wrap="square" lIns="0" rIns="0" tIns="0" bIns="0">
            <a:spAutoFit/>
          </a:bodyPr>
          <a:lstStyle/>
          <a:p>
            <a:pPr algn="l">
              <a:spcBef>
                <a:spcPts val="0"/>
              </a:spcBef>
            </a:pPr>
            <a:r>
              <a:rPr sz="900" b="0" i="0">
                <a:solidFill>
                  <a:srgbClr val="A5A5A5"/>
                </a:solidFill>
                <a:latin typeface="Segoe UI"/>
              </a:rPr>
              <a:t>www.nexialog.com</a:t>
            </a:r>
          </a:p>
        </p:txBody>
      </p:sp>
      <p:sp>
        <p:nvSpPr>
          <p:cNvPr id="14" name="TextBox 13"/>
          <p:cNvSpPr txBox="1"/>
          <p:nvPr/>
        </p:nvSpPr>
        <p:spPr>
          <a:xfrm>
            <a:off x="11185855" y="6428232"/>
            <a:ext cx="50292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749808" y="201168"/>
            <a:ext cx="2743200" cy="237744"/>
          </a:xfrm>
          <a:prstGeom prst="rect">
            <a:avLst/>
          </a:prstGeom>
          <a:noFill/>
        </p:spPr>
        <p:txBody>
          <a:bodyPr wrap="square" lIns="0" rIns="0" tIns="0" bIns="0">
            <a:spAutoFit/>
          </a:bodyPr>
          <a:lstStyle/>
          <a:p>
            <a:pPr algn="l">
              <a:spcBef>
                <a:spcPts val="0"/>
              </a:spcBef>
            </a:pPr>
            <a:r>
              <a:rPr sz="1100" b="1" i="0">
                <a:solidFill>
                  <a:srgbClr val="B10031"/>
                </a:solidFill>
                <a:latin typeface="Segoe UI"/>
              </a:rPr>
              <a:t>ANNEXE 1</a:t>
            </a:r>
          </a:p>
        </p:txBody>
      </p:sp>
      <p:sp>
        <p:nvSpPr>
          <p:cNvPr id="7" name="TextBox 6"/>
          <p:cNvSpPr txBox="1"/>
          <p:nvPr/>
        </p:nvSpPr>
        <p:spPr>
          <a:xfrm>
            <a:off x="749808" y="475488"/>
            <a:ext cx="8954719" cy="512064"/>
          </a:xfrm>
          <a:prstGeom prst="rect">
            <a:avLst/>
          </a:prstGeom>
          <a:noFill/>
        </p:spPr>
        <p:txBody>
          <a:bodyPr wrap="square" lIns="0" rIns="0" tIns="0" bIns="0">
            <a:spAutoFit/>
          </a:bodyPr>
          <a:lstStyle/>
          <a:p>
            <a:pPr algn="l">
              <a:spcBef>
                <a:spcPts val="0"/>
              </a:spcBef>
            </a:pPr>
            <a:r>
              <a:rPr sz="2400" b="1" i="0">
                <a:solidFill>
                  <a:srgbClr val="223E55"/>
                </a:solidFill>
                <a:latin typeface="Georgia"/>
              </a:rPr>
              <a:t>Sept sources, et chacune avec son statut de preuve</a:t>
            </a:r>
          </a:p>
        </p:txBody>
      </p:sp>
      <p:sp>
        <p:nvSpPr>
          <p:cNvPr id="8" name="TextBox 7"/>
          <p:cNvSpPr txBox="1"/>
          <p:nvPr/>
        </p:nvSpPr>
        <p:spPr>
          <a:xfrm>
            <a:off x="749808" y="950976"/>
            <a:ext cx="8954719" cy="347472"/>
          </a:xfrm>
          <a:prstGeom prst="rect">
            <a:avLst/>
          </a:prstGeom>
          <a:noFill/>
        </p:spPr>
        <p:txBody>
          <a:bodyPr wrap="square" lIns="0" rIns="0" tIns="0" bIns="0">
            <a:spAutoFit/>
          </a:bodyPr>
          <a:lstStyle/>
          <a:p>
            <a:pPr algn="l">
              <a:spcBef>
                <a:spcPts val="0"/>
              </a:spcBef>
            </a:pPr>
            <a:r>
              <a:rPr sz="1600" b="1" i="0">
                <a:solidFill>
                  <a:srgbClr val="B10031"/>
                </a:solidFill>
                <a:latin typeface="Georgia"/>
              </a:rPr>
              <a:t>Ce qui est rejouable, et ce qui ne l'est pas</a:t>
            </a:r>
          </a:p>
        </p:txBody>
      </p:sp>
      <p:sp>
        <p:nvSpPr>
          <p:cNvPr id="9" name="TextBox 8"/>
          <p:cNvSpPr txBox="1"/>
          <p:nvPr/>
        </p:nvSpPr>
        <p:spPr>
          <a:xfrm>
            <a:off x="11002975" y="6428232"/>
            <a:ext cx="68580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A1</a:t>
            </a:r>
          </a:p>
        </p:txBody>
      </p:sp>
      <p:sp>
        <p:nvSpPr>
          <p:cNvPr id="10" name="Rectangle 9"/>
          <p:cNvSpPr/>
          <p:nvPr/>
        </p:nvSpPr>
        <p:spPr>
          <a:xfrm>
            <a:off x="749808" y="1481328"/>
            <a:ext cx="10692079" cy="329184"/>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1481328"/>
            <a:ext cx="3061319" cy="329184"/>
          </a:xfrm>
          <a:prstGeom prst="rect">
            <a:avLst/>
          </a:prstGeom>
          <a:noFill/>
        </p:spPr>
        <p:txBody>
          <a:bodyPr wrap="square" lIns="0" rIns="0" tIns="0" bIns="0" anchor="ctr">
            <a:spAutoFit/>
          </a:bodyPr>
          <a:lstStyle/>
          <a:p>
            <a:pPr algn="l">
              <a:spcBef>
                <a:spcPts val="0"/>
              </a:spcBef>
            </a:pPr>
            <a:r>
              <a:rPr sz="1300" b="1" i="0">
                <a:solidFill>
                  <a:srgbClr val="FFFFFF"/>
                </a:solidFill>
                <a:latin typeface="Segoe UI"/>
              </a:rPr>
              <a:t>Source</a:t>
            </a:r>
          </a:p>
        </p:txBody>
      </p:sp>
      <p:sp>
        <p:nvSpPr>
          <p:cNvPr id="12" name="TextBox 11"/>
          <p:cNvSpPr txBox="1"/>
          <p:nvPr/>
        </p:nvSpPr>
        <p:spPr>
          <a:xfrm>
            <a:off x="4048871" y="1481328"/>
            <a:ext cx="4558210" cy="329184"/>
          </a:xfrm>
          <a:prstGeom prst="rect">
            <a:avLst/>
          </a:prstGeom>
          <a:noFill/>
        </p:spPr>
        <p:txBody>
          <a:bodyPr wrap="square" lIns="0" rIns="0" tIns="0" bIns="0" anchor="ctr">
            <a:spAutoFit/>
          </a:bodyPr>
          <a:lstStyle/>
          <a:p>
            <a:pPr algn="l">
              <a:spcBef>
                <a:spcPts val="0"/>
              </a:spcBef>
            </a:pPr>
            <a:r>
              <a:rPr sz="1300" b="1" i="0">
                <a:solidFill>
                  <a:srgbClr val="FFFFFF"/>
                </a:solidFill>
                <a:latin typeface="Segoe UI"/>
              </a:rPr>
              <a:t>Ce qu'elle porte dans le modèle</a:t>
            </a:r>
          </a:p>
        </p:txBody>
      </p:sp>
      <p:sp>
        <p:nvSpPr>
          <p:cNvPr id="13" name="TextBox 12"/>
          <p:cNvSpPr txBox="1"/>
          <p:nvPr/>
        </p:nvSpPr>
        <p:spPr>
          <a:xfrm>
            <a:off x="8753386" y="1481328"/>
            <a:ext cx="2633636" cy="329184"/>
          </a:xfrm>
          <a:prstGeom prst="rect">
            <a:avLst/>
          </a:prstGeom>
          <a:noFill/>
        </p:spPr>
        <p:txBody>
          <a:bodyPr wrap="square" lIns="0" rIns="0" tIns="0" bIns="0" anchor="ctr">
            <a:spAutoFit/>
          </a:bodyPr>
          <a:lstStyle/>
          <a:p>
            <a:pPr algn="l">
              <a:spcBef>
                <a:spcPts val="0"/>
              </a:spcBef>
            </a:pPr>
            <a:r>
              <a:rPr sz="1300" b="1" i="0">
                <a:solidFill>
                  <a:srgbClr val="FFFFFF"/>
                </a:solidFill>
                <a:latin typeface="Segoe UI"/>
              </a:rPr>
              <a:t>Statut de preuve</a:t>
            </a:r>
          </a:p>
        </p:txBody>
      </p:sp>
      <p:sp>
        <p:nvSpPr>
          <p:cNvPr id="14" name="Rectangle 13"/>
          <p:cNvSpPr/>
          <p:nvPr/>
        </p:nvSpPr>
        <p:spPr>
          <a:xfrm>
            <a:off x="749808" y="1810512"/>
            <a:ext cx="10692079" cy="53746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 y="2341626"/>
            <a:ext cx="10692079" cy="635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1810512"/>
            <a:ext cx="3061319"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Base internationale de pertes opérationnelles</a:t>
            </a:r>
          </a:p>
        </p:txBody>
      </p:sp>
      <p:sp>
        <p:nvSpPr>
          <p:cNvPr id="17" name="TextBox 16"/>
          <p:cNvSpPr txBox="1"/>
          <p:nvPr/>
        </p:nvSpPr>
        <p:spPr>
          <a:xfrm>
            <a:off x="4048871" y="1810512"/>
            <a:ext cx="4558210"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la sévérité en euros, au-delà du seuil</a:t>
            </a:r>
          </a:p>
        </p:txBody>
      </p:sp>
      <p:sp>
        <p:nvSpPr>
          <p:cNvPr id="18" name="TextBox 17"/>
          <p:cNvSpPr txBox="1"/>
          <p:nvPr/>
        </p:nvSpPr>
        <p:spPr>
          <a:xfrm>
            <a:off x="8753386" y="1810512"/>
            <a:ext cx="2633636" cy="537464"/>
          </a:xfrm>
          <a:prstGeom prst="rect">
            <a:avLst/>
          </a:prstGeom>
          <a:noFill/>
        </p:spPr>
        <p:txBody>
          <a:bodyPr wrap="square" lIns="0" rIns="0" tIns="0" bIns="0" anchor="ctr">
            <a:spAutoFit/>
          </a:bodyPr>
          <a:lstStyle/>
          <a:p>
            <a:pPr algn="l">
              <a:spcBef>
                <a:spcPts val="0"/>
              </a:spcBef>
            </a:pPr>
            <a:r>
              <a:rPr sz="1300" b="1" i="0">
                <a:solidFill>
                  <a:srgbClr val="223E55"/>
                </a:solidFill>
                <a:latin typeface="Segoe UI"/>
              </a:rPr>
              <a:t>versionné, rejouable</a:t>
            </a:r>
          </a:p>
        </p:txBody>
      </p:sp>
      <p:sp>
        <p:nvSpPr>
          <p:cNvPr id="19" name="Rectangle 18"/>
          <p:cNvSpPr/>
          <p:nvPr/>
        </p:nvSpPr>
        <p:spPr>
          <a:xfrm>
            <a:off x="749808" y="2674366"/>
            <a:ext cx="10692079" cy="635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2347976"/>
            <a:ext cx="3061319"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Chronologie de brèches</a:t>
            </a:r>
          </a:p>
        </p:txBody>
      </p:sp>
      <p:sp>
        <p:nvSpPr>
          <p:cNvPr id="21" name="TextBox 20"/>
          <p:cNvSpPr txBox="1"/>
          <p:nvPr/>
        </p:nvSpPr>
        <p:spPr>
          <a:xfrm>
            <a:off x="4048871" y="2347976"/>
            <a:ext cx="4558210"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la fréquence, et l'étude d'événement MOVEit</a:t>
            </a:r>
          </a:p>
        </p:txBody>
      </p:sp>
      <p:sp>
        <p:nvSpPr>
          <p:cNvPr id="22" name="TextBox 21"/>
          <p:cNvSpPr txBox="1"/>
          <p:nvPr/>
        </p:nvSpPr>
        <p:spPr>
          <a:xfrm>
            <a:off x="8753386" y="2347976"/>
            <a:ext cx="2633636" cy="332740"/>
          </a:xfrm>
          <a:prstGeom prst="rect">
            <a:avLst/>
          </a:prstGeom>
          <a:noFill/>
        </p:spPr>
        <p:txBody>
          <a:bodyPr wrap="square" lIns="0" rIns="0" tIns="0" bIns="0" anchor="ctr">
            <a:spAutoFit/>
          </a:bodyPr>
          <a:lstStyle/>
          <a:p>
            <a:pPr algn="l">
              <a:spcBef>
                <a:spcPts val="0"/>
              </a:spcBef>
            </a:pPr>
            <a:r>
              <a:rPr sz="1300" b="1" i="0">
                <a:solidFill>
                  <a:srgbClr val="223E55"/>
                </a:solidFill>
                <a:latin typeface="Segoe UI"/>
              </a:rPr>
              <a:t>versionné, rejouable</a:t>
            </a:r>
          </a:p>
        </p:txBody>
      </p:sp>
      <p:sp>
        <p:nvSpPr>
          <p:cNvPr id="23" name="Rectangle 22"/>
          <p:cNvSpPr/>
          <p:nvPr/>
        </p:nvSpPr>
        <p:spPr>
          <a:xfrm>
            <a:off x="749808" y="2680716"/>
            <a:ext cx="10692079" cy="3327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9808" y="3007106"/>
            <a:ext cx="10692079" cy="635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2680716"/>
            <a:ext cx="3061319"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Corpus de rapports post-mortem</a:t>
            </a:r>
          </a:p>
        </p:txBody>
      </p:sp>
      <p:sp>
        <p:nvSpPr>
          <p:cNvPr id="26" name="TextBox 25"/>
          <p:cNvSpPr txBox="1"/>
          <p:nvPr/>
        </p:nvSpPr>
        <p:spPr>
          <a:xfrm>
            <a:off x="4048871" y="2680716"/>
            <a:ext cx="4558210"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la structure de la direction, et son biais mesuré</a:t>
            </a:r>
          </a:p>
        </p:txBody>
      </p:sp>
      <p:sp>
        <p:nvSpPr>
          <p:cNvPr id="27" name="TextBox 26"/>
          <p:cNvSpPr txBox="1"/>
          <p:nvPr/>
        </p:nvSpPr>
        <p:spPr>
          <a:xfrm>
            <a:off x="8753386" y="2680716"/>
            <a:ext cx="2633636" cy="332740"/>
          </a:xfrm>
          <a:prstGeom prst="rect">
            <a:avLst/>
          </a:prstGeom>
          <a:noFill/>
        </p:spPr>
        <p:txBody>
          <a:bodyPr wrap="square" lIns="0" rIns="0" tIns="0" bIns="0" anchor="ctr">
            <a:spAutoFit/>
          </a:bodyPr>
          <a:lstStyle/>
          <a:p>
            <a:pPr algn="l">
              <a:spcBef>
                <a:spcPts val="0"/>
              </a:spcBef>
            </a:pPr>
            <a:r>
              <a:rPr sz="1300" b="1" i="0">
                <a:solidFill>
                  <a:srgbClr val="223E55"/>
                </a:solidFill>
                <a:latin typeface="Segoe UI"/>
              </a:rPr>
              <a:t>versionné, rejouable</a:t>
            </a:r>
          </a:p>
        </p:txBody>
      </p:sp>
      <p:sp>
        <p:nvSpPr>
          <p:cNvPr id="28" name="Rectangle 27"/>
          <p:cNvSpPr/>
          <p:nvPr/>
        </p:nvSpPr>
        <p:spPr>
          <a:xfrm>
            <a:off x="749808" y="3339846"/>
            <a:ext cx="10692079" cy="635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3013456"/>
            <a:ext cx="3061319"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États réglementaires publiés</a:t>
            </a:r>
          </a:p>
        </p:txBody>
      </p:sp>
      <p:sp>
        <p:nvSpPr>
          <p:cNvPr id="30" name="TextBox 29"/>
          <p:cNvSpPr txBox="1"/>
          <p:nvPr/>
        </p:nvSpPr>
        <p:spPr>
          <a:xfrm>
            <a:off x="4048871" y="3013456"/>
            <a:ext cx="4558210"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quatre bilans réels, anonymisés, pour la descente d'échelle</a:t>
            </a:r>
          </a:p>
        </p:txBody>
      </p:sp>
      <p:sp>
        <p:nvSpPr>
          <p:cNvPr id="31" name="TextBox 30"/>
          <p:cNvSpPr txBox="1"/>
          <p:nvPr/>
        </p:nvSpPr>
        <p:spPr>
          <a:xfrm>
            <a:off x="8753386" y="3013456"/>
            <a:ext cx="2633636" cy="332740"/>
          </a:xfrm>
          <a:prstGeom prst="rect">
            <a:avLst/>
          </a:prstGeom>
          <a:noFill/>
        </p:spPr>
        <p:txBody>
          <a:bodyPr wrap="square" lIns="0" rIns="0" tIns="0" bIns="0" anchor="ctr">
            <a:spAutoFit/>
          </a:bodyPr>
          <a:lstStyle/>
          <a:p>
            <a:pPr algn="l">
              <a:spcBef>
                <a:spcPts val="0"/>
              </a:spcBef>
            </a:pPr>
            <a:r>
              <a:rPr sz="1300" b="1" i="0">
                <a:solidFill>
                  <a:srgbClr val="223E55"/>
                </a:solidFill>
                <a:latin typeface="Segoe UI"/>
              </a:rPr>
              <a:t>versionné, rejouable</a:t>
            </a:r>
          </a:p>
        </p:txBody>
      </p:sp>
      <p:sp>
        <p:nvSpPr>
          <p:cNvPr id="32" name="Rectangle 31"/>
          <p:cNvSpPr/>
          <p:nvPr/>
        </p:nvSpPr>
        <p:spPr>
          <a:xfrm>
            <a:off x="749808" y="3346196"/>
            <a:ext cx="10692079" cy="3327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49808" y="3672586"/>
            <a:ext cx="10692079" cy="635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 y="3346196"/>
            <a:ext cx="3061319"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Comptage d'incidents par vecteur</a:t>
            </a:r>
          </a:p>
        </p:txBody>
      </p:sp>
      <p:sp>
        <p:nvSpPr>
          <p:cNvPr id="35" name="TextBox 34"/>
          <p:cNvSpPr txBox="1"/>
          <p:nvPr/>
        </p:nvSpPr>
        <p:spPr>
          <a:xfrm>
            <a:off x="4048871" y="3346196"/>
            <a:ext cx="4558210"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la structure du risque, jamais son niveau</a:t>
            </a:r>
          </a:p>
        </p:txBody>
      </p:sp>
      <p:sp>
        <p:nvSpPr>
          <p:cNvPr id="36" name="TextBox 35"/>
          <p:cNvSpPr txBox="1"/>
          <p:nvPr/>
        </p:nvSpPr>
        <p:spPr>
          <a:xfrm>
            <a:off x="8753386" y="3346196"/>
            <a:ext cx="2633636" cy="332740"/>
          </a:xfrm>
          <a:prstGeom prst="rect">
            <a:avLst/>
          </a:prstGeom>
          <a:noFill/>
        </p:spPr>
        <p:txBody>
          <a:bodyPr wrap="square" lIns="0" rIns="0" tIns="0" bIns="0" anchor="ctr">
            <a:spAutoFit/>
          </a:bodyPr>
          <a:lstStyle/>
          <a:p>
            <a:pPr algn="l">
              <a:spcBef>
                <a:spcPts val="0"/>
              </a:spcBef>
            </a:pPr>
            <a:r>
              <a:rPr sz="1300" b="1" i="0">
                <a:solidFill>
                  <a:srgbClr val="B10031"/>
                </a:solidFill>
                <a:latin typeface="Segoe UI"/>
              </a:rPr>
              <a:t>citation externe</a:t>
            </a:r>
          </a:p>
        </p:txBody>
      </p:sp>
      <p:sp>
        <p:nvSpPr>
          <p:cNvPr id="37" name="Rectangle 36"/>
          <p:cNvSpPr/>
          <p:nvPr/>
        </p:nvSpPr>
        <p:spPr>
          <a:xfrm>
            <a:off x="749808" y="4005326"/>
            <a:ext cx="10692079" cy="635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1248" y="3678936"/>
            <a:ext cx="3061319"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Étude de marché de la cyberassurance</a:t>
            </a:r>
          </a:p>
        </p:txBody>
      </p:sp>
      <p:sp>
        <p:nvSpPr>
          <p:cNvPr id="39" name="TextBox 38"/>
          <p:cNvSpPr txBox="1"/>
          <p:nvPr/>
        </p:nvSpPr>
        <p:spPr>
          <a:xfrm>
            <a:off x="4048871" y="3678936"/>
            <a:ext cx="4558210"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le contexte, et aucune calibration</a:t>
            </a:r>
          </a:p>
        </p:txBody>
      </p:sp>
      <p:sp>
        <p:nvSpPr>
          <p:cNvPr id="40" name="TextBox 39"/>
          <p:cNvSpPr txBox="1"/>
          <p:nvPr/>
        </p:nvSpPr>
        <p:spPr>
          <a:xfrm>
            <a:off x="8753386" y="3678936"/>
            <a:ext cx="2633636" cy="332740"/>
          </a:xfrm>
          <a:prstGeom prst="rect">
            <a:avLst/>
          </a:prstGeom>
          <a:noFill/>
        </p:spPr>
        <p:txBody>
          <a:bodyPr wrap="square" lIns="0" rIns="0" tIns="0" bIns="0" anchor="ctr">
            <a:spAutoFit/>
          </a:bodyPr>
          <a:lstStyle/>
          <a:p>
            <a:pPr algn="l">
              <a:spcBef>
                <a:spcPts val="0"/>
              </a:spcBef>
            </a:pPr>
            <a:r>
              <a:rPr sz="1300" b="1" i="0">
                <a:solidFill>
                  <a:srgbClr val="B10031"/>
                </a:solidFill>
                <a:latin typeface="Segoe UI"/>
              </a:rPr>
              <a:t>citation externe</a:t>
            </a:r>
          </a:p>
        </p:txBody>
      </p:sp>
      <p:sp>
        <p:nvSpPr>
          <p:cNvPr id="41" name="Rectangle 40"/>
          <p:cNvSpPr/>
          <p:nvPr/>
        </p:nvSpPr>
        <p:spPr>
          <a:xfrm>
            <a:off x="749808" y="4011676"/>
            <a:ext cx="10692079" cy="3327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49808" y="4338066"/>
            <a:ext cx="10692079" cy="635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1248" y="4011676"/>
            <a:ext cx="3061319"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Préprint de cascade climatique</a:t>
            </a:r>
          </a:p>
        </p:txBody>
      </p:sp>
      <p:sp>
        <p:nvSpPr>
          <p:cNvPr id="44" name="TextBox 43"/>
          <p:cNvSpPr txBox="1"/>
          <p:nvPr/>
        </p:nvSpPr>
        <p:spPr>
          <a:xfrm>
            <a:off x="4048871" y="4011676"/>
            <a:ext cx="4558210"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le protocole, jamais l'ordre du résultat</a:t>
            </a:r>
          </a:p>
        </p:txBody>
      </p:sp>
      <p:sp>
        <p:nvSpPr>
          <p:cNvPr id="45" name="TextBox 44"/>
          <p:cNvSpPr txBox="1"/>
          <p:nvPr/>
        </p:nvSpPr>
        <p:spPr>
          <a:xfrm>
            <a:off x="8753386" y="4011676"/>
            <a:ext cx="2633636" cy="332740"/>
          </a:xfrm>
          <a:prstGeom prst="rect">
            <a:avLst/>
          </a:prstGeom>
          <a:noFill/>
        </p:spPr>
        <p:txBody>
          <a:bodyPr wrap="square" lIns="0" rIns="0" tIns="0" bIns="0" anchor="ctr">
            <a:spAutoFit/>
          </a:bodyPr>
          <a:lstStyle/>
          <a:p>
            <a:pPr algn="l">
              <a:spcBef>
                <a:spcPts val="0"/>
              </a:spcBef>
            </a:pPr>
            <a:r>
              <a:rPr sz="1300" b="1" i="0">
                <a:solidFill>
                  <a:srgbClr val="B10031"/>
                </a:solidFill>
                <a:latin typeface="Segoe UI"/>
              </a:rPr>
              <a:t>citation externe</a:t>
            </a:r>
          </a:p>
        </p:txBody>
      </p:sp>
      <p:sp>
        <p:nvSpPr>
          <p:cNvPr id="46" name="TextBox 45"/>
          <p:cNvSpPr txBox="1"/>
          <p:nvPr/>
        </p:nvSpPr>
        <p:spPr>
          <a:xfrm>
            <a:off x="749808" y="4618736"/>
            <a:ext cx="10692079" cy="548640"/>
          </a:xfrm>
          <a:prstGeom prst="rect">
            <a:avLst/>
          </a:prstGeom>
          <a:noFill/>
        </p:spPr>
        <p:txBody>
          <a:bodyPr wrap="square" lIns="0" rIns="0" tIns="0" bIns="0">
            <a:spAutoFit/>
          </a:bodyPr>
          <a:lstStyle/>
          <a:p>
            <a:pPr algn="l">
              <a:spcBef>
                <a:spcPts val="0"/>
              </a:spcBef>
            </a:pPr>
            <a:r>
              <a:rPr sz="1300" b="0" i="0">
                <a:solidFill>
                  <a:srgbClr val="595959"/>
                </a:solidFill>
                <a:latin typeface="Segoe UI"/>
              </a:rPr>
              <a:t>Une citation externe est une valeur qu'aucun script du dépôt ne reproduit. Elle est déclarée comme telle, elle n'entre dans aucune calibration, et elle ne porte aucun niveau de capital.</a:t>
            </a:r>
          </a:p>
        </p:txBody>
      </p:sp>
      <p:sp>
        <p:nvSpPr>
          <p:cNvPr id="47" name="TextBox 46"/>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4 ; scripts 62 et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749808" y="201168"/>
            <a:ext cx="2743200" cy="237744"/>
          </a:xfrm>
          <a:prstGeom prst="rect">
            <a:avLst/>
          </a:prstGeom>
          <a:noFill/>
        </p:spPr>
        <p:txBody>
          <a:bodyPr wrap="square" lIns="0" rIns="0" tIns="0" bIns="0">
            <a:spAutoFit/>
          </a:bodyPr>
          <a:lstStyle/>
          <a:p>
            <a:pPr algn="l">
              <a:spcBef>
                <a:spcPts val="0"/>
              </a:spcBef>
            </a:pPr>
            <a:r>
              <a:rPr sz="1100" b="1" i="0">
                <a:solidFill>
                  <a:srgbClr val="B10031"/>
                </a:solidFill>
                <a:latin typeface="Segoe UI"/>
              </a:rPr>
              <a:t>ANNEXE 2</a:t>
            </a:r>
          </a:p>
        </p:txBody>
      </p:sp>
      <p:sp>
        <p:nvSpPr>
          <p:cNvPr id="7" name="TextBox 6"/>
          <p:cNvSpPr txBox="1"/>
          <p:nvPr/>
        </p:nvSpPr>
        <p:spPr>
          <a:xfrm>
            <a:off x="749808" y="475488"/>
            <a:ext cx="8954719" cy="512064"/>
          </a:xfrm>
          <a:prstGeom prst="rect">
            <a:avLst/>
          </a:prstGeom>
          <a:noFill/>
        </p:spPr>
        <p:txBody>
          <a:bodyPr wrap="square" lIns="0" rIns="0" tIns="0" bIns="0">
            <a:spAutoFit/>
          </a:bodyPr>
          <a:lstStyle/>
          <a:p>
            <a:pPr algn="l">
              <a:spcBef>
                <a:spcPts val="0"/>
              </a:spcBef>
            </a:pPr>
            <a:r>
              <a:rPr sz="2400" b="1" i="0">
                <a:solidFill>
                  <a:srgbClr val="223E55"/>
                </a:solidFill>
                <a:latin typeface="Georgia"/>
              </a:rPr>
              <a:t>Les paramètres, et ce qui est estimé, posé ou gelé</a:t>
            </a:r>
          </a:p>
        </p:txBody>
      </p:sp>
      <p:sp>
        <p:nvSpPr>
          <p:cNvPr id="8" name="TextBox 7"/>
          <p:cNvSpPr txBox="1"/>
          <p:nvPr/>
        </p:nvSpPr>
        <p:spPr>
          <a:xfrm>
            <a:off x="749808" y="950976"/>
            <a:ext cx="8954719" cy="347472"/>
          </a:xfrm>
          <a:prstGeom prst="rect">
            <a:avLst/>
          </a:prstGeom>
          <a:noFill/>
        </p:spPr>
        <p:txBody>
          <a:bodyPr wrap="square" lIns="0" rIns="0" tIns="0" bIns="0">
            <a:spAutoFit/>
          </a:bodyPr>
          <a:lstStyle/>
          <a:p>
            <a:pPr algn="l">
              <a:spcBef>
                <a:spcPts val="0"/>
              </a:spcBef>
            </a:pPr>
            <a:r>
              <a:rPr sz="1600" b="1" i="0">
                <a:solidFill>
                  <a:srgbClr val="B10031"/>
                </a:solidFill>
                <a:latin typeface="Georgia"/>
              </a:rPr>
              <a:t>La thèse dépend de l'ordre, pas du niveau</a:t>
            </a:r>
          </a:p>
        </p:txBody>
      </p:sp>
      <p:sp>
        <p:nvSpPr>
          <p:cNvPr id="9" name="TextBox 8"/>
          <p:cNvSpPr txBox="1"/>
          <p:nvPr/>
        </p:nvSpPr>
        <p:spPr>
          <a:xfrm>
            <a:off x="11002975" y="6428232"/>
            <a:ext cx="68580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A2</a:t>
            </a:r>
          </a:p>
        </p:txBody>
      </p:sp>
      <p:sp>
        <p:nvSpPr>
          <p:cNvPr id="10" name="Rectangle 9"/>
          <p:cNvSpPr/>
          <p:nvPr/>
        </p:nvSpPr>
        <p:spPr>
          <a:xfrm>
            <a:off x="749808" y="1481328"/>
            <a:ext cx="10692079" cy="329184"/>
          </a:xfrm>
          <a:prstGeom prst="rect">
            <a:avLst/>
          </a:prstGeom>
          <a:solidFill>
            <a:srgbClr val="223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1481328"/>
            <a:ext cx="3061319" cy="329184"/>
          </a:xfrm>
          <a:prstGeom prst="rect">
            <a:avLst/>
          </a:prstGeom>
          <a:noFill/>
        </p:spPr>
        <p:txBody>
          <a:bodyPr wrap="square" lIns="0" rIns="0" tIns="0" bIns="0" anchor="ctr">
            <a:spAutoFit/>
          </a:bodyPr>
          <a:lstStyle/>
          <a:p>
            <a:pPr algn="l">
              <a:spcBef>
                <a:spcPts val="0"/>
              </a:spcBef>
            </a:pPr>
            <a:r>
              <a:rPr sz="1300" b="1" i="0">
                <a:solidFill>
                  <a:srgbClr val="FFFFFF"/>
                </a:solidFill>
                <a:latin typeface="Segoe UI"/>
              </a:rPr>
              <a:t>Paramètre</a:t>
            </a:r>
          </a:p>
        </p:txBody>
      </p:sp>
      <p:sp>
        <p:nvSpPr>
          <p:cNvPr id="12" name="TextBox 11"/>
          <p:cNvSpPr txBox="1"/>
          <p:nvPr/>
        </p:nvSpPr>
        <p:spPr>
          <a:xfrm>
            <a:off x="4048871" y="1481328"/>
            <a:ext cx="2419794" cy="329184"/>
          </a:xfrm>
          <a:prstGeom prst="rect">
            <a:avLst/>
          </a:prstGeom>
          <a:noFill/>
        </p:spPr>
        <p:txBody>
          <a:bodyPr wrap="square" lIns="0" rIns="0" tIns="0" bIns="0" anchor="ctr">
            <a:spAutoFit/>
          </a:bodyPr>
          <a:lstStyle/>
          <a:p>
            <a:pPr algn="l">
              <a:spcBef>
                <a:spcPts val="0"/>
              </a:spcBef>
            </a:pPr>
            <a:r>
              <a:rPr sz="1300" b="1" i="0">
                <a:solidFill>
                  <a:srgbClr val="FFFFFF"/>
                </a:solidFill>
                <a:latin typeface="Segoe UI"/>
              </a:rPr>
              <a:t>Valeur</a:t>
            </a:r>
          </a:p>
        </p:txBody>
      </p:sp>
      <p:sp>
        <p:nvSpPr>
          <p:cNvPr id="13" name="TextBox 12"/>
          <p:cNvSpPr txBox="1"/>
          <p:nvPr/>
        </p:nvSpPr>
        <p:spPr>
          <a:xfrm>
            <a:off x="6614970" y="1481328"/>
            <a:ext cx="1243666" cy="329184"/>
          </a:xfrm>
          <a:prstGeom prst="rect">
            <a:avLst/>
          </a:prstGeom>
          <a:noFill/>
        </p:spPr>
        <p:txBody>
          <a:bodyPr wrap="square" lIns="0" rIns="0" tIns="0" bIns="0" anchor="ctr">
            <a:spAutoFit/>
          </a:bodyPr>
          <a:lstStyle/>
          <a:p>
            <a:pPr algn="l">
              <a:spcBef>
                <a:spcPts val="0"/>
              </a:spcBef>
            </a:pPr>
            <a:r>
              <a:rPr sz="1300" b="1" i="0">
                <a:solidFill>
                  <a:srgbClr val="FFFFFF"/>
                </a:solidFill>
                <a:latin typeface="Segoe UI"/>
              </a:rPr>
              <a:t>Statut</a:t>
            </a:r>
          </a:p>
        </p:txBody>
      </p:sp>
      <p:sp>
        <p:nvSpPr>
          <p:cNvPr id="14" name="TextBox 13"/>
          <p:cNvSpPr txBox="1"/>
          <p:nvPr/>
        </p:nvSpPr>
        <p:spPr>
          <a:xfrm>
            <a:off x="8004940" y="1481328"/>
            <a:ext cx="3382082" cy="329184"/>
          </a:xfrm>
          <a:prstGeom prst="rect">
            <a:avLst/>
          </a:prstGeom>
          <a:noFill/>
        </p:spPr>
        <p:txBody>
          <a:bodyPr wrap="square" lIns="0" rIns="0" tIns="0" bIns="0" anchor="ctr">
            <a:spAutoFit/>
          </a:bodyPr>
          <a:lstStyle/>
          <a:p>
            <a:pPr algn="l">
              <a:spcBef>
                <a:spcPts val="0"/>
              </a:spcBef>
            </a:pPr>
            <a:r>
              <a:rPr sz="1300" b="1" i="0">
                <a:solidFill>
                  <a:srgbClr val="FFFFFF"/>
                </a:solidFill>
                <a:latin typeface="Segoe UI"/>
              </a:rPr>
              <a:t>Ce que le statut engage</a:t>
            </a:r>
          </a:p>
        </p:txBody>
      </p:sp>
      <p:sp>
        <p:nvSpPr>
          <p:cNvPr id="15" name="Rectangle 14"/>
          <p:cNvSpPr/>
          <p:nvPr/>
        </p:nvSpPr>
        <p:spPr>
          <a:xfrm>
            <a:off x="749808" y="1810512"/>
            <a:ext cx="10692079" cy="53746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2341626"/>
            <a:ext cx="10692079" cy="635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 y="1810512"/>
            <a:ext cx="3061319"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Seuil de la loi de queue, u</a:t>
            </a:r>
          </a:p>
        </p:txBody>
      </p:sp>
      <p:sp>
        <p:nvSpPr>
          <p:cNvPr id="18" name="TextBox 17"/>
          <p:cNvSpPr txBox="1"/>
          <p:nvPr/>
        </p:nvSpPr>
        <p:spPr>
          <a:xfrm>
            <a:off x="4048871" y="1810512"/>
            <a:ext cx="2419794"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20,03 M€</a:t>
            </a:r>
          </a:p>
        </p:txBody>
      </p:sp>
      <p:sp>
        <p:nvSpPr>
          <p:cNvPr id="19" name="TextBox 18"/>
          <p:cNvSpPr txBox="1"/>
          <p:nvPr/>
        </p:nvSpPr>
        <p:spPr>
          <a:xfrm>
            <a:off x="6614970" y="1810512"/>
            <a:ext cx="1243666" cy="537464"/>
          </a:xfrm>
          <a:prstGeom prst="rect">
            <a:avLst/>
          </a:prstGeom>
          <a:noFill/>
        </p:spPr>
        <p:txBody>
          <a:bodyPr wrap="square" lIns="0" rIns="0" tIns="0" bIns="0" anchor="ctr">
            <a:spAutoFit/>
          </a:bodyPr>
          <a:lstStyle/>
          <a:p>
            <a:pPr algn="l">
              <a:spcBef>
                <a:spcPts val="0"/>
              </a:spcBef>
            </a:pPr>
            <a:r>
              <a:rPr sz="1300" b="1" i="0">
                <a:solidFill>
                  <a:srgbClr val="B10031"/>
                </a:solidFill>
                <a:latin typeface="Segoe UI"/>
              </a:rPr>
              <a:t>posé</a:t>
            </a:r>
          </a:p>
        </p:txBody>
      </p:sp>
      <p:sp>
        <p:nvSpPr>
          <p:cNvPr id="20" name="TextBox 19"/>
          <p:cNvSpPr txBox="1"/>
          <p:nvPr/>
        </p:nvSpPr>
        <p:spPr>
          <a:xfrm>
            <a:off x="8004940" y="1810512"/>
            <a:ext cx="3382082"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règle du percentile 85 ; la règle de stabilité retombe dessus</a:t>
            </a:r>
          </a:p>
        </p:txBody>
      </p:sp>
      <p:sp>
        <p:nvSpPr>
          <p:cNvPr id="21" name="Rectangle 20"/>
          <p:cNvSpPr/>
          <p:nvPr/>
        </p:nvSpPr>
        <p:spPr>
          <a:xfrm>
            <a:off x="749808" y="2674366"/>
            <a:ext cx="10692079" cy="635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2347976"/>
            <a:ext cx="3061319"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Excès au-dessus du seuil</a:t>
            </a:r>
          </a:p>
        </p:txBody>
      </p:sp>
      <p:sp>
        <p:nvSpPr>
          <p:cNvPr id="23" name="TextBox 22"/>
          <p:cNvSpPr txBox="1"/>
          <p:nvPr/>
        </p:nvSpPr>
        <p:spPr>
          <a:xfrm>
            <a:off x="4048871" y="2347976"/>
            <a:ext cx="2419794"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91</a:t>
            </a:r>
          </a:p>
        </p:txBody>
      </p:sp>
      <p:sp>
        <p:nvSpPr>
          <p:cNvPr id="24" name="TextBox 23"/>
          <p:cNvSpPr txBox="1"/>
          <p:nvPr/>
        </p:nvSpPr>
        <p:spPr>
          <a:xfrm>
            <a:off x="6614970" y="2347976"/>
            <a:ext cx="1243666" cy="332740"/>
          </a:xfrm>
          <a:prstGeom prst="rect">
            <a:avLst/>
          </a:prstGeom>
          <a:noFill/>
        </p:spPr>
        <p:txBody>
          <a:bodyPr wrap="square" lIns="0" rIns="0" tIns="0" bIns="0" anchor="ctr">
            <a:spAutoFit/>
          </a:bodyPr>
          <a:lstStyle/>
          <a:p>
            <a:pPr algn="l">
              <a:spcBef>
                <a:spcPts val="0"/>
              </a:spcBef>
            </a:pPr>
            <a:r>
              <a:rPr sz="1300" b="1" i="0">
                <a:solidFill>
                  <a:srgbClr val="223E55"/>
                </a:solidFill>
                <a:latin typeface="Segoe UI"/>
              </a:rPr>
              <a:t>compté</a:t>
            </a:r>
          </a:p>
        </p:txBody>
      </p:sp>
      <p:sp>
        <p:nvSpPr>
          <p:cNvPr id="25" name="TextBox 24"/>
          <p:cNvSpPr txBox="1"/>
          <p:nvPr/>
        </p:nvSpPr>
        <p:spPr>
          <a:xfrm>
            <a:off x="8004940" y="2347976"/>
            <a:ext cx="3382082"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une fois le seuil et l'échantillon fixés</a:t>
            </a:r>
          </a:p>
        </p:txBody>
      </p:sp>
      <p:sp>
        <p:nvSpPr>
          <p:cNvPr id="26" name="Rectangle 25"/>
          <p:cNvSpPr/>
          <p:nvPr/>
        </p:nvSpPr>
        <p:spPr>
          <a:xfrm>
            <a:off x="749808" y="2680716"/>
            <a:ext cx="10692079" cy="53746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211830"/>
            <a:ext cx="10692079" cy="635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 y="2680716"/>
            <a:ext cx="3061319"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Indice de queue, ξ</a:t>
            </a:r>
          </a:p>
        </p:txBody>
      </p:sp>
      <p:sp>
        <p:nvSpPr>
          <p:cNvPr id="29" name="TextBox 28"/>
          <p:cNvSpPr txBox="1"/>
          <p:nvPr/>
        </p:nvSpPr>
        <p:spPr>
          <a:xfrm>
            <a:off x="4048871" y="2680716"/>
            <a:ext cx="2419794"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0,5954</a:t>
            </a:r>
          </a:p>
        </p:txBody>
      </p:sp>
      <p:sp>
        <p:nvSpPr>
          <p:cNvPr id="30" name="TextBox 29"/>
          <p:cNvSpPr txBox="1"/>
          <p:nvPr/>
        </p:nvSpPr>
        <p:spPr>
          <a:xfrm>
            <a:off x="6614970" y="2680716"/>
            <a:ext cx="1243666" cy="537464"/>
          </a:xfrm>
          <a:prstGeom prst="rect">
            <a:avLst/>
          </a:prstGeom>
          <a:noFill/>
        </p:spPr>
        <p:txBody>
          <a:bodyPr wrap="square" lIns="0" rIns="0" tIns="0" bIns="0" anchor="ctr">
            <a:spAutoFit/>
          </a:bodyPr>
          <a:lstStyle/>
          <a:p>
            <a:pPr algn="l">
              <a:spcBef>
                <a:spcPts val="0"/>
              </a:spcBef>
            </a:pPr>
            <a:r>
              <a:rPr sz="1300" b="1" i="0">
                <a:solidFill>
                  <a:srgbClr val="223E55"/>
                </a:solidFill>
                <a:latin typeface="Segoe UI"/>
              </a:rPr>
              <a:t>estimé</a:t>
            </a:r>
          </a:p>
        </p:txBody>
      </p:sp>
      <p:sp>
        <p:nvSpPr>
          <p:cNvPr id="31" name="TextBox 30"/>
          <p:cNvSpPr txBox="1"/>
          <p:nvPr/>
        </p:nvSpPr>
        <p:spPr>
          <a:xfrm>
            <a:off x="8004940" y="2680716"/>
            <a:ext cx="3382082"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IC 90 % [0,304 ; 0,831], et c'est la plus grosse incertitude</a:t>
            </a:r>
          </a:p>
        </p:txBody>
      </p:sp>
      <p:sp>
        <p:nvSpPr>
          <p:cNvPr id="32" name="Rectangle 31"/>
          <p:cNvSpPr/>
          <p:nvPr/>
        </p:nvSpPr>
        <p:spPr>
          <a:xfrm>
            <a:off x="749808" y="3544570"/>
            <a:ext cx="10692079" cy="635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8" y="3218180"/>
            <a:ext cx="3061319"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Échelle, σ</a:t>
            </a:r>
          </a:p>
        </p:txBody>
      </p:sp>
      <p:sp>
        <p:nvSpPr>
          <p:cNvPr id="34" name="TextBox 33"/>
          <p:cNvSpPr txBox="1"/>
          <p:nvPr/>
        </p:nvSpPr>
        <p:spPr>
          <a:xfrm>
            <a:off x="4048871" y="3218180"/>
            <a:ext cx="2419794"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57,97 M€</a:t>
            </a:r>
          </a:p>
        </p:txBody>
      </p:sp>
      <p:sp>
        <p:nvSpPr>
          <p:cNvPr id="35" name="TextBox 34"/>
          <p:cNvSpPr txBox="1"/>
          <p:nvPr/>
        </p:nvSpPr>
        <p:spPr>
          <a:xfrm>
            <a:off x="6614970" y="3218180"/>
            <a:ext cx="1243666" cy="332740"/>
          </a:xfrm>
          <a:prstGeom prst="rect">
            <a:avLst/>
          </a:prstGeom>
          <a:noFill/>
        </p:spPr>
        <p:txBody>
          <a:bodyPr wrap="square" lIns="0" rIns="0" tIns="0" bIns="0" anchor="ctr">
            <a:spAutoFit/>
          </a:bodyPr>
          <a:lstStyle/>
          <a:p>
            <a:pPr algn="l">
              <a:spcBef>
                <a:spcPts val="0"/>
              </a:spcBef>
            </a:pPr>
            <a:r>
              <a:rPr sz="1300" b="1" i="0">
                <a:solidFill>
                  <a:srgbClr val="223E55"/>
                </a:solidFill>
                <a:latin typeface="Segoe UI"/>
              </a:rPr>
              <a:t>estimé</a:t>
            </a:r>
          </a:p>
        </p:txBody>
      </p:sp>
      <p:sp>
        <p:nvSpPr>
          <p:cNvPr id="36" name="TextBox 35"/>
          <p:cNvSpPr txBox="1"/>
          <p:nvPr/>
        </p:nvSpPr>
        <p:spPr>
          <a:xfrm>
            <a:off x="8004940" y="3218180"/>
            <a:ext cx="3382082" cy="332740"/>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maximum de vraisemblance, seuil imposé</a:t>
            </a:r>
          </a:p>
        </p:txBody>
      </p:sp>
      <p:sp>
        <p:nvSpPr>
          <p:cNvPr id="37" name="Rectangle 36"/>
          <p:cNvSpPr/>
          <p:nvPr/>
        </p:nvSpPr>
        <p:spPr>
          <a:xfrm>
            <a:off x="749808" y="3550920"/>
            <a:ext cx="10692079" cy="53746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49808" y="4082034"/>
            <a:ext cx="10692079" cy="635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41248" y="3550920"/>
            <a:ext cx="3061319"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Fréquence au secteur, λ</a:t>
            </a:r>
          </a:p>
        </p:txBody>
      </p:sp>
      <p:sp>
        <p:nvSpPr>
          <p:cNvPr id="40" name="TextBox 39"/>
          <p:cNvSpPr txBox="1"/>
          <p:nvPr/>
        </p:nvSpPr>
        <p:spPr>
          <a:xfrm>
            <a:off x="4048871" y="3550920"/>
            <a:ext cx="2419794"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21,56 par an</a:t>
            </a:r>
          </a:p>
        </p:txBody>
      </p:sp>
      <p:sp>
        <p:nvSpPr>
          <p:cNvPr id="41" name="TextBox 40"/>
          <p:cNvSpPr txBox="1"/>
          <p:nvPr/>
        </p:nvSpPr>
        <p:spPr>
          <a:xfrm>
            <a:off x="6614970" y="3550920"/>
            <a:ext cx="1243666" cy="537464"/>
          </a:xfrm>
          <a:prstGeom prst="rect">
            <a:avLst/>
          </a:prstGeom>
          <a:noFill/>
        </p:spPr>
        <p:txBody>
          <a:bodyPr wrap="square" lIns="0" rIns="0" tIns="0" bIns="0" anchor="ctr">
            <a:spAutoFit/>
          </a:bodyPr>
          <a:lstStyle/>
          <a:p>
            <a:pPr algn="l">
              <a:spcBef>
                <a:spcPts val="0"/>
              </a:spcBef>
            </a:pPr>
            <a:r>
              <a:rPr sz="1300" b="1" i="0">
                <a:solidFill>
                  <a:srgbClr val="223E55"/>
                </a:solidFill>
                <a:latin typeface="Segoe UI"/>
              </a:rPr>
              <a:t>calibré</a:t>
            </a:r>
          </a:p>
        </p:txBody>
      </p:sp>
      <p:sp>
        <p:nvSpPr>
          <p:cNvPr id="42" name="TextBox 41"/>
          <p:cNvSpPr txBox="1"/>
          <p:nvPr/>
        </p:nvSpPr>
        <p:spPr>
          <a:xfrm>
            <a:off x="8004940" y="3550920"/>
            <a:ext cx="3382082"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descente d'échelle depuis le périmètre financier</a:t>
            </a:r>
          </a:p>
        </p:txBody>
      </p:sp>
      <p:sp>
        <p:nvSpPr>
          <p:cNvPr id="43" name="Rectangle 42"/>
          <p:cNvSpPr/>
          <p:nvPr/>
        </p:nvSpPr>
        <p:spPr>
          <a:xfrm>
            <a:off x="749808" y="4619498"/>
            <a:ext cx="10692079" cy="635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1248" y="4088384"/>
            <a:ext cx="3061319"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Surdispersion des comptes</a:t>
            </a:r>
          </a:p>
        </p:txBody>
      </p:sp>
      <p:sp>
        <p:nvSpPr>
          <p:cNvPr id="45" name="TextBox 44"/>
          <p:cNvSpPr txBox="1"/>
          <p:nvPr/>
        </p:nvSpPr>
        <p:spPr>
          <a:xfrm>
            <a:off x="4048871" y="4088384"/>
            <a:ext cx="2419794"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9,2</a:t>
            </a:r>
          </a:p>
        </p:txBody>
      </p:sp>
      <p:sp>
        <p:nvSpPr>
          <p:cNvPr id="46" name="TextBox 45"/>
          <p:cNvSpPr txBox="1"/>
          <p:nvPr/>
        </p:nvSpPr>
        <p:spPr>
          <a:xfrm>
            <a:off x="6614970" y="4088384"/>
            <a:ext cx="1243666" cy="537464"/>
          </a:xfrm>
          <a:prstGeom prst="rect">
            <a:avLst/>
          </a:prstGeom>
          <a:noFill/>
        </p:spPr>
        <p:txBody>
          <a:bodyPr wrap="square" lIns="0" rIns="0" tIns="0" bIns="0" anchor="ctr">
            <a:spAutoFit/>
          </a:bodyPr>
          <a:lstStyle/>
          <a:p>
            <a:pPr algn="l">
              <a:spcBef>
                <a:spcPts val="0"/>
              </a:spcBef>
            </a:pPr>
            <a:r>
              <a:rPr sz="1300" b="1" i="0">
                <a:solidFill>
                  <a:srgbClr val="B10031"/>
                </a:solidFill>
                <a:latin typeface="Segoe UI"/>
              </a:rPr>
              <a:t>posé</a:t>
            </a:r>
          </a:p>
        </p:txBody>
      </p:sp>
      <p:sp>
        <p:nvSpPr>
          <p:cNvPr id="47" name="TextBox 46"/>
          <p:cNvSpPr txBox="1"/>
          <p:nvPr/>
        </p:nvSpPr>
        <p:spPr>
          <a:xfrm>
            <a:off x="8004940" y="4088384"/>
            <a:ext cx="3382082"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marge prudentielle assumée, et déclarée comme telle</a:t>
            </a:r>
          </a:p>
        </p:txBody>
      </p:sp>
      <p:sp>
        <p:nvSpPr>
          <p:cNvPr id="48" name="Rectangle 47"/>
          <p:cNvSpPr/>
          <p:nvPr/>
        </p:nvSpPr>
        <p:spPr>
          <a:xfrm>
            <a:off x="749808" y="4625848"/>
            <a:ext cx="10692079" cy="53746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49808" y="5156962"/>
            <a:ext cx="10692079" cy="635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8" y="4625848"/>
            <a:ext cx="3061319"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Gain de propagation, g</a:t>
            </a:r>
          </a:p>
        </p:txBody>
      </p:sp>
      <p:sp>
        <p:nvSpPr>
          <p:cNvPr id="51" name="TextBox 50"/>
          <p:cNvSpPr txBox="1"/>
          <p:nvPr/>
        </p:nvSpPr>
        <p:spPr>
          <a:xfrm>
            <a:off x="4048871" y="4625848"/>
            <a:ext cx="2419794"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0,45  /  0,68  /  0,90</a:t>
            </a:r>
          </a:p>
        </p:txBody>
      </p:sp>
      <p:sp>
        <p:nvSpPr>
          <p:cNvPr id="52" name="TextBox 51"/>
          <p:cNvSpPr txBox="1"/>
          <p:nvPr/>
        </p:nvSpPr>
        <p:spPr>
          <a:xfrm>
            <a:off x="6614970" y="4625848"/>
            <a:ext cx="1243666" cy="537464"/>
          </a:xfrm>
          <a:prstGeom prst="rect">
            <a:avLst/>
          </a:prstGeom>
          <a:noFill/>
        </p:spPr>
        <p:txBody>
          <a:bodyPr wrap="square" lIns="0" rIns="0" tIns="0" bIns="0" anchor="ctr">
            <a:spAutoFit/>
          </a:bodyPr>
          <a:lstStyle/>
          <a:p>
            <a:pPr algn="l">
              <a:spcBef>
                <a:spcPts val="0"/>
              </a:spcBef>
            </a:pPr>
            <a:r>
              <a:rPr sz="1300" b="1" i="0">
                <a:solidFill>
                  <a:srgbClr val="B10031"/>
                </a:solidFill>
                <a:latin typeface="Segoe UI"/>
              </a:rPr>
              <a:t>posé</a:t>
            </a:r>
          </a:p>
        </p:txBody>
      </p:sp>
      <p:sp>
        <p:nvSpPr>
          <p:cNvPr id="53" name="TextBox 52"/>
          <p:cNvSpPr txBox="1"/>
          <p:nvPr/>
        </p:nvSpPr>
        <p:spPr>
          <a:xfrm>
            <a:off x="8004940" y="4625848"/>
            <a:ext cx="3382082"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le capital est croissant en g : l'ordre suffit à produire l'écart</a:t>
            </a:r>
          </a:p>
        </p:txBody>
      </p:sp>
      <p:sp>
        <p:nvSpPr>
          <p:cNvPr id="54" name="Rectangle 53"/>
          <p:cNvSpPr/>
          <p:nvPr/>
        </p:nvSpPr>
        <p:spPr>
          <a:xfrm>
            <a:off x="749808" y="5694426"/>
            <a:ext cx="10692079" cy="635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41248" y="5163312"/>
            <a:ext cx="3061319"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Taux de dépassement, p_u</a:t>
            </a:r>
          </a:p>
        </p:txBody>
      </p:sp>
      <p:sp>
        <p:nvSpPr>
          <p:cNvPr id="56" name="TextBox 55"/>
          <p:cNvSpPr txBox="1"/>
          <p:nvPr/>
        </p:nvSpPr>
        <p:spPr>
          <a:xfrm>
            <a:off x="4048871" y="5163312"/>
            <a:ext cx="2419794"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0,1509</a:t>
            </a:r>
          </a:p>
        </p:txBody>
      </p:sp>
      <p:sp>
        <p:nvSpPr>
          <p:cNvPr id="57" name="TextBox 56"/>
          <p:cNvSpPr txBox="1"/>
          <p:nvPr/>
        </p:nvSpPr>
        <p:spPr>
          <a:xfrm>
            <a:off x="6614970" y="5163312"/>
            <a:ext cx="1243666" cy="537464"/>
          </a:xfrm>
          <a:prstGeom prst="rect">
            <a:avLst/>
          </a:prstGeom>
          <a:noFill/>
        </p:spPr>
        <p:txBody>
          <a:bodyPr wrap="square" lIns="0" rIns="0" tIns="0" bIns="0" anchor="ctr">
            <a:spAutoFit/>
          </a:bodyPr>
          <a:lstStyle/>
          <a:p>
            <a:pPr algn="l">
              <a:spcBef>
                <a:spcPts val="0"/>
              </a:spcBef>
            </a:pPr>
            <a:r>
              <a:rPr sz="1300" b="1" i="0">
                <a:solidFill>
                  <a:srgbClr val="595959"/>
                </a:solidFill>
                <a:latin typeface="Segoe UI"/>
              </a:rPr>
              <a:t>gelé</a:t>
            </a:r>
          </a:p>
        </p:txBody>
      </p:sp>
      <p:sp>
        <p:nvSpPr>
          <p:cNvPr id="58" name="TextBox 57"/>
          <p:cNvSpPr txBox="1"/>
          <p:nvPr/>
        </p:nvSpPr>
        <p:spPr>
          <a:xfrm>
            <a:off x="8004940" y="5163312"/>
            <a:ext cx="3382082" cy="537464"/>
          </a:xfrm>
          <a:prstGeom prst="rect">
            <a:avLst/>
          </a:prstGeom>
          <a:noFill/>
        </p:spPr>
        <p:txBody>
          <a:bodyPr wrap="square" lIns="0" rIns="0" tIns="0" bIns="0" anchor="ctr">
            <a:spAutoFit/>
          </a:bodyPr>
          <a:lstStyle/>
          <a:p>
            <a:pPr algn="l">
              <a:spcBef>
                <a:spcPts val="0"/>
              </a:spcBef>
            </a:pPr>
            <a:r>
              <a:rPr sz="1300" b="0" i="0">
                <a:solidFill>
                  <a:srgbClr val="122738"/>
                </a:solidFill>
                <a:latin typeface="Segoe UI"/>
              </a:rPr>
              <a:t>écart de +2,4 % sur la VaR, chiffré plutôt que corrigé</a:t>
            </a:r>
          </a:p>
        </p:txBody>
      </p:sp>
      <p:sp>
        <p:nvSpPr>
          <p:cNvPr id="59" name="TextBox 58"/>
          <p:cNvSpPr txBox="1"/>
          <p:nvPr/>
        </p:nvSpPr>
        <p:spPr>
          <a:xfrm>
            <a:off x="749808" y="5938520"/>
            <a:ext cx="10692079" cy="548640"/>
          </a:xfrm>
          <a:prstGeom prst="rect">
            <a:avLst/>
          </a:prstGeom>
          <a:noFill/>
        </p:spPr>
        <p:txBody>
          <a:bodyPr wrap="square" lIns="0" rIns="0" tIns="0" bIns="0">
            <a:spAutoFit/>
          </a:bodyPr>
          <a:lstStyle/>
          <a:p>
            <a:pPr algn="l">
              <a:spcBef>
                <a:spcPts val="0"/>
              </a:spcBef>
            </a:pPr>
            <a:r>
              <a:rPr sz="1400" b="1" i="0">
                <a:solidFill>
                  <a:srgbClr val="B10031"/>
                </a:solidFill>
                <a:latin typeface="Segoe UI"/>
              </a:rPr>
              <a:t>Ce qui est POSÉ n'est pas une estimation déguisée : la thèse ne dépend pas du niveau de ces valeurs mais de leur ORDRE, et la monotonie du capital en g est démontrée.</a:t>
            </a:r>
          </a:p>
        </p:txBody>
      </p:sp>
      <p:sp>
        <p:nvSpPr>
          <p:cNvPr id="60" name="TextBox 59"/>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annexe D ; valeurs lues dans la sortie versionnée du script 63 ; monotonie, script 66.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749808" y="201168"/>
            <a:ext cx="2743200" cy="237744"/>
          </a:xfrm>
          <a:prstGeom prst="rect">
            <a:avLst/>
          </a:prstGeom>
          <a:noFill/>
        </p:spPr>
        <p:txBody>
          <a:bodyPr wrap="square" lIns="0" rIns="0" tIns="0" bIns="0">
            <a:spAutoFit/>
          </a:bodyPr>
          <a:lstStyle/>
          <a:p>
            <a:pPr algn="l">
              <a:spcBef>
                <a:spcPts val="0"/>
              </a:spcBef>
            </a:pPr>
            <a:r>
              <a:rPr sz="1100" b="1" i="0">
                <a:solidFill>
                  <a:srgbClr val="B10031"/>
                </a:solidFill>
                <a:latin typeface="Segoe UI"/>
              </a:rPr>
              <a:t>ANNEXE 3</a:t>
            </a:r>
          </a:p>
        </p:txBody>
      </p:sp>
      <p:sp>
        <p:nvSpPr>
          <p:cNvPr id="7" name="TextBox 6"/>
          <p:cNvSpPr txBox="1"/>
          <p:nvPr/>
        </p:nvSpPr>
        <p:spPr>
          <a:xfrm>
            <a:off x="749808" y="475488"/>
            <a:ext cx="8954719" cy="512064"/>
          </a:xfrm>
          <a:prstGeom prst="rect">
            <a:avLst/>
          </a:prstGeom>
          <a:noFill/>
        </p:spPr>
        <p:txBody>
          <a:bodyPr wrap="square" lIns="0" rIns="0" tIns="0" bIns="0">
            <a:spAutoFit/>
          </a:bodyPr>
          <a:lstStyle/>
          <a:p>
            <a:pPr algn="l">
              <a:spcBef>
                <a:spcPts val="0"/>
              </a:spcBef>
            </a:pPr>
            <a:r>
              <a:rPr sz="2400" b="1" i="0">
                <a:solidFill>
                  <a:srgbClr val="223E55"/>
                </a:solidFill>
                <a:latin typeface="Georgia"/>
              </a:rPr>
              <a:t>Pourquoi une loi de valeurs extrêmes pour la sévérité</a:t>
            </a:r>
          </a:p>
        </p:txBody>
      </p:sp>
      <p:sp>
        <p:nvSpPr>
          <p:cNvPr id="8" name="TextBox 7"/>
          <p:cNvSpPr txBox="1"/>
          <p:nvPr/>
        </p:nvSpPr>
        <p:spPr>
          <a:xfrm>
            <a:off x="749808" y="950976"/>
            <a:ext cx="8954719" cy="347472"/>
          </a:xfrm>
          <a:prstGeom prst="rect">
            <a:avLst/>
          </a:prstGeom>
          <a:noFill/>
        </p:spPr>
        <p:txBody>
          <a:bodyPr wrap="square" lIns="0" rIns="0" tIns="0" bIns="0">
            <a:spAutoFit/>
          </a:bodyPr>
          <a:lstStyle/>
          <a:p>
            <a:pPr algn="l">
              <a:spcBef>
                <a:spcPts val="0"/>
              </a:spcBef>
            </a:pPr>
            <a:r>
              <a:rPr sz="1600" b="1" i="0">
                <a:solidFill>
                  <a:srgbClr val="B10031"/>
                </a:solidFill>
                <a:latin typeface="Georgia"/>
              </a:rPr>
              <a:t>Adéquation, et ce que le backtest valide</a:t>
            </a:r>
          </a:p>
        </p:txBody>
      </p:sp>
      <p:sp>
        <p:nvSpPr>
          <p:cNvPr id="9" name="TextBox 8"/>
          <p:cNvSpPr txBox="1"/>
          <p:nvPr/>
        </p:nvSpPr>
        <p:spPr>
          <a:xfrm>
            <a:off x="11002975" y="6428232"/>
            <a:ext cx="68580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A3</a:t>
            </a:r>
          </a:p>
        </p:txBody>
      </p:sp>
      <p:pic>
        <p:nvPicPr>
          <p:cNvPr id="10" name="Picture 9" descr="J3_validation_adequation.png"/>
          <p:cNvPicPr>
            <a:picLocks noChangeAspect="1"/>
          </p:cNvPicPr>
          <p:nvPr/>
        </p:nvPicPr>
        <p:blipFill>
          <a:blip r:embed="rId3"/>
          <a:stretch>
            <a:fillRect/>
          </a:stretch>
        </p:blipFill>
        <p:spPr>
          <a:xfrm>
            <a:off x="1818630" y="1481328"/>
            <a:ext cx="8554435" cy="4809744"/>
          </a:xfrm>
          <a:prstGeom prst="rect">
            <a:avLst/>
          </a:prstGeom>
        </p:spPr>
      </p:pic>
      <p:sp>
        <p:nvSpPr>
          <p:cNvPr id="11" name="TextBox 10"/>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5 ; scripts 07 et 47.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749808" y="201168"/>
            <a:ext cx="2743200" cy="237744"/>
          </a:xfrm>
          <a:prstGeom prst="rect">
            <a:avLst/>
          </a:prstGeom>
          <a:noFill/>
        </p:spPr>
        <p:txBody>
          <a:bodyPr wrap="square" lIns="0" rIns="0" tIns="0" bIns="0">
            <a:spAutoFit/>
          </a:bodyPr>
          <a:lstStyle/>
          <a:p>
            <a:pPr algn="l">
              <a:spcBef>
                <a:spcPts val="0"/>
              </a:spcBef>
            </a:pPr>
            <a:r>
              <a:rPr sz="1100" b="1" i="0">
                <a:solidFill>
                  <a:srgbClr val="B10031"/>
                </a:solidFill>
                <a:latin typeface="Segoe UI"/>
              </a:rPr>
              <a:t>ANNEXE 4</a:t>
            </a:r>
          </a:p>
        </p:txBody>
      </p:sp>
      <p:sp>
        <p:nvSpPr>
          <p:cNvPr id="7" name="TextBox 6"/>
          <p:cNvSpPr txBox="1"/>
          <p:nvPr/>
        </p:nvSpPr>
        <p:spPr>
          <a:xfrm>
            <a:off x="749808" y="475488"/>
            <a:ext cx="8954719" cy="512064"/>
          </a:xfrm>
          <a:prstGeom prst="rect">
            <a:avLst/>
          </a:prstGeom>
          <a:noFill/>
        </p:spPr>
        <p:txBody>
          <a:bodyPr wrap="square" lIns="0" rIns="0" tIns="0" bIns="0">
            <a:spAutoFit/>
          </a:bodyPr>
          <a:lstStyle/>
          <a:p>
            <a:pPr algn="l">
              <a:spcBef>
                <a:spcPts val="0"/>
              </a:spcBef>
            </a:pPr>
            <a:r>
              <a:rPr sz="2300" b="1" i="0">
                <a:solidFill>
                  <a:srgbClr val="223E55"/>
                </a:solidFill>
                <a:latin typeface="Georgia"/>
              </a:rPr>
              <a:t>La cascade est un processus de branchement sous-critique</a:t>
            </a:r>
          </a:p>
        </p:txBody>
      </p:sp>
      <p:sp>
        <p:nvSpPr>
          <p:cNvPr id="8" name="TextBox 7"/>
          <p:cNvSpPr txBox="1"/>
          <p:nvPr/>
        </p:nvSpPr>
        <p:spPr>
          <a:xfrm>
            <a:off x="749808" y="950976"/>
            <a:ext cx="8954719" cy="347472"/>
          </a:xfrm>
          <a:prstGeom prst="rect">
            <a:avLst/>
          </a:prstGeom>
          <a:noFill/>
        </p:spPr>
        <p:txBody>
          <a:bodyPr wrap="square" lIns="0" rIns="0" tIns="0" bIns="0">
            <a:spAutoFit/>
          </a:bodyPr>
          <a:lstStyle/>
          <a:p>
            <a:pPr algn="l">
              <a:spcBef>
                <a:spcPts val="0"/>
              </a:spcBef>
            </a:pPr>
            <a:r>
              <a:rPr sz="1600" b="1" i="0">
                <a:solidFill>
                  <a:srgbClr val="B10031"/>
                </a:solidFill>
                <a:latin typeface="Georgia"/>
              </a:rPr>
              <a:t>Rayon spectral et taux de reproduction</a:t>
            </a:r>
          </a:p>
        </p:txBody>
      </p:sp>
      <p:sp>
        <p:nvSpPr>
          <p:cNvPr id="9" name="TextBox 8"/>
          <p:cNvSpPr txBox="1"/>
          <p:nvPr/>
        </p:nvSpPr>
        <p:spPr>
          <a:xfrm>
            <a:off x="11002975" y="6428232"/>
            <a:ext cx="68580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A4</a:t>
            </a:r>
          </a:p>
        </p:txBody>
      </p:sp>
      <p:pic>
        <p:nvPicPr>
          <p:cNvPr id="10" name="Picture 9" descr="K3_branchement_R0.png"/>
          <p:cNvPicPr>
            <a:picLocks noChangeAspect="1"/>
          </p:cNvPicPr>
          <p:nvPr/>
        </p:nvPicPr>
        <p:blipFill>
          <a:blip r:embed="rId3"/>
          <a:stretch>
            <a:fillRect/>
          </a:stretch>
        </p:blipFill>
        <p:spPr>
          <a:xfrm>
            <a:off x="749808" y="1907744"/>
            <a:ext cx="10692079" cy="3956911"/>
          </a:xfrm>
          <a:prstGeom prst="rect">
            <a:avLst/>
          </a:prstGeom>
        </p:spPr>
      </p:pic>
      <p:sp>
        <p:nvSpPr>
          <p:cNvPr id="11" name="TextBox 10"/>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6 ; script 03.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749808" y="201168"/>
            <a:ext cx="2743200" cy="237744"/>
          </a:xfrm>
          <a:prstGeom prst="rect">
            <a:avLst/>
          </a:prstGeom>
          <a:noFill/>
        </p:spPr>
        <p:txBody>
          <a:bodyPr wrap="square" lIns="0" rIns="0" tIns="0" bIns="0">
            <a:spAutoFit/>
          </a:bodyPr>
          <a:lstStyle/>
          <a:p>
            <a:pPr algn="l">
              <a:spcBef>
                <a:spcPts val="0"/>
              </a:spcBef>
            </a:pPr>
            <a:r>
              <a:rPr sz="1100" b="1" i="0">
                <a:solidFill>
                  <a:srgbClr val="B10031"/>
                </a:solidFill>
                <a:latin typeface="Segoe UI"/>
              </a:rPr>
              <a:t>ANNEXE 5</a:t>
            </a:r>
          </a:p>
        </p:txBody>
      </p:sp>
      <p:sp>
        <p:nvSpPr>
          <p:cNvPr id="7" name="TextBox 6"/>
          <p:cNvSpPr txBox="1"/>
          <p:nvPr/>
        </p:nvSpPr>
        <p:spPr>
          <a:xfrm>
            <a:off x="749808" y="475488"/>
            <a:ext cx="8954719" cy="512064"/>
          </a:xfrm>
          <a:prstGeom prst="rect">
            <a:avLst/>
          </a:prstGeom>
          <a:noFill/>
        </p:spPr>
        <p:txBody>
          <a:bodyPr wrap="square" lIns="0" rIns="0" tIns="0" bIns="0">
            <a:spAutoFit/>
          </a:bodyPr>
          <a:lstStyle/>
          <a:p>
            <a:pPr algn="l">
              <a:spcBef>
                <a:spcPts val="0"/>
              </a:spcBef>
            </a:pPr>
            <a:r>
              <a:rPr sz="2100" b="1" i="0">
                <a:solidFill>
                  <a:srgbClr val="223E55"/>
                </a:solidFill>
                <a:latin typeface="Georgia"/>
              </a:rPr>
              <a:t>Ce que le corpus documentaire corrobore, et ce qu'il ne lève pas</a:t>
            </a:r>
          </a:p>
        </p:txBody>
      </p:sp>
      <p:sp>
        <p:nvSpPr>
          <p:cNvPr id="8" name="TextBox 7"/>
          <p:cNvSpPr txBox="1"/>
          <p:nvPr/>
        </p:nvSpPr>
        <p:spPr>
          <a:xfrm>
            <a:off x="749808" y="950976"/>
            <a:ext cx="8954719" cy="347472"/>
          </a:xfrm>
          <a:prstGeom prst="rect">
            <a:avLst/>
          </a:prstGeom>
          <a:noFill/>
        </p:spPr>
        <p:txBody>
          <a:bodyPr wrap="square" lIns="0" rIns="0" tIns="0" bIns="0">
            <a:spAutoFit/>
          </a:bodyPr>
          <a:lstStyle/>
          <a:p>
            <a:pPr algn="l">
              <a:spcBef>
                <a:spcPts val="0"/>
              </a:spcBef>
            </a:pPr>
            <a:r>
              <a:rPr sz="1600" b="1" i="0">
                <a:solidFill>
                  <a:srgbClr val="B10031"/>
                </a:solidFill>
                <a:latin typeface="Georgia"/>
              </a:rPr>
              <a:t>Le biais de narration est mesuré, borné, et non levé</a:t>
            </a:r>
          </a:p>
        </p:txBody>
      </p:sp>
      <p:sp>
        <p:nvSpPr>
          <p:cNvPr id="9" name="TextBox 8"/>
          <p:cNvSpPr txBox="1"/>
          <p:nvPr/>
        </p:nvSpPr>
        <p:spPr>
          <a:xfrm>
            <a:off x="11002975" y="6428232"/>
            <a:ext cx="68580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A5</a:t>
            </a:r>
          </a:p>
        </p:txBody>
      </p:sp>
      <p:pic>
        <p:nvPicPr>
          <p:cNvPr id="10" name="Picture 9" descr="Z17_postmortem_direction.png"/>
          <p:cNvPicPr>
            <a:picLocks noChangeAspect="1"/>
          </p:cNvPicPr>
          <p:nvPr/>
        </p:nvPicPr>
        <p:blipFill>
          <a:blip r:embed="rId3"/>
          <a:stretch>
            <a:fillRect/>
          </a:stretch>
        </p:blipFill>
        <p:spPr>
          <a:xfrm>
            <a:off x="3720768" y="1481328"/>
            <a:ext cx="4750158" cy="4809744"/>
          </a:xfrm>
          <a:prstGeom prst="rect">
            <a:avLst/>
          </a:prstGeom>
        </p:spPr>
      </p:pic>
      <p:sp>
        <p:nvSpPr>
          <p:cNvPr id="11" name="TextBox 10"/>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8 ; scripts 53, 59 et 64.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749808" y="201168"/>
            <a:ext cx="2743200" cy="237744"/>
          </a:xfrm>
          <a:prstGeom prst="rect">
            <a:avLst/>
          </a:prstGeom>
          <a:noFill/>
        </p:spPr>
        <p:txBody>
          <a:bodyPr wrap="square" lIns="0" rIns="0" tIns="0" bIns="0">
            <a:spAutoFit/>
          </a:bodyPr>
          <a:lstStyle/>
          <a:p>
            <a:pPr algn="l">
              <a:spcBef>
                <a:spcPts val="0"/>
              </a:spcBef>
            </a:pPr>
            <a:r>
              <a:rPr sz="1100" b="1" i="0">
                <a:solidFill>
                  <a:srgbClr val="B10031"/>
                </a:solidFill>
                <a:latin typeface="Segoe UI"/>
              </a:rPr>
              <a:t>ANNEXE 6</a:t>
            </a:r>
          </a:p>
        </p:txBody>
      </p:sp>
      <p:sp>
        <p:nvSpPr>
          <p:cNvPr id="7" name="TextBox 6"/>
          <p:cNvSpPr txBox="1"/>
          <p:nvPr/>
        </p:nvSpPr>
        <p:spPr>
          <a:xfrm>
            <a:off x="749808" y="475488"/>
            <a:ext cx="8954719" cy="512064"/>
          </a:xfrm>
          <a:prstGeom prst="rect">
            <a:avLst/>
          </a:prstGeom>
          <a:noFill/>
        </p:spPr>
        <p:txBody>
          <a:bodyPr wrap="square" lIns="0" rIns="0" tIns="0" bIns="0">
            <a:spAutoFit/>
          </a:bodyPr>
          <a:lstStyle/>
          <a:p>
            <a:pPr algn="l">
              <a:spcBef>
                <a:spcPts val="0"/>
              </a:spcBef>
            </a:pPr>
            <a:r>
              <a:rPr sz="2400" b="1" i="0">
                <a:solidFill>
                  <a:srgbClr val="223E55"/>
                </a:solidFill>
                <a:latin typeface="Georgia"/>
              </a:rPr>
              <a:t>La bande de capital et ses trois étages d'incertitude</a:t>
            </a:r>
          </a:p>
        </p:txBody>
      </p:sp>
      <p:sp>
        <p:nvSpPr>
          <p:cNvPr id="8" name="TextBox 7"/>
          <p:cNvSpPr txBox="1"/>
          <p:nvPr/>
        </p:nvSpPr>
        <p:spPr>
          <a:xfrm>
            <a:off x="749808" y="950976"/>
            <a:ext cx="8954719" cy="347472"/>
          </a:xfrm>
          <a:prstGeom prst="rect">
            <a:avLst/>
          </a:prstGeom>
          <a:noFill/>
        </p:spPr>
        <p:txBody>
          <a:bodyPr wrap="square" lIns="0" rIns="0" tIns="0" bIns="0">
            <a:spAutoFit/>
          </a:bodyPr>
          <a:lstStyle/>
          <a:p>
            <a:pPr algn="l">
              <a:spcBef>
                <a:spcPts val="0"/>
              </a:spcBef>
            </a:pPr>
            <a:r>
              <a:rPr sz="1600" b="1" i="0">
                <a:solidFill>
                  <a:srgbClr val="B10031"/>
                </a:solidFill>
                <a:latin typeface="Georgia"/>
              </a:rPr>
              <a:t>Trois sources à ne jamais fondre en une seule barre</a:t>
            </a:r>
          </a:p>
        </p:txBody>
      </p:sp>
      <p:sp>
        <p:nvSpPr>
          <p:cNvPr id="9" name="TextBox 8"/>
          <p:cNvSpPr txBox="1"/>
          <p:nvPr/>
        </p:nvSpPr>
        <p:spPr>
          <a:xfrm>
            <a:off x="11002975" y="6428232"/>
            <a:ext cx="68580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A6</a:t>
            </a:r>
          </a:p>
        </p:txBody>
      </p:sp>
      <p:pic>
        <p:nvPicPr>
          <p:cNvPr id="10" name="Picture 9" descr="J4_bande_modele.png"/>
          <p:cNvPicPr>
            <a:picLocks noChangeAspect="1"/>
          </p:cNvPicPr>
          <p:nvPr/>
        </p:nvPicPr>
        <p:blipFill>
          <a:blip r:embed="rId3"/>
          <a:stretch>
            <a:fillRect/>
          </a:stretch>
        </p:blipFill>
        <p:spPr>
          <a:xfrm>
            <a:off x="749808" y="2256589"/>
            <a:ext cx="10692079" cy="3259222"/>
          </a:xfrm>
          <a:prstGeom prst="rect">
            <a:avLst/>
          </a:prstGeom>
        </p:spPr>
      </p:pic>
      <p:sp>
        <p:nvSpPr>
          <p:cNvPr id="11" name="TextBox 10"/>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11 ; script 48.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749808" y="201168"/>
            <a:ext cx="2743200" cy="237744"/>
          </a:xfrm>
          <a:prstGeom prst="rect">
            <a:avLst/>
          </a:prstGeom>
          <a:noFill/>
        </p:spPr>
        <p:txBody>
          <a:bodyPr wrap="square" lIns="0" rIns="0" tIns="0" bIns="0">
            <a:spAutoFit/>
          </a:bodyPr>
          <a:lstStyle/>
          <a:p>
            <a:pPr algn="l">
              <a:spcBef>
                <a:spcPts val="0"/>
              </a:spcBef>
            </a:pPr>
            <a:r>
              <a:rPr sz="1100" b="1" i="0">
                <a:solidFill>
                  <a:srgbClr val="B10031"/>
                </a:solidFill>
                <a:latin typeface="Segoe UI"/>
              </a:rPr>
              <a:t>ANNEXE 7</a:t>
            </a:r>
          </a:p>
        </p:txBody>
      </p:sp>
      <p:sp>
        <p:nvSpPr>
          <p:cNvPr id="7" name="TextBox 6"/>
          <p:cNvSpPr txBox="1"/>
          <p:nvPr/>
        </p:nvSpPr>
        <p:spPr>
          <a:xfrm>
            <a:off x="749808" y="475488"/>
            <a:ext cx="8954719" cy="512064"/>
          </a:xfrm>
          <a:prstGeom prst="rect">
            <a:avLst/>
          </a:prstGeom>
          <a:noFill/>
        </p:spPr>
        <p:txBody>
          <a:bodyPr wrap="square" lIns="0" rIns="0" tIns="0" bIns="0">
            <a:spAutoFit/>
          </a:bodyPr>
          <a:lstStyle/>
          <a:p>
            <a:pPr algn="l">
              <a:spcBef>
                <a:spcPts val="0"/>
              </a:spcBef>
            </a:pPr>
            <a:r>
              <a:rPr sz="2200" b="1" i="0">
                <a:solidFill>
                  <a:srgbClr val="223E55"/>
                </a:solidFill>
                <a:latin typeface="Georgia"/>
              </a:rPr>
              <a:t>L'attribution par canal : trois lectures non interchangeables</a:t>
            </a:r>
          </a:p>
        </p:txBody>
      </p:sp>
      <p:sp>
        <p:nvSpPr>
          <p:cNvPr id="8" name="TextBox 7"/>
          <p:cNvSpPr txBox="1"/>
          <p:nvPr/>
        </p:nvSpPr>
        <p:spPr>
          <a:xfrm>
            <a:off x="749808" y="950976"/>
            <a:ext cx="8954719" cy="347472"/>
          </a:xfrm>
          <a:prstGeom prst="rect">
            <a:avLst/>
          </a:prstGeom>
          <a:noFill/>
        </p:spPr>
        <p:txBody>
          <a:bodyPr wrap="square" lIns="0" rIns="0" tIns="0" bIns="0">
            <a:spAutoFit/>
          </a:bodyPr>
          <a:lstStyle/>
          <a:p>
            <a:pPr algn="l">
              <a:spcBef>
                <a:spcPts val="0"/>
              </a:spcBef>
            </a:pPr>
            <a:r>
              <a:rPr sz="1600" b="1" i="0">
                <a:solidFill>
                  <a:srgbClr val="B10031"/>
                </a:solidFill>
                <a:latin typeface="Georgia"/>
              </a:rPr>
              <a:t>Isolée, fermeture et Shapley répondent à trois questions</a:t>
            </a:r>
          </a:p>
        </p:txBody>
      </p:sp>
      <p:sp>
        <p:nvSpPr>
          <p:cNvPr id="9" name="TextBox 8"/>
          <p:cNvSpPr txBox="1"/>
          <p:nvPr/>
        </p:nvSpPr>
        <p:spPr>
          <a:xfrm>
            <a:off x="11002975" y="6428232"/>
            <a:ext cx="68580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A7</a:t>
            </a:r>
          </a:p>
        </p:txBody>
      </p:sp>
      <p:pic>
        <p:nvPicPr>
          <p:cNvPr id="10" name="Picture 9" descr="S15_allocation_shapley_euler.png"/>
          <p:cNvPicPr>
            <a:picLocks noChangeAspect="1"/>
          </p:cNvPicPr>
          <p:nvPr/>
        </p:nvPicPr>
        <p:blipFill>
          <a:blip r:embed="rId3"/>
          <a:stretch>
            <a:fillRect/>
          </a:stretch>
        </p:blipFill>
        <p:spPr>
          <a:xfrm>
            <a:off x="749808" y="1756248"/>
            <a:ext cx="10692079" cy="4259904"/>
          </a:xfrm>
          <a:prstGeom prst="rect">
            <a:avLst/>
          </a:prstGeom>
        </p:spPr>
      </p:pic>
      <p:sp>
        <p:nvSpPr>
          <p:cNvPr id="11" name="TextBox 10"/>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10 ; scripts 68 et 82.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749808" y="201168"/>
            <a:ext cx="2743200" cy="237744"/>
          </a:xfrm>
          <a:prstGeom prst="rect">
            <a:avLst/>
          </a:prstGeom>
          <a:noFill/>
        </p:spPr>
        <p:txBody>
          <a:bodyPr wrap="square" lIns="0" rIns="0" tIns="0" bIns="0">
            <a:spAutoFit/>
          </a:bodyPr>
          <a:lstStyle/>
          <a:p>
            <a:pPr algn="l">
              <a:spcBef>
                <a:spcPts val="0"/>
              </a:spcBef>
            </a:pPr>
            <a:r>
              <a:rPr sz="1100" b="1" i="0">
                <a:solidFill>
                  <a:srgbClr val="B10031"/>
                </a:solidFill>
                <a:latin typeface="Segoe UI"/>
              </a:rPr>
              <a:t>ANNEXE 8</a:t>
            </a:r>
          </a:p>
        </p:txBody>
      </p:sp>
      <p:sp>
        <p:nvSpPr>
          <p:cNvPr id="7" name="TextBox 6"/>
          <p:cNvSpPr txBox="1"/>
          <p:nvPr/>
        </p:nvSpPr>
        <p:spPr>
          <a:xfrm>
            <a:off x="749808" y="475488"/>
            <a:ext cx="8954719" cy="512064"/>
          </a:xfrm>
          <a:prstGeom prst="rect">
            <a:avLst/>
          </a:prstGeom>
          <a:noFill/>
        </p:spPr>
        <p:txBody>
          <a:bodyPr wrap="square" lIns="0" rIns="0" tIns="0" bIns="0">
            <a:spAutoFit/>
          </a:bodyPr>
          <a:lstStyle/>
          <a:p>
            <a:pPr algn="l">
              <a:spcBef>
                <a:spcPts val="0"/>
              </a:spcBef>
            </a:pPr>
            <a:r>
              <a:rPr sz="2100" b="1" i="0">
                <a:solidFill>
                  <a:srgbClr val="223E55"/>
                </a:solidFill>
                <a:latin typeface="Georgia"/>
              </a:rPr>
              <a:t>Défaillances simultanées : une sortie du modèle, pas une lacune</a:t>
            </a:r>
          </a:p>
        </p:txBody>
      </p:sp>
      <p:sp>
        <p:nvSpPr>
          <p:cNvPr id="8" name="TextBox 7"/>
          <p:cNvSpPr txBox="1"/>
          <p:nvPr/>
        </p:nvSpPr>
        <p:spPr>
          <a:xfrm>
            <a:off x="749808" y="950976"/>
            <a:ext cx="8954719" cy="347472"/>
          </a:xfrm>
          <a:prstGeom prst="rect">
            <a:avLst/>
          </a:prstGeom>
          <a:noFill/>
        </p:spPr>
        <p:txBody>
          <a:bodyPr wrap="square" lIns="0" rIns="0" tIns="0" bIns="0">
            <a:spAutoFit/>
          </a:bodyPr>
          <a:lstStyle/>
          <a:p>
            <a:pPr algn="l">
              <a:spcBef>
                <a:spcPts val="0"/>
              </a:spcBef>
            </a:pPr>
            <a:r>
              <a:rPr sz="1600" b="1" i="0">
                <a:solidFill>
                  <a:srgbClr val="B10031"/>
                </a:solidFill>
                <a:latin typeface="Georgia"/>
              </a:rPr>
              <a:t>La loi est exacte, par énumération de la progéniture</a:t>
            </a:r>
          </a:p>
        </p:txBody>
      </p:sp>
      <p:sp>
        <p:nvSpPr>
          <p:cNvPr id="9" name="TextBox 8"/>
          <p:cNvSpPr txBox="1"/>
          <p:nvPr/>
        </p:nvSpPr>
        <p:spPr>
          <a:xfrm>
            <a:off x="11002975" y="6428232"/>
            <a:ext cx="68580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A8</a:t>
            </a:r>
          </a:p>
        </p:txBody>
      </p:sp>
      <p:pic>
        <p:nvPicPr>
          <p:cNvPr id="10" name="Picture 9" descr="S30_defaillances_simultanees.png"/>
          <p:cNvPicPr>
            <a:picLocks noChangeAspect="1"/>
          </p:cNvPicPr>
          <p:nvPr/>
        </p:nvPicPr>
        <p:blipFill>
          <a:blip r:embed="rId3"/>
          <a:stretch>
            <a:fillRect/>
          </a:stretch>
        </p:blipFill>
        <p:spPr>
          <a:xfrm>
            <a:off x="749808" y="1955686"/>
            <a:ext cx="10692079" cy="3861028"/>
          </a:xfrm>
          <a:prstGeom prst="rect">
            <a:avLst/>
          </a:prstGeom>
        </p:spPr>
      </p:pic>
      <p:sp>
        <p:nvSpPr>
          <p:cNvPr id="11" name="TextBox 10"/>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annexe D ; script 74.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749808" y="201168"/>
            <a:ext cx="2743200" cy="237744"/>
          </a:xfrm>
          <a:prstGeom prst="rect">
            <a:avLst/>
          </a:prstGeom>
          <a:noFill/>
        </p:spPr>
        <p:txBody>
          <a:bodyPr wrap="square" lIns="0" rIns="0" tIns="0" bIns="0">
            <a:spAutoFit/>
          </a:bodyPr>
          <a:lstStyle/>
          <a:p>
            <a:pPr algn="l">
              <a:spcBef>
                <a:spcPts val="0"/>
              </a:spcBef>
            </a:pPr>
            <a:r>
              <a:rPr sz="1100" b="1" i="0">
                <a:solidFill>
                  <a:srgbClr val="B10031"/>
                </a:solidFill>
                <a:latin typeface="Segoe UI"/>
              </a:rPr>
              <a:t>ANNEXE 9</a:t>
            </a:r>
          </a:p>
        </p:txBody>
      </p:sp>
      <p:sp>
        <p:nvSpPr>
          <p:cNvPr id="7" name="TextBox 6"/>
          <p:cNvSpPr txBox="1"/>
          <p:nvPr/>
        </p:nvSpPr>
        <p:spPr>
          <a:xfrm>
            <a:off x="749808" y="475488"/>
            <a:ext cx="8954719" cy="512064"/>
          </a:xfrm>
          <a:prstGeom prst="rect">
            <a:avLst/>
          </a:prstGeom>
          <a:noFill/>
        </p:spPr>
        <p:txBody>
          <a:bodyPr wrap="square" lIns="0" rIns="0" tIns="0" bIns="0">
            <a:spAutoFit/>
          </a:bodyPr>
          <a:lstStyle/>
          <a:p>
            <a:pPr algn="l">
              <a:spcBef>
                <a:spcPts val="0"/>
              </a:spcBef>
            </a:pPr>
            <a:r>
              <a:rPr sz="2400" b="1" i="0">
                <a:solidFill>
                  <a:srgbClr val="223E55"/>
                </a:solidFill>
                <a:latin typeface="Georgia"/>
              </a:rPr>
              <a:t>Les hypothèses, par ordre de ce qu'elles coûtent</a:t>
            </a:r>
          </a:p>
        </p:txBody>
      </p:sp>
      <p:sp>
        <p:nvSpPr>
          <p:cNvPr id="8" name="TextBox 7"/>
          <p:cNvSpPr txBox="1"/>
          <p:nvPr/>
        </p:nvSpPr>
        <p:spPr>
          <a:xfrm>
            <a:off x="749808" y="950976"/>
            <a:ext cx="8954719" cy="347472"/>
          </a:xfrm>
          <a:prstGeom prst="rect">
            <a:avLst/>
          </a:prstGeom>
          <a:noFill/>
        </p:spPr>
        <p:txBody>
          <a:bodyPr wrap="square" lIns="0" rIns="0" tIns="0" bIns="0">
            <a:spAutoFit/>
          </a:bodyPr>
          <a:lstStyle/>
          <a:p>
            <a:pPr algn="l">
              <a:spcBef>
                <a:spcPts val="0"/>
              </a:spcBef>
            </a:pPr>
            <a:r>
              <a:rPr sz="1600" b="1" i="0">
                <a:solidFill>
                  <a:srgbClr val="B10031"/>
                </a:solidFill>
                <a:latin typeface="Georgia"/>
              </a:rPr>
              <a:t>La fragilité est dans la queue, pas dans la contagion</a:t>
            </a:r>
          </a:p>
        </p:txBody>
      </p:sp>
      <p:sp>
        <p:nvSpPr>
          <p:cNvPr id="9" name="TextBox 8"/>
          <p:cNvSpPr txBox="1"/>
          <p:nvPr/>
        </p:nvSpPr>
        <p:spPr>
          <a:xfrm>
            <a:off x="11002975" y="6428232"/>
            <a:ext cx="68580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A9</a:t>
            </a:r>
          </a:p>
        </p:txBody>
      </p:sp>
      <p:pic>
        <p:nvPicPr>
          <p:cNvPr id="10" name="Picture 9" descr="S32_tornado_normalise.png"/>
          <p:cNvPicPr>
            <a:picLocks noChangeAspect="1"/>
          </p:cNvPicPr>
          <p:nvPr/>
        </p:nvPicPr>
        <p:blipFill>
          <a:blip r:embed="rId3"/>
          <a:stretch>
            <a:fillRect/>
          </a:stretch>
        </p:blipFill>
        <p:spPr>
          <a:xfrm>
            <a:off x="749808" y="1881435"/>
            <a:ext cx="10692079" cy="4009529"/>
          </a:xfrm>
          <a:prstGeom prst="rect">
            <a:avLst/>
          </a:prstGeom>
        </p:spPr>
      </p:pic>
      <p:sp>
        <p:nvSpPr>
          <p:cNvPr id="11" name="TextBox 10"/>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annexe D ; scripts 76 et 81.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749808" y="201168"/>
            <a:ext cx="2743200" cy="237744"/>
          </a:xfrm>
          <a:prstGeom prst="rect">
            <a:avLst/>
          </a:prstGeom>
          <a:noFill/>
        </p:spPr>
        <p:txBody>
          <a:bodyPr wrap="square" lIns="0" rIns="0" tIns="0" bIns="0">
            <a:spAutoFit/>
          </a:bodyPr>
          <a:lstStyle/>
          <a:p>
            <a:pPr algn="l">
              <a:spcBef>
                <a:spcPts val="0"/>
              </a:spcBef>
            </a:pPr>
            <a:r>
              <a:rPr sz="1100" b="1" i="0">
                <a:solidFill>
                  <a:srgbClr val="B10031"/>
                </a:solidFill>
                <a:latin typeface="Segoe UI"/>
              </a:rPr>
              <a:t>ANNEXE 10</a:t>
            </a:r>
          </a:p>
        </p:txBody>
      </p:sp>
      <p:sp>
        <p:nvSpPr>
          <p:cNvPr id="7" name="TextBox 6"/>
          <p:cNvSpPr txBox="1"/>
          <p:nvPr/>
        </p:nvSpPr>
        <p:spPr>
          <a:xfrm>
            <a:off x="749808" y="475488"/>
            <a:ext cx="8954719" cy="512064"/>
          </a:xfrm>
          <a:prstGeom prst="rect">
            <a:avLst/>
          </a:prstGeom>
          <a:noFill/>
        </p:spPr>
        <p:txBody>
          <a:bodyPr wrap="square" lIns="0" rIns="0" tIns="0" bIns="0">
            <a:spAutoFit/>
          </a:bodyPr>
          <a:lstStyle/>
          <a:p>
            <a:pPr algn="l">
              <a:spcBef>
                <a:spcPts val="0"/>
              </a:spcBef>
            </a:pPr>
            <a:r>
              <a:rPr sz="2400" b="1" i="0">
                <a:solidFill>
                  <a:srgbClr val="223E55"/>
                </a:solidFill>
                <a:latin typeface="Georgia"/>
              </a:rPr>
              <a:t>Glossaire</a:t>
            </a:r>
          </a:p>
        </p:txBody>
      </p:sp>
      <p:sp>
        <p:nvSpPr>
          <p:cNvPr id="8" name="TextBox 7"/>
          <p:cNvSpPr txBox="1"/>
          <p:nvPr/>
        </p:nvSpPr>
        <p:spPr>
          <a:xfrm>
            <a:off x="749808" y="950976"/>
            <a:ext cx="8954719" cy="347472"/>
          </a:xfrm>
          <a:prstGeom prst="rect">
            <a:avLst/>
          </a:prstGeom>
          <a:noFill/>
        </p:spPr>
        <p:txBody>
          <a:bodyPr wrap="square" lIns="0" rIns="0" tIns="0" bIns="0">
            <a:spAutoFit/>
          </a:bodyPr>
          <a:lstStyle/>
          <a:p>
            <a:pPr algn="l">
              <a:spcBef>
                <a:spcPts val="0"/>
              </a:spcBef>
            </a:pPr>
            <a:r>
              <a:rPr sz="1600" b="1" i="0">
                <a:solidFill>
                  <a:srgbClr val="B10031"/>
                </a:solidFill>
                <a:latin typeface="Georgia"/>
              </a:rPr>
              <a:t>Et la distinction qui a produit une confusion en séance</a:t>
            </a:r>
          </a:p>
        </p:txBody>
      </p:sp>
      <p:sp>
        <p:nvSpPr>
          <p:cNvPr id="9" name="TextBox 8"/>
          <p:cNvSpPr txBox="1"/>
          <p:nvPr/>
        </p:nvSpPr>
        <p:spPr>
          <a:xfrm>
            <a:off x="11002975" y="6428232"/>
            <a:ext cx="68580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A10</a:t>
            </a:r>
          </a:p>
        </p:txBody>
      </p:sp>
      <p:sp>
        <p:nvSpPr>
          <p:cNvPr id="10" name="TextBox 9"/>
          <p:cNvSpPr txBox="1"/>
          <p:nvPr/>
        </p:nvSpPr>
        <p:spPr>
          <a:xfrm>
            <a:off x="749808" y="1572768"/>
            <a:ext cx="10692079" cy="4480560"/>
          </a:xfrm>
          <a:prstGeom prst="rect">
            <a:avLst/>
          </a:prstGeom>
          <a:noFill/>
        </p:spPr>
        <p:txBody>
          <a:bodyPr wrap="square" lIns="0" rIns="0" tIns="0" bIns="0">
            <a:spAutoFit/>
          </a:bodyPr>
          <a:lstStyle/>
          <a:p>
            <a:pPr algn="l" marL="219456" indent="-219456">
              <a:spcBef>
                <a:spcPts val="0"/>
              </a:spcBef>
            </a:pPr>
            <a:r>
              <a:rPr sz="1600" b="0" i="0">
                <a:solidFill>
                  <a:srgbClr val="595959"/>
                </a:solidFill>
                <a:latin typeface="Segoe UI"/>
              </a:rPr>
              <a:t>•   </a:t>
            </a:r>
            <a:r>
              <a:rPr sz="1600" b="0" i="0">
                <a:solidFill>
                  <a:srgbClr val="122738"/>
                </a:solidFill>
                <a:latin typeface="Segoe UI"/>
              </a:rPr>
              <a:t>DORA : règlement européen sur la résilience opérationnelle numérique</a:t>
            </a:r>
          </a:p>
          <a:p>
            <a:pPr algn="l" marL="219456" indent="-219456">
              <a:spcBef>
                <a:spcPts val="1400"/>
              </a:spcBef>
            </a:pPr>
            <a:r>
              <a:rPr sz="1600" b="0" i="0">
                <a:solidFill>
                  <a:srgbClr val="595959"/>
                </a:solidFill>
                <a:latin typeface="Segoe UI"/>
              </a:rPr>
              <a:t>•   </a:t>
            </a:r>
            <a:r>
              <a:rPr sz="1600" b="0" i="0">
                <a:solidFill>
                  <a:srgbClr val="122738"/>
                </a:solidFill>
                <a:latin typeface="Segoe UI"/>
              </a:rPr>
              <a:t>SCR : capital de solvabilité requis sous Solvabilité II</a:t>
            </a:r>
          </a:p>
          <a:p>
            <a:pPr algn="l" marL="219456" indent="-219456">
              <a:spcBef>
                <a:spcPts val="1400"/>
              </a:spcBef>
            </a:pPr>
            <a:r>
              <a:rPr sz="1600" b="0" i="0">
                <a:solidFill>
                  <a:srgbClr val="595959"/>
                </a:solidFill>
                <a:latin typeface="Segoe UI"/>
              </a:rPr>
              <a:t>•   </a:t>
            </a:r>
            <a:r>
              <a:rPr sz="1600" b="0" i="0">
                <a:solidFill>
                  <a:srgbClr val="122738"/>
                </a:solidFill>
                <a:latin typeface="Segoe UI"/>
              </a:rPr>
              <a:t>VaR : quantile de la charge annuelle agrégée, ici à 99,5 %</a:t>
            </a:r>
          </a:p>
          <a:p>
            <a:pPr algn="l">
              <a:spcBef>
                <a:spcPts val="1400"/>
              </a:spcBef>
            </a:pPr>
            <a:r>
              <a:rPr sz="1600" b="1" i="0">
                <a:solidFill>
                  <a:srgbClr val="B10031"/>
                </a:solidFill>
                <a:latin typeface="Segoe UI"/>
              </a:rPr>
              <a:t>Quantile de sévérité : quantile d'un sinistre isolé, ce n'est pas une mesure de capital</a:t>
            </a:r>
          </a:p>
          <a:p>
            <a:pPr algn="l" marL="219456" indent="-219456">
              <a:spcBef>
                <a:spcPts val="1400"/>
              </a:spcBef>
            </a:pPr>
            <a:r>
              <a:rPr sz="1600" b="0" i="0">
                <a:solidFill>
                  <a:srgbClr val="595959"/>
                </a:solidFill>
                <a:latin typeface="Segoe UI"/>
              </a:rPr>
              <a:t>•   </a:t>
            </a:r>
            <a:r>
              <a:rPr sz="1600" b="0" i="0">
                <a:solidFill>
                  <a:srgbClr val="122738"/>
                </a:solidFill>
                <a:latin typeface="Segoe UI"/>
              </a:rPr>
              <a:t>GPD : loi de Pareto généralisée, pour les excès au-delà d'un seuil</a:t>
            </a:r>
          </a:p>
          <a:p>
            <a:pPr algn="l" marL="219456" indent="-219456">
              <a:spcBef>
                <a:spcPts val="1400"/>
              </a:spcBef>
            </a:pPr>
            <a:r>
              <a:rPr sz="1600" b="0" i="0">
                <a:solidFill>
                  <a:srgbClr val="595959"/>
                </a:solidFill>
                <a:latin typeface="Segoe UI"/>
              </a:rPr>
              <a:t>•   </a:t>
            </a:r>
            <a:r>
              <a:rPr sz="1600" b="0" i="0">
                <a:solidFill>
                  <a:srgbClr val="122738"/>
                </a:solidFill>
                <a:latin typeface="Segoe UI"/>
              </a:rPr>
              <a:t>Copule : structure de dépendance symétrique, sans direction</a:t>
            </a:r>
          </a:p>
          <a:p>
            <a:pPr algn="l" marL="219456" indent="-219456">
              <a:spcBef>
                <a:spcPts val="1400"/>
              </a:spcBef>
            </a:pPr>
            <a:r>
              <a:rPr sz="1600" b="0" i="0">
                <a:solidFill>
                  <a:srgbClr val="595959"/>
                </a:solidFill>
                <a:latin typeface="Segoe UI"/>
              </a:rPr>
              <a:t>•   </a:t>
            </a:r>
            <a:r>
              <a:rPr sz="1600" b="0" i="0">
                <a:solidFill>
                  <a:srgbClr val="122738"/>
                </a:solidFill>
                <a:latin typeface="Segoe UI"/>
              </a:rPr>
              <a:t>Shapley : convention d'attribution d'un effet total entre leviers</a:t>
            </a:r>
          </a:p>
          <a:p>
            <a:pPr algn="l" marL="219456" indent="-219456">
              <a:spcBef>
                <a:spcPts val="1400"/>
              </a:spcBef>
            </a:pPr>
            <a:r>
              <a:rPr sz="1600" b="0" i="0">
                <a:solidFill>
                  <a:srgbClr val="595959"/>
                </a:solidFill>
                <a:latin typeface="Segoe UI"/>
              </a:rPr>
              <a:t>•   </a:t>
            </a:r>
            <a:r>
              <a:rPr sz="1600" b="0" i="0">
                <a:solidFill>
                  <a:srgbClr val="122738"/>
                </a:solidFill>
                <a:latin typeface="Segoe UI"/>
              </a:rPr>
              <a:t>Cascade : propagation dirigée entre domaines de contrôle</a:t>
            </a:r>
          </a:p>
        </p:txBody>
      </p:sp>
      <p:sp>
        <p:nvSpPr>
          <p:cNvPr id="11" name="TextBox 10"/>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annexe F, table des notations.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749808" y="201168"/>
            <a:ext cx="2743200" cy="237744"/>
          </a:xfrm>
          <a:prstGeom prst="rect">
            <a:avLst/>
          </a:prstGeom>
          <a:noFill/>
        </p:spPr>
        <p:txBody>
          <a:bodyPr wrap="square" lIns="0" rIns="0" tIns="0" bIns="0">
            <a:spAutoFit/>
          </a:bodyPr>
          <a:lstStyle/>
          <a:p>
            <a:pPr algn="l">
              <a:spcBef>
                <a:spcPts val="0"/>
              </a:spcBef>
            </a:pPr>
            <a:r>
              <a:rPr sz="1100" b="1" i="0">
                <a:solidFill>
                  <a:srgbClr val="B10031"/>
                </a:solidFill>
                <a:latin typeface="Segoe UI"/>
              </a:rPr>
              <a:t>ANNEXE 11</a:t>
            </a:r>
          </a:p>
        </p:txBody>
      </p:sp>
      <p:sp>
        <p:nvSpPr>
          <p:cNvPr id="7" name="TextBox 6"/>
          <p:cNvSpPr txBox="1"/>
          <p:nvPr/>
        </p:nvSpPr>
        <p:spPr>
          <a:xfrm>
            <a:off x="749808" y="475488"/>
            <a:ext cx="8954719" cy="512064"/>
          </a:xfrm>
          <a:prstGeom prst="rect">
            <a:avLst/>
          </a:prstGeom>
          <a:noFill/>
        </p:spPr>
        <p:txBody>
          <a:bodyPr wrap="square" lIns="0" rIns="0" tIns="0" bIns="0">
            <a:spAutoFit/>
          </a:bodyPr>
          <a:lstStyle/>
          <a:p>
            <a:pPr algn="l">
              <a:spcBef>
                <a:spcPts val="0"/>
              </a:spcBef>
            </a:pPr>
            <a:r>
              <a:rPr sz="2100" b="1" i="0">
                <a:solidFill>
                  <a:srgbClr val="223E55"/>
                </a:solidFill>
                <a:latin typeface="Georgia"/>
              </a:rPr>
              <a:t>La table complète des quatre canaux, telle qu'elle est au mémoire</a:t>
            </a:r>
          </a:p>
        </p:txBody>
      </p:sp>
      <p:sp>
        <p:nvSpPr>
          <p:cNvPr id="8" name="TextBox 7"/>
          <p:cNvSpPr txBox="1"/>
          <p:nvPr/>
        </p:nvSpPr>
        <p:spPr>
          <a:xfrm>
            <a:off x="749808" y="950976"/>
            <a:ext cx="8954719" cy="347472"/>
          </a:xfrm>
          <a:prstGeom prst="rect">
            <a:avLst/>
          </a:prstGeom>
          <a:noFill/>
        </p:spPr>
        <p:txBody>
          <a:bodyPr wrap="square" lIns="0" rIns="0" tIns="0" bIns="0">
            <a:spAutoFit/>
          </a:bodyPr>
          <a:lstStyle/>
          <a:p>
            <a:pPr algn="l">
              <a:spcBef>
                <a:spcPts val="0"/>
              </a:spcBef>
            </a:pPr>
            <a:r>
              <a:rPr sz="1600" b="1" i="0">
                <a:solidFill>
                  <a:srgbClr val="B10031"/>
                </a:solidFill>
                <a:latin typeface="Georgia"/>
              </a:rPr>
              <a:t>Les quinze termes, les trois lectures, et où vit l'interaction</a:t>
            </a:r>
          </a:p>
        </p:txBody>
      </p:sp>
      <p:sp>
        <p:nvSpPr>
          <p:cNvPr id="9" name="TextBox 8"/>
          <p:cNvSpPr txBox="1"/>
          <p:nvPr/>
        </p:nvSpPr>
        <p:spPr>
          <a:xfrm>
            <a:off x="11002975" y="6428232"/>
            <a:ext cx="68580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A11</a:t>
            </a:r>
          </a:p>
        </p:txBody>
      </p:sp>
      <p:pic>
        <p:nvPicPr>
          <p:cNvPr id="10" name="Picture 9" descr="S24_interaction_canaux.png"/>
          <p:cNvPicPr>
            <a:picLocks noChangeAspect="1"/>
          </p:cNvPicPr>
          <p:nvPr/>
        </p:nvPicPr>
        <p:blipFill>
          <a:blip r:embed="rId3"/>
          <a:stretch>
            <a:fillRect/>
          </a:stretch>
        </p:blipFill>
        <p:spPr>
          <a:xfrm>
            <a:off x="749808" y="2104187"/>
            <a:ext cx="10692079" cy="3564026"/>
          </a:xfrm>
          <a:prstGeom prst="rect">
            <a:avLst/>
          </a:prstGeom>
        </p:spPr>
      </p:pic>
      <p:sp>
        <p:nvSpPr>
          <p:cNvPr id="11" name="TextBox 10"/>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10, figure S24 ; scripts 43 et 68.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0"/>
            <a:ext cx="566928" cy="841248"/>
          </a:xfrm>
          <a:custGeom>
            <a:avLst/>
            <a:gdLst/>
            <a:ahLst/>
            <a:cxnLst/>
            <a:rect l="l" t="t" r="r" b="b"/>
            <a:pathLst>
              <a:path w="566928" h="841248">
                <a:moveTo>
                  <a:pt x="0" y="0"/>
                </a:moveTo>
                <a:lnTo>
                  <a:pt x="566928" y="0"/>
                </a:lnTo>
                <a:lnTo>
                  <a:pt x="0" y="841248"/>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0"/>
            <a:ext cx="566928" cy="841248"/>
          </a:xfrm>
          <a:custGeom>
            <a:avLst/>
            <a:gdLst/>
            <a:ahLst/>
            <a:cxnLst/>
            <a:rect l="l" t="t" r="r" b="b"/>
            <a:pathLst>
              <a:path w="566928" h="841248">
                <a:moveTo>
                  <a:pt x="274320" y="0"/>
                </a:moveTo>
                <a:lnTo>
                  <a:pt x="566928" y="0"/>
                </a:lnTo>
                <a:lnTo>
                  <a:pt x="0" y="841248"/>
                </a:lnTo>
                <a:lnTo>
                  <a:pt x="0" y="438912"/>
                </a:lnTo>
                <a:close/>
              </a:path>
            </a:pathLst>
          </a:custGeom>
          <a:solidFill>
            <a:srgbClr val="B10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xialog.png"/>
          <p:cNvPicPr>
            <a:picLocks noChangeAspect="1"/>
          </p:cNvPicPr>
          <p:nvPr/>
        </p:nvPicPr>
        <p:blipFill>
          <a:blip r:embed="rId2"/>
          <a:stretch>
            <a:fillRect/>
          </a:stretch>
        </p:blipFill>
        <p:spPr>
          <a:xfrm>
            <a:off x="10207447" y="182880"/>
            <a:ext cx="1481328" cy="539496"/>
          </a:xfrm>
          <a:prstGeom prst="rect">
            <a:avLst/>
          </a:prstGeom>
        </p:spPr>
      </p:pic>
      <p:sp>
        <p:nvSpPr>
          <p:cNvPr id="6" name="TextBox 5"/>
          <p:cNvSpPr txBox="1"/>
          <p:nvPr/>
        </p:nvSpPr>
        <p:spPr>
          <a:xfrm>
            <a:off x="749808" y="201168"/>
            <a:ext cx="2743200" cy="237744"/>
          </a:xfrm>
          <a:prstGeom prst="rect">
            <a:avLst/>
          </a:prstGeom>
          <a:noFill/>
        </p:spPr>
        <p:txBody>
          <a:bodyPr wrap="square" lIns="0" rIns="0" tIns="0" bIns="0">
            <a:spAutoFit/>
          </a:bodyPr>
          <a:lstStyle/>
          <a:p>
            <a:pPr algn="l">
              <a:spcBef>
                <a:spcPts val="0"/>
              </a:spcBef>
            </a:pPr>
            <a:r>
              <a:rPr sz="1100" b="1" i="0">
                <a:solidFill>
                  <a:srgbClr val="B10031"/>
                </a:solidFill>
                <a:latin typeface="Segoe UI"/>
              </a:rPr>
              <a:t>ANNEXE 12</a:t>
            </a:r>
          </a:p>
        </p:txBody>
      </p:sp>
      <p:sp>
        <p:nvSpPr>
          <p:cNvPr id="7" name="TextBox 6"/>
          <p:cNvSpPr txBox="1"/>
          <p:nvPr/>
        </p:nvSpPr>
        <p:spPr>
          <a:xfrm>
            <a:off x="749808" y="475488"/>
            <a:ext cx="8954719" cy="512064"/>
          </a:xfrm>
          <a:prstGeom prst="rect">
            <a:avLst/>
          </a:prstGeom>
          <a:noFill/>
        </p:spPr>
        <p:txBody>
          <a:bodyPr wrap="square" lIns="0" rIns="0" tIns="0" bIns="0">
            <a:spAutoFit/>
          </a:bodyPr>
          <a:lstStyle/>
          <a:p>
            <a:pPr algn="l">
              <a:spcBef>
                <a:spcPts val="0"/>
              </a:spcBef>
            </a:pPr>
            <a:r>
              <a:rPr sz="2200" b="1" i="0">
                <a:solidFill>
                  <a:srgbClr val="223E55"/>
                </a:solidFill>
                <a:latin typeface="Georgia"/>
              </a:rPr>
              <a:t>L'ensemble d'identification partielle, tel qu'il est au mémoire</a:t>
            </a:r>
          </a:p>
        </p:txBody>
      </p:sp>
      <p:sp>
        <p:nvSpPr>
          <p:cNvPr id="8" name="TextBox 7"/>
          <p:cNvSpPr txBox="1"/>
          <p:nvPr/>
        </p:nvSpPr>
        <p:spPr>
          <a:xfrm>
            <a:off x="749808" y="950976"/>
            <a:ext cx="8954719" cy="347472"/>
          </a:xfrm>
          <a:prstGeom prst="rect">
            <a:avLst/>
          </a:prstGeom>
          <a:noFill/>
        </p:spPr>
        <p:txBody>
          <a:bodyPr wrap="square" lIns="0" rIns="0" tIns="0" bIns="0">
            <a:spAutoFit/>
          </a:bodyPr>
          <a:lstStyle/>
          <a:p>
            <a:pPr algn="l">
              <a:spcBef>
                <a:spcPts val="0"/>
              </a:spcBef>
            </a:pPr>
            <a:r>
              <a:rPr sz="1600" b="1" i="0">
                <a:solidFill>
                  <a:srgbClr val="B10031"/>
                </a:solidFill>
                <a:latin typeface="Georgia"/>
              </a:rPr>
              <a:t>Le pavé, la lecture centrale, la priorité robuste et la hiérarchie</a:t>
            </a:r>
          </a:p>
        </p:txBody>
      </p:sp>
      <p:sp>
        <p:nvSpPr>
          <p:cNvPr id="9" name="TextBox 8"/>
          <p:cNvSpPr txBox="1"/>
          <p:nvPr/>
        </p:nvSpPr>
        <p:spPr>
          <a:xfrm>
            <a:off x="11002975" y="6428232"/>
            <a:ext cx="685800" cy="256032"/>
          </a:xfrm>
          <a:prstGeom prst="rect">
            <a:avLst/>
          </a:prstGeom>
          <a:noFill/>
        </p:spPr>
        <p:txBody>
          <a:bodyPr wrap="square" lIns="0" rIns="0" tIns="0" bIns="0">
            <a:spAutoFit/>
          </a:bodyPr>
          <a:lstStyle/>
          <a:p>
            <a:pPr algn="r">
              <a:spcBef>
                <a:spcPts val="0"/>
              </a:spcBef>
            </a:pPr>
            <a:r>
              <a:rPr sz="1000" b="0" i="0">
                <a:solidFill>
                  <a:srgbClr val="A5A5A5"/>
                </a:solidFill>
                <a:latin typeface="Segoe UI"/>
              </a:rPr>
              <a:t>A12</a:t>
            </a:r>
          </a:p>
        </p:txBody>
      </p:sp>
      <p:pic>
        <p:nvPicPr>
          <p:cNvPr id="10" name="Picture 9" descr="Z_identification_partielle.png"/>
          <p:cNvPicPr>
            <a:picLocks noChangeAspect="1"/>
          </p:cNvPicPr>
          <p:nvPr/>
        </p:nvPicPr>
        <p:blipFill>
          <a:blip r:embed="rId3"/>
          <a:stretch>
            <a:fillRect/>
          </a:stretch>
        </p:blipFill>
        <p:spPr>
          <a:xfrm>
            <a:off x="3454025" y="1481328"/>
            <a:ext cx="5283645" cy="4809744"/>
          </a:xfrm>
          <a:prstGeom prst="rect">
            <a:avLst/>
          </a:prstGeom>
        </p:spPr>
      </p:pic>
      <p:sp>
        <p:nvSpPr>
          <p:cNvPr id="11" name="TextBox 10"/>
          <p:cNvSpPr txBox="1"/>
          <p:nvPr/>
        </p:nvSpPr>
        <p:spPr>
          <a:xfrm>
            <a:off x="566928" y="6428232"/>
            <a:ext cx="10051999" cy="256032"/>
          </a:xfrm>
          <a:prstGeom prst="rect">
            <a:avLst/>
          </a:prstGeom>
          <a:noFill/>
        </p:spPr>
        <p:txBody>
          <a:bodyPr wrap="square" lIns="0" rIns="0" tIns="0" bIns="0">
            <a:spAutoFit/>
          </a:bodyPr>
          <a:lstStyle/>
          <a:p>
            <a:pPr algn="l">
              <a:spcBef>
                <a:spcPts val="0"/>
              </a:spcBef>
            </a:pPr>
            <a:r>
              <a:rPr sz="900" b="0" i="1">
                <a:solidFill>
                  <a:srgbClr val="A5A5A5"/>
                </a:solidFill>
                <a:latin typeface="Segoe UI"/>
              </a:rPr>
              <a:t>Sources : mémoire, chapitre 9, figure Z ; scripts 30 et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