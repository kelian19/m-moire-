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Ne pas lire la slide. Se presenter, annoncer la duree, et poser la</a:t>
            </a:r>
          </a:p>
          <a:p>
            <a:r>
              <a:t>question tout de suite : combien coute en capital de ne pas se conformer a DORA,</a:t>
            </a:r>
          </a:p>
          <a:p>
            <a:r>
              <a:t>et jusqu'ou ce chiffre peut-il etre affirme.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Le point a faire passer est le MAILLON MANQUANT, pas le reglement. DORA</a:t>
            </a:r>
          </a:p>
          <a:p>
            <a:r>
              <a:t>impose la maitrise de cinq domaines depuis janvier 2025. Aucun module prudentiel</a:t>
            </a:r>
          </a:p>
          <a:p>
            <a:r>
              <a:t>ne traduit ce niveau de maitrise en capital : la Formule Standard charge le</a:t>
            </a:r>
          </a:p>
          <a:p>
            <a:r>
              <a:t>risque operationnel par un pourcentage de primes ou de provisions, donc elle donne</a:t>
            </a:r>
          </a:p>
          <a:p>
            <a:r>
              <a:t>le meme chiffre a une entite exemplaire et a une entite defaillante.</a:t>
            </a:r>
          </a:p>
          <a:p>
            <a:r>
              <a:t>Transition : « la question de ce memoire est donc celle du maillon du milieu.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[1:20] Insister sur la SECONDE moitie de la question. Beaucoup de memoires</a:t>
            </a:r>
          </a:p>
          <a:p>
            <a:r>
              <a:t>repondent a la premiere. Celui-ci mesure aussi ce qu'il ne peut pas affirmer, et</a:t>
            </a:r>
          </a:p>
          <a:p>
            <a:r>
              <a:t>c'est ce qui produit la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Ne PAS reciter le reglement. Le seul point : ce sont des domaines de</a:t>
            </a:r>
          </a:p>
          <a:p>
            <a:r>
              <a:t>CONTROLE, et ils interagissent. Les deux piliers en rouge, gouvernance et tiers,</a:t>
            </a:r>
          </a:p>
          <a:p>
            <a:r>
              <a:t>sont ceux qui emettent le plus dans la matrice calibree. Si on demande pourquoi,</a:t>
            </a:r>
          </a:p>
          <a:p>
            <a:r>
              <a:t>la reponse est au chapitre 6 et la figure est en sauvegarde.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C'est la slide qui PREPARE le coeur. Annoncer les deux colonnes, et</a:t>
            </a:r>
          </a:p>
          <a:p>
            <a:r>
              <a:t>surtout dire que la colonne de droite n'est pas un manque de donnees a combler</a:t>
            </a:r>
          </a:p>
          <a:p>
            <a:r>
              <a:t>par plus de donnees du meme type : elle est structurelle. La demonstration</a:t>
            </a:r>
          </a:p>
          <a:p>
            <a:r>
              <a:t>arrive deux slides plus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Donner la chaine complete en une fois, sans notation. Le point a ne pas</a:t>
            </a:r>
          </a:p>
          <a:p>
            <a:r>
              <a:t>rater : deux canaux CALIBRABLES, deux canaux BORNES. C'est la distinction qui</a:t>
            </a:r>
          </a:p>
          <a:p>
            <a:r>
              <a:t>revient a la fin sur les limites, et c'est elle qui interdit d'additionner les</a:t>
            </a:r>
          </a:p>
          <a:p>
            <a:r>
              <a:t>quatre leviers pour chiffrer une remediation partielle.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Le point intuitif : une gouvernance defaillante retarde la detection des</a:t>
            </a:r>
          </a:p>
          <a:p>
            <a:r>
              <a:t>incidents ; l'inverse n'est pas vrai au meme degre. Une dependance symetrique</a:t>
            </a:r>
          </a:p>
          <a:p>
            <a:r>
              <a:t>donne le meme nombre dans les deux sens, donc elle ne peut pas servir a</a:t>
            </a:r>
          </a:p>
          <a:p>
            <a:r>
              <a:t>prioriser une remediation. La cascade, si.</a:t>
            </a:r>
          </a:p>
          <a:p>
            <a:r>
              <a:t>Ne PAS entrer dans la normalisation de Leontief : slide de sauvegarde.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LA SLIDE DU MEMOIRE. Prendre le temps.</a:t>
            </a:r>
          </a:p>
          <a:p>
            <a:r>
              <a:t>Trois phrases : la matrice se decompose en symetrique plus antisymetrique ; la</a:t>
            </a:r>
          </a:p>
          <a:p>
            <a:r>
              <a:t>donnee identifie la co-occurrence, donc la partie symetrique ; une matrice et sa</a:t>
            </a:r>
          </a:p>
          <a:p>
            <a:r>
              <a:t>transposee sont indistinguables pour la donnee et donnent pourtant un capital et</a:t>
            </a:r>
          </a:p>
          <a:p>
            <a:r>
              <a:t>une decision DIFFERENTS.</a:t>
            </a:r>
          </a:p>
          <a:p>
            <a:r>
              <a:t>Dire explicitement : ce n'est pas un echec, c'est un resultat d'identification.</a:t>
            </a:r>
          </a:p>
          <a:p>
            <a:r>
              <a:t>Transition : « la question devient donc : que publie-t-on quand on ne peut pas</a:t>
            </a:r>
          </a:p>
          <a:p>
            <a:r>
              <a:t>identifier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Le mecanisme : plutot que de poser la direction, on borne le capital sur</a:t>
            </a:r>
          </a:p>
          <a:p>
            <a:r>
              <a:t>l'ENSEMBLE des matrices compatibles avec ce que la donnee identifie. 1 024</a:t>
            </a:r>
          </a:p>
          <a:p>
            <a:r>
              <a:t>sommets, enumeration exhaustive, donc pas un echantillonnage.</a:t>
            </a:r>
          </a:p>
          <a:p>
            <a:r>
              <a:t>Le point qui plait a un jury : le cout de l'ignorance est LINEAIRE et son maximum</a:t>
            </a:r>
          </a:p>
          <a:p>
            <a:r>
              <a:t>est connu d'avance, ce qui est plus favorable qu'un intervalle de confiance</a:t>
            </a:r>
          </a:p>
          <a:p>
            <a:r>
              <a:t>ordinaire.</a:t>
            </a:r>
          </a:p>
          <a:p>
            <a:r>
              <a:t>Precaution a exprimer : le NIVEAU affiche est illustratif ; c'est le rapport et la</a:t>
            </a:r>
          </a:p>
          <a:p>
            <a:r>
              <a:t>hierarchie qui sont defendus.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[1:40] Trois nombres, pas plus : 9 138, 14 139, 5 001.</a:t>
            </a:r>
          </a:p>
          <a:p>
            <a:r>
              <a:t>Dire le mecanisme : les canaux isoles ne somment pas au total parce que la</a:t>
            </a:r>
          </a:p>
          <a:p>
            <a:r>
              <a:t>cascade est super-additive SUR SES CANAUX. Ajouter aussitot la nuance qui evite</a:t>
            </a:r>
          </a:p>
          <a:p>
            <a:r>
              <a:t>une erreur : elle est quasi additive sur les PILIERS, et l'additivite des COUTS</a:t>
            </a:r>
          </a:p>
          <a:p>
            <a:r>
              <a:t>au sein d'un sinistre est une troisieme chose, une hypothese non testee.</a:t>
            </a:r>
          </a:p>
          <a:p>
            <a:r>
              <a:t>NE JAMAIS additionner les quatre leviers pour chiffrer une remediation partielle :</a:t>
            </a:r>
          </a:p>
          <a:p>
            <a:r>
              <a:t>deux des quatre sont des bornes posees, pas des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Distinguer les deux mecanismes, parce qu'un jury les confond souvent :</a:t>
            </a:r>
          </a:p>
          <a:p>
            <a:r>
              <a:t>la CONTAGION va d'un pilier a l'autre dans une meme entite ; l'ACCUMULATION vient</a:t>
            </a:r>
          </a:p>
          <a:p>
            <a:r>
              <a:t>d'un prestataire commun a plusieurs entites. Le modele porte les deux, par deux</a:t>
            </a:r>
          </a:p>
          <a:p>
            <a:r>
              <a:t>canaux differents.</a:t>
            </a:r>
          </a:p>
          <a:p>
            <a:r>
              <a:t>Reserve a exprimer si on insiste : le canal d'accumulation est une borne posee,</a:t>
            </a:r>
          </a:p>
          <a:p>
            <a:r>
              <a:t>pas une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[1:40] L'UNE DES DEUX SLIDES LES PLUS IMPORTANTES, avec la non-identifiabilite.</a:t>
            </a:r>
          </a:p>
          <a:p>
            <a:r>
              <a:t>C'est la que la limite devient un livrable : le modele ne dit pas seulement</a:t>
            </a:r>
          </a:p>
          <a:p>
            <a:r>
              <a:t>« il manque une donnee », il dit LAQUELLE et CE QU'ELLE RAPPORTE en resserrement</a:t>
            </a:r>
          </a:p>
          <a:p>
            <a:r>
              <a:t>de bande.</a:t>
            </a:r>
          </a:p>
          <a:p>
            <a:r>
              <a:t>C'est aussi la recommandation la plus directement actionnable par une direction</a:t>
            </a:r>
          </a:p>
          <a:p>
            <a:r>
              <a:t>des risques, et celle qu'une relecture de praticien a confirmee comme deja</a:t>
            </a:r>
          </a:p>
          <a:p>
            <a:r>
              <a:t>pratiquee sous une autre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[1:20] Les trois decisions, puis la mise en garde, qui est le vrai message.</a:t>
            </a:r>
          </a:p>
          <a:p>
            <a:r>
              <a:t>Si on demande un chiffre de retour sur investissement : le retour calcule sur le</a:t>
            </a:r>
          </a:p>
          <a:p>
            <a:r>
              <a:t>seul portage de capital est un MAJORANT, pas un plancher, parce que la seconde</a:t>
            </a:r>
          </a:p>
          <a:p>
            <a:r>
              <a:t>composante du benefice, la sinistralite evitee, n'est pas monetisee dans ce</a:t>
            </a:r>
          </a:p>
          <a:p>
            <a:r>
              <a:t>calcul. Ne pas donner le nombre d'annees sans dire le sens de la borne.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[1:10] Presenter les deux colonnes ENSEMBLE, jamais la gauche seule.</a:t>
            </a:r>
          </a:p>
          <a:p>
            <a:r>
              <a:t>Insister sur un point que le texte de l'Institut recompense explicitement : la</a:t>
            </a:r>
          </a:p>
          <a:p>
            <a:r>
              <a:t>non-transitivite, qui donnait son titre au projet, a ete REFUTEE par son auteur,</a:t>
            </a:r>
          </a:p>
          <a:p>
            <a:r>
              <a:t>et le chiffre d'entite a ete requalifie en borne superieure. Ce sont des</a:t>
            </a:r>
          </a:p>
          <a:p>
            <a:r>
              <a:t>resultats, pas des faiblesses.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Trois phrases, puis la phrase encadree, dite lentement et sans la lire mot</a:t>
            </a:r>
          </a:p>
          <a:p>
            <a:r>
              <a:t>a mot. C'est la derniere chose que le jury entend avant les questions : elle doit</a:t>
            </a:r>
          </a:p>
          <a:p>
            <a:r>
              <a:t>etre la reponse a la question posee au debut.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sobre. Garder l'architecture visible pendant les questions : elle sert de</a:t>
            </a:r>
          </a:p>
          <a:p>
            <a:r>
              <a:t>point d'appui pour repondre en montrant ou se situe la question.</a:t>
            </a:r>
          </a:p>
          <a:p>
            <a:r>
              <a:t>Les dix slides de sauvegarde suivent. Les appeler a la voix.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separation. Ne pas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jury demande la tracabilite : chaque nombre publie sort d'un script versionne, et un harnais verifie les 2 346 nombres du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qui desamorce la question sur les valeurs posees : la these ne depend pas de leur niveau mais de leur ORDRE, et la monotonie est demontree.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theoremes autorisent l'extrapolation au-dela du plus grand sinistre observe. L'ajustement passe Anderson-Darling et Kolmogorov-Smirnov. Le backtest hors echantillon valide la FORME de la queue ; le NIVEAU derive, et c'est declare.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Rayon spectral 0,506, taux de reproduction 0,054 : la cascade s'eteint. La normalisation de Leontief garantit que le pilier le plus prolifique engendre au plus g descendants directs.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corpus donne un signal de direction, mais il porte un biais de narration : une narration choisit un ordre. Le biais est MESURE, borne et non leve. Une relecture de praticien a donne un exemple compatible avec les deux explications, ce qui corrobore la frontiere et non la matrice.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etages a ne jamais fondre en une seule barre : le bruit de calcul, reductible par la machine ; l'incertitude de parametre, portable par un intervalle ; et l'ambiguite de famille, epistemique, qui ne se moyenne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Isolee, fermeture et Shapley repondent a trois questions differentes. Shapley est la seule colonne additive, mais c'est une CONVENTION d'attribution : deux canaux sur quatre sont des bornes, leur part n'est pas un budget. L'intuition suffit, ne pas ecrire la formule.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PIEGE DE PREMISSE FREQUENT. A l'etat non conforme, 62,31 % des sinistres touchent plus d'un pilier, contre 31,15 % a l'etat conforme. La loi est EXACTE, par enumeration de la progeniture, donc citable sans bruit.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Resultat contre-intuitif a assumer : la fragilite est dans l'ajustement de valeurs extremes, PAS dans la contagion. L'hypothese la plus lourde et non testee est l'additivite des couts au sein d'un sinistre.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en rouge est celle qui a produit une confusion en seance le 7 aout 2026 : le quantile de severite d'un sinistre n'est pas une mesure de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105783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223E55"/>
                </a:solidFill>
                <a:latin typeface="Segoe UI"/>
              </a:rPr>
              <a:t>Quand la contagion n'est pas identifiable :</a:t>
            </a:r>
          </a:p>
          <a:p>
            <a:pPr algn="l">
              <a:spcBef>
                <a:spcPts val="0"/>
              </a:spcBef>
            </a:pPr>
            <a:r>
              <a:rPr sz="4000" b="1" i="0">
                <a:solidFill>
                  <a:srgbClr val="1B1E30"/>
                </a:solidFill>
                <a:latin typeface="Segoe UI"/>
              </a:rPr>
              <a:t>borner le capital DORA plutôt que le poser</a:t>
            </a:r>
          </a:p>
          <a:p>
            <a:pPr algn="l">
              <a:spcBef>
                <a:spcPts val="1800"/>
              </a:spcBef>
            </a:pPr>
            <a:r>
              <a:rPr sz="2000" b="0" i="0">
                <a:solidFill>
                  <a:srgbClr val="595959"/>
                </a:solidFill>
                <a:latin typeface="Segoe UI"/>
              </a:rPr>
              <a:t>Quantification du besoin de capital lié à la non-conformité au règlement DORA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224528"/>
            <a:ext cx="2011680" cy="38100"/>
          </a:xfrm>
          <a:prstGeom prst="rect">
            <a:avLst/>
          </a:prstGeom>
          <a:solidFill>
            <a:srgbClr val="A60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0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i="0">
                <a:solidFill>
                  <a:srgbClr val="1B1E30"/>
                </a:solidFill>
                <a:latin typeface="Segoe UI"/>
              </a:rPr>
              <a:t>Kélian Kaddouri</a:t>
            </a:r>
          </a:p>
          <a:p>
            <a:pPr algn="l">
              <a:spcBef>
                <a:spcPts val="600"/>
              </a:spcBef>
            </a:pPr>
            <a:r>
              <a:rPr sz="1800" b="0" i="0">
                <a:solidFill>
                  <a:srgbClr val="595959"/>
                </a:solidFill>
                <a:latin typeface="Segoe UI"/>
              </a:rPr>
              <a:t>ENSAE Paris, filière Actuariat  ·  Nexialog Consulting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595959"/>
                </a:solidFill>
                <a:latin typeface="Segoe UI"/>
              </a:rPr>
              <a:t>Mémoire présenté devant l'ENSAE Paris pour l'obtention du diplôme de la filière Actuariat et l'admission à l'Institut des actuaires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DORA impose une maîtrise, aucun dispositif n'en fait du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48840"/>
            <a:ext cx="199339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Non-conformité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à un ou plusieurs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des cinq piliers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5184" y="2679192"/>
            <a:ext cx="256032" cy="237744"/>
          </a:xfrm>
          <a:prstGeom prst="rightArrow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148840"/>
            <a:ext cx="199339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Incident TIC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défaillance,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propagation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74336" y="2679192"/>
            <a:ext cx="256032" cy="237744"/>
          </a:xfrm>
          <a:prstGeom prst="rightArrow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85232" y="2148840"/>
            <a:ext cx="199339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Perte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opérationnelle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et cyber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33488" y="2679192"/>
            <a:ext cx="256032" cy="237744"/>
          </a:xfrm>
          <a:prstGeom prst="rightArrow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44384" y="2148840"/>
            <a:ext cx="199339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A6002E"/>
                </a:solidFill>
                <a:latin typeface="Segoe UI"/>
              </a:rPr>
              <a:t>Capital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exigence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de couverture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92640" y="2679192"/>
            <a:ext cx="256032" cy="237744"/>
          </a:xfrm>
          <a:prstGeom prst="rightArrow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03536" y="2148840"/>
            <a:ext cx="199339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Décision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remédier, détenir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ou transférer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8620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B1E30"/>
                </a:solidFill>
                <a:latin typeface="Segoe UI"/>
              </a:rPr>
              <a:t>La Formule Standard charge le risque opérationnel au forfait, donc elle est aveugle à la conformité.</a:t>
            </a:r>
          </a:p>
          <a:p>
            <a:pPr algn="l">
              <a:spcBef>
                <a:spcPts val="1000"/>
              </a:spcBef>
            </a:pPr>
            <a:r>
              <a:rPr sz="2200" b="0" i="0">
                <a:solidFill>
                  <a:srgbClr val="1B1E30"/>
                </a:solidFill>
                <a:latin typeface="Segoe UI"/>
              </a:rPr>
              <a:t>Un score qualitatif de conformité ne dit rien du capital qu'une direction des risques doit immobiliser.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Une exigence de maîtrise sans traduction prudentielle : c'est le vide que ce travail comble.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chapitres 1 et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Une question en deux temps, et trois apports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1">
                <a:solidFill>
                  <a:srgbClr val="A6002E"/>
                </a:solidFill>
                <a:latin typeface="Segoe UI"/>
              </a:rPr>
              <a:t>Combien coûte en capital de ne pas se conformer à DORA, et jusqu'où ce chiffre peut-il être affirmé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788920"/>
            <a:ext cx="35204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Méthodologique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Une cascade dirigée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entre domaines de contrôle,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trois propriétés démontrées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1688" y="2788920"/>
            <a:ext cx="35204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A6002E"/>
                </a:solidFill>
                <a:latin typeface="Segoe UI"/>
              </a:rPr>
              <a:t>Empirique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Une frontière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d'identifiabilité :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ce que la donnée ne dit pas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6448" y="2788920"/>
            <a:ext cx="35204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Opérationnelle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La donnée manquante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devient une exigence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de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La seconde moitié de la question fait le travail : elle interdit de publier une précision que la donnée ne porte 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1, section contribution et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Cinq domaines de contrôle, pas cinq cases à cocher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48840"/>
            <a:ext cx="199339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A6002E"/>
                </a:solidFill>
                <a:latin typeface="Segoe UI"/>
              </a:rPr>
              <a:t>P1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Gouvernance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du risque 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148840"/>
            <a:ext cx="199339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P2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Incidents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gestion, notification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5232" y="2148840"/>
            <a:ext cx="199339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P3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Tests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de résilience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44384" y="2148840"/>
            <a:ext cx="199339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A6002E"/>
                </a:solidFill>
                <a:latin typeface="Segoe UI"/>
              </a:rPr>
              <a:t>P4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Tiers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prestataires 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3536" y="2148840"/>
            <a:ext cx="199339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P5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Partage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sur les cybermenaces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B1E30"/>
                </a:solidFill>
                <a:latin typeface="Segoe UI"/>
              </a:rPr>
              <a:t>La défaillance de l'un dégrade la capacité de l'entité à tenir les autres : une gouvernance défaillante retarde la détection, une dépendance non maîtrisée ouvre une porte que les tests n'ont pas explorée.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La non-conformité ne reste pas dans son pilier : elle se propage. En rouge, les deux piliers qui émettent le 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chapitres 1 et 2 ; matrice de propagation, chapitre 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La donnée montre la co-occurrence, jamais la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57400"/>
            <a:ext cx="5394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2100" b="1" i="0">
                <a:solidFill>
                  <a:srgbClr val="4C79C7"/>
                </a:solidFill>
                <a:latin typeface="Segoe UI"/>
              </a:rPr>
              <a:t>Observable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Fréquence des incidents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Sévérité des pertes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Co-occurrence entre piliers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Structure par vecteur d'attaque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1928" y="2057400"/>
            <a:ext cx="5394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2100" b="1" i="0">
                <a:solidFill>
                  <a:srgbClr val="A6002E"/>
                </a:solidFill>
                <a:latin typeface="Segoe UI"/>
              </a:rPr>
              <a:t>Non identifiable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La DIRECTION de la contagion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Quel pilier entraîne l'autre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Une matrice et sa transposée</a:t>
            </a:r>
          </a:p>
          <a:p>
            <a:pPr algn="ctr">
              <a:spcBef>
                <a:spcPts val="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sont indistinguables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262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B1E30"/>
                </a:solidFill>
                <a:latin typeface="Segoe UI"/>
              </a:rPr>
              <a:t>Sept sources, chacune avec son statut de preuve déclaré, de la base versionnée et rejouable à la citation externe non recalculable.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Cette limite n'est pas un défaut du dispositif de données : elle est structurelle, et elle commande la suite.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4 (sources et statuts de preuve) et chapitre 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D'un état de conformité à une décision, en quatre étages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2514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État de conformité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par pilier,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chaîne de Markov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18104" y="2670048"/>
            <a:ext cx="256032" cy="237744"/>
          </a:xfrm>
          <a:prstGeom prst="rightArrow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10712" y="2103120"/>
            <a:ext cx="2514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A6002E"/>
                </a:solidFill>
                <a:latin typeface="Segoe UI"/>
              </a:rPr>
              <a:t>Quatre canaux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fréquence, détection,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propagation, accumulation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2670048"/>
            <a:ext cx="256032" cy="237744"/>
          </a:xfrm>
          <a:prstGeom prst="rightArrow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4496" y="2103120"/>
            <a:ext cx="2514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Perte annuelle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fréquence × sévérité,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cascade entre piliers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05672" y="2670048"/>
            <a:ext cx="256032" cy="237744"/>
          </a:xfrm>
          <a:prstGeom prst="rightArrow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98280" y="2103120"/>
            <a:ext cx="25146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Capital et décision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quantile à 99,5 %,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1B1E30"/>
                </a:solidFill>
                <a:latin typeface="Segoe UI"/>
              </a:rPr>
              <a:t>remédier ou transférer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86200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B1E30"/>
                </a:solidFill>
                <a:latin typeface="Segoe UI"/>
              </a:rPr>
              <a:t>Deux canaux sont calibrables sur données, la fréquence et la détection. Deux sont des bornes posées, la propagation et l'accumulation tiers.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Le modèle est partiellement calibré et partiellement borné, et le document dit lequel est lequel.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chapitres 5 à 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L'ordre de propagation change la criticité, une copule ne le voit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1_reseau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20" y="1828800"/>
            <a:ext cx="8091054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Une copule capture la co-occurrence des pertes, mais symétriquement : elle ne distingue pas ce qui entraîne de ce qui subit.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6 ; figure produite par le script 29 ; comparaison au jumeau copule, chapitre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A6002E"/>
                </a:solidFill>
                <a:latin typeface="Segoe UI"/>
              </a:rPr>
              <a:t>La direction n'est pas identifiable, et c'est un résultat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11_reversibilite_marting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130491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73368" y="1965960"/>
            <a:ext cx="5251399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La matrice se décompose en une partie symétrique et une partie antisymétrique.</a:t>
            </a:r>
          </a:p>
          <a:p>
            <a:pPr algn="l">
              <a:spcBef>
                <a:spcPts val="1600"/>
              </a:spcBef>
            </a:pPr>
            <a:r>
              <a:rPr sz="2100" b="1" i="0">
                <a:solidFill>
                  <a:srgbClr val="223E55"/>
                </a:solidFill>
                <a:latin typeface="Segoe UI"/>
              </a:rPr>
              <a:t>La donnée identifie la première, la co-occurrence.</a:t>
            </a:r>
          </a:p>
          <a:p>
            <a:pPr algn="l">
              <a:spcBef>
                <a:spcPts val="1200"/>
              </a:spcBef>
            </a:pPr>
            <a:r>
              <a:rPr sz="2100" b="1" i="0">
                <a:solidFill>
                  <a:srgbClr val="A6002E"/>
                </a:solidFill>
                <a:latin typeface="Segoe UI"/>
              </a:rPr>
              <a:t>Elle n'identifie pas la seconde, la direction.</a:t>
            </a:r>
          </a:p>
          <a:p>
            <a:pPr algn="l">
              <a:spcBef>
                <a:spcPts val="160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Une matrice et sa transposée sont indistinguables pour la donnée, et donnent pourtant un capital et une décision différents.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Ce n'est pas un échec du modèle : c'est ce qui interdit de publier une direction comme si elle avait été observée.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8 ; script 40.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Du point à la bande : borner plutôt que poser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_identification_parti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4269105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73368" y="2011680"/>
            <a:ext cx="525139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B1E30"/>
                </a:solidFill>
                <a:latin typeface="Segoe UI"/>
              </a:rPr>
              <a:t>Plutôt que de poser la direction, le capital est borné sur l'ensemble des matrices admissibles.</a:t>
            </a:r>
          </a:p>
          <a:p>
            <a:pPr algn="l">
              <a:spcBef>
                <a:spcPts val="1600"/>
              </a:spcBef>
            </a:pPr>
            <a:r>
              <a:rPr sz="2200" b="1" i="0">
                <a:solidFill>
                  <a:srgbClr val="223E55"/>
                </a:solidFill>
                <a:latin typeface="Segoe UI"/>
              </a:rPr>
              <a:t>1 024 sommets, énumérés exhaustivement</a:t>
            </a:r>
          </a:p>
          <a:p>
            <a:pPr algn="l">
              <a:spcBef>
                <a:spcPts val="1600"/>
              </a:spcBef>
            </a:pPr>
            <a:r>
              <a:rPr sz="2000" b="0" i="0">
                <a:solidFill>
                  <a:srgbClr val="1B1E30"/>
                </a:solidFill>
                <a:latin typeface="Segoe UI"/>
              </a:rPr>
              <a:t>L'ignorance directionnelle se paye linéairement, et son coût maximal est connu d'avance : c'est plus favorable qu'un intervalle de confiance ordinaire.</a:t>
            </a:r>
          </a:p>
          <a:p>
            <a:pPr algn="l">
              <a:spcBef>
                <a:spcPts val="1600"/>
              </a:spcBef>
            </a:pPr>
            <a:r>
              <a:rPr sz="2000" b="1" i="0">
                <a:solidFill>
                  <a:srgbClr val="A6002E"/>
                </a:solidFill>
                <a:latin typeface="Segoe UI"/>
              </a:rPr>
              <a:t>Le niveau affiché reste illustratif.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La bande est le résultat rigoureux : elle quantifie une incertitude structurelle au lieu de la masquer.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9 ; scripts 30 et 40.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Quatre canaux déplacés, et leurs effets ne s'additionnent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24_interaction_cana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737360"/>
            <a:ext cx="82296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553712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 i="0">
                <a:solidFill>
                  <a:srgbClr val="1B1E30"/>
                </a:solidFill>
                <a:latin typeface="Segoe UI"/>
              </a:rPr>
              <a:t>Au secteur : besoin de capital de 6 049 à 20 188 M€, facteur 3,34. La non-conformité n'ajoute aucune pénalité, elle déplace quatre paramètres de la loi de perte.</a:t>
            </a:r>
          </a:p>
          <a:p>
            <a:pPr algn="l">
              <a:spcBef>
                <a:spcPts val="1000"/>
              </a:spcBef>
            </a:pPr>
            <a:r>
              <a:rPr sz="2100" b="1" i="0">
                <a:solidFill>
                  <a:srgbClr val="A6002E"/>
                </a:solidFill>
                <a:latin typeface="Segoe UI"/>
              </a:rPr>
              <a:t>Canaux isolés  9 138 M€        Écart total  14 139 M€        Interaction  5 001 M€, soit 35 %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Remédier un canal rapporte davantage à une entité défaillante partout : c'est la colonne de fermeture qu'un plan doit citer.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10 ; scripts 43 et 68.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Le pilier des tiers concentre, il ne propage pas seulement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9_p4_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802" y="1783080"/>
            <a:ext cx="9338091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85232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B1E30"/>
                </a:solidFill>
                <a:latin typeface="Segoe UI"/>
              </a:rPr>
              <a:t>Un prestataire commun crée un choc partagé entre entités : ce n'est plus de la contagion, c'est de l'accumulation.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C'est exactement ce que DORA demande de cartographier : la dépendance à des prestataires TIC critiques.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annexe C (adaptations par pilier) ; script 22.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La donnée manquante devient une exigence de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18_valeur_in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610885" cy="3886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73368" y="2011680"/>
            <a:ext cx="525139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Quatre champs de registre, hiérarchisés par ce qu'ils resserrent :</a:t>
            </a:r>
          </a:p>
          <a:p>
            <a:pPr algn="l">
              <a:spcBef>
                <a:spcPts val="1200"/>
              </a:spcBef>
            </a:pPr>
            <a:r>
              <a:rPr sz="2200" b="1" i="0">
                <a:solidFill>
                  <a:srgbClr val="A6002E"/>
                </a:solidFill>
                <a:latin typeface="Segoe UI"/>
              </a:rPr>
              <a:t>·  horodatage des incidents</a:t>
            </a:r>
          </a:p>
          <a:p>
            <a:pPr algn="l">
              <a:spcBef>
                <a:spcPts val="1200"/>
              </a:spcBef>
            </a:pPr>
            <a:r>
              <a:rPr sz="2200" b="1" i="0">
                <a:solidFill>
                  <a:srgbClr val="A6002E"/>
                </a:solidFill>
                <a:latin typeface="Segoe UI"/>
              </a:rPr>
              <a:t>·  domaine de contrôle touché</a:t>
            </a:r>
          </a:p>
          <a:p>
            <a:pPr algn="l">
              <a:spcBef>
                <a:spcPts val="1200"/>
              </a:spcBef>
            </a:pPr>
            <a:r>
              <a:rPr sz="2200" b="1" i="0">
                <a:solidFill>
                  <a:srgbClr val="A6002E"/>
                </a:solidFill>
                <a:latin typeface="Segoe UI"/>
              </a:rPr>
              <a:t>·  cause commune consolidée</a:t>
            </a:r>
          </a:p>
          <a:p>
            <a:pPr algn="l">
              <a:spcBef>
                <a:spcPts val="1200"/>
              </a:spcBef>
            </a:pPr>
            <a:r>
              <a:rPr sz="2200" b="1" i="0">
                <a:solidFill>
                  <a:srgbClr val="A6002E"/>
                </a:solidFill>
                <a:latin typeface="Segoe UI"/>
              </a:rPr>
              <a:t>·  champs renseignés obligatoires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Le registre d'incidents devient un instrument de capital : chaque champ renseigné resserre la bande.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12 ; script 55.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Trois décisions, et une confusion à ne pas commettre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Remédier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Prioriser les canaux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calibrables :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fréquence et détection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61688" y="210312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Détenir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Le capital immobilisé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coûte chaque année,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pas une seule fois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6448" y="2103120"/>
            <a:ext cx="3520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4C79C7"/>
                </a:solidFill>
                <a:latin typeface="Segoe UI"/>
              </a:rPr>
              <a:t>Transférer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Comparer au prix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de marché du même</a:t>
            </a: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1B1E30"/>
                </a:solidFill>
                <a:latin typeface="Segoe UI"/>
              </a:rPr>
              <a:t>risque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6052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 i="0">
                <a:solidFill>
                  <a:srgbClr val="A6002E"/>
                </a:solidFill>
                <a:latin typeface="Segoe UI"/>
              </a:rPr>
              <a:t>Une borne de capital n'est pas un budget de remédiation : deux des quatre canaux sont des bornes posées, et leur part n'est pas une enveloppe à dépenser.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Le bénéfice d'une remédiation a deux composantes, et la plus grosse n'est pas le capital libéré mais la perte évitée.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10 ; scripts 50 et 83.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Ce que ce travail n'établit pas, et ce qui tient malgré cela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1168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2000" b="1" i="0">
                <a:solidFill>
                  <a:srgbClr val="A6002E"/>
                </a:solidFill>
                <a:latin typeface="Segoe UI"/>
              </a:rPr>
              <a:t>Non établi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Direction de contagion non identifiée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Niveau absolu illustratif,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borne supérieure à l'entité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Incertitude de queue large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Deux canaux bornés, non calibrés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1928" y="201168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2000" b="1" i="0">
                <a:solidFill>
                  <a:srgbClr val="4C79C7"/>
                </a:solidFill>
                <a:latin typeface="Segoe UI"/>
              </a:rPr>
              <a:t>Établi malgré cela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Le signe et l'ordre de l'écart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La hiérarchie des piliers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Le cadre de bornage et son coût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La recommandation de reporting</a:t>
            </a:r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1B1E30"/>
                </a:solidFill>
                <a:latin typeface="Segoe UI"/>
              </a:rPr>
              <a:t>La priorité de collecte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50992"/>
            <a:ext cx="110578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223E55"/>
                </a:solidFill>
                <a:latin typeface="Segoe UI"/>
              </a:rPr>
              <a:t>À retenir  Ces limites sont publiées, pas concédées : une thèse de départ a été réfutée par son auteur et un chiffre requalifié en borne.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11, table des limites en deux colonnes.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Trois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1105783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1B1E30"/>
                </a:solidFill>
                <a:latin typeface="Segoe UI"/>
              </a:rPr>
              <a:t>1.  La non-conformité à DORA se traduit en coût de risque et en capital, par le déplacement de quatre paramètres de la loi de perte.</a:t>
            </a:r>
          </a:p>
          <a:p>
            <a:pPr algn="l">
              <a:spcBef>
                <a:spcPts val="2000"/>
              </a:spcBef>
            </a:pPr>
            <a:r>
              <a:rPr sz="2400" b="0" i="0">
                <a:solidFill>
                  <a:srgbClr val="1B1E30"/>
                </a:solidFill>
                <a:latin typeface="Segoe UI"/>
              </a:rPr>
              <a:t>2.  La dépendance directionnelle ne doit pas être calibrée sur des données qui ne l'identifient pas.</a:t>
            </a:r>
          </a:p>
          <a:p>
            <a:pPr algn="l">
              <a:spcBef>
                <a:spcPts val="2000"/>
              </a:spcBef>
            </a:pPr>
            <a:r>
              <a:rPr sz="2400" b="0" i="0">
                <a:solidFill>
                  <a:srgbClr val="1B1E30"/>
                </a:solidFill>
                <a:latin typeface="Segoe UI"/>
              </a:rPr>
              <a:t>3.  La limite de données devient une recommandation actionnable pour l'entité et pour le régulateur.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800600"/>
            <a:ext cx="11057839" cy="868680"/>
          </a:xfrm>
          <a:prstGeom prst="rect">
            <a:avLst/>
          </a:prstGeom>
          <a:solidFill>
            <a:srgbClr val="F6ECEE"/>
          </a:solidFill>
          <a:ln w="19050">
            <a:solidFill>
              <a:srgbClr val="A60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</a:pPr>
            <a:r>
              <a:rPr sz="2100" b="1" i="0">
                <a:solidFill>
                  <a:srgbClr val="A6002E"/>
                </a:solidFill>
                <a:latin typeface="Segoe UI"/>
              </a:rPr>
              <a:t>Quand la dépendance n'est pas identifiable, la bonne réponse actuarielle n'est pas la fausse précision : c'est une borne, une hiérarchie de données et une décision mieux informée.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5400" b="1" i="0">
                <a:solidFill>
                  <a:srgbClr val="1B1E30"/>
                </a:solidFill>
                <a:latin typeface="Segoe UI"/>
              </a:rPr>
              <a:t>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0"/>
            <a:ext cx="2514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Conformité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3410712" y="4023360"/>
            <a:ext cx="2514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Quatre canaux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4496" y="4023360"/>
            <a:ext cx="2514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Perte annuelle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098280" y="4023360"/>
            <a:ext cx="2514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C7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4C79C7"/>
                </a:solidFill>
                <a:latin typeface="Segoe UI"/>
              </a:rPr>
              <a:t>Capital borné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Slides de sauvegarde disponibles : sources, paramètres, sévérité, cascade, identifiabilité, bande, canaux, tiers, limites, glossaire.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0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4000" b="1" i="0">
                <a:solidFill>
                  <a:srgbClr val="223E55"/>
                </a:solidFill>
                <a:latin typeface="Segoe UI"/>
              </a:rPr>
              <a:t>Annexes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Sept sources, et chacune avec son statut de preuve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36118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 i="0">
                <a:solidFill>
                  <a:srgbClr val="223E55"/>
                </a:solidFill>
                <a:latin typeface="Segoe UI"/>
              </a:rPr>
              <a:t>Sévérité en euros : base internationale de pertes opérationnelles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Chronologie de brèches : fréquence et étude d'événement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Corpus de rapports post-mortem : structure de la direction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États réglementaires publiés : quatre bilans réels, anonymisés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Comptage d'incidents par vecteur : structure, jamais niveau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Étude de marché cyberassurance : contexte, aucune calibration</a:t>
            </a:r>
          </a:p>
          <a:p>
            <a:pPr algn="l">
              <a:spcBef>
                <a:spcPts val="1400"/>
              </a:spcBef>
            </a:pPr>
            <a:r>
              <a:rPr sz="2100" b="1" i="0">
                <a:solidFill>
                  <a:srgbClr val="223E55"/>
                </a:solidFill>
                <a:latin typeface="Segoe UI"/>
              </a:rPr>
              <a:t>Deux statuts distingués : versionné et rejouable, ou citation externe non recalculable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4 ; scripts 62 et 63.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Les paramètres, et ce qui est estimé, posé ou gelé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36118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Sévérité : loi de Pareto généralisée au-delà du seuil, indice de queue 0,5954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Seuil 20,03 M€, 91 excès, calibration gelée depuis le 7 août 2026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Fréquence : binomiale négative, validée hors échantillon</a:t>
            </a:r>
          </a:p>
          <a:p>
            <a:pPr algn="l">
              <a:spcBef>
                <a:spcPts val="1400"/>
              </a:spcBef>
            </a:pPr>
            <a:r>
              <a:rPr sz="2100" b="1" i="0">
                <a:solidFill>
                  <a:srgbClr val="223E55"/>
                </a:solidFill>
                <a:latin typeface="Segoe UI"/>
              </a:rPr>
              <a:t>Gain de propagation : trois valeurs POSÉES, 0,45 / 0,68 / 0,90</a:t>
            </a:r>
          </a:p>
          <a:p>
            <a:pPr algn="l">
              <a:spcBef>
                <a:spcPts val="1400"/>
              </a:spcBef>
            </a:pPr>
            <a:r>
              <a:rPr sz="2100" b="1" i="0">
                <a:solidFill>
                  <a:srgbClr val="223E55"/>
                </a:solidFill>
                <a:latin typeface="Segoe UI"/>
              </a:rPr>
              <a:t>Le capital est croissant en ce gain : l'ordre suffit, l'amplitude est un scénario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annexe D ; scripts 07, 08b, 63 et 66.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Pourquoi une loi de valeurs extrêmes pour la sévérité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3_validation_ad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631" y="1828800"/>
            <a:ext cx="7318433" cy="41147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5 ; scripts 07 et 47.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La cascade est un processus de branchement sous-critique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3_branchement_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11057839" cy="40922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6 ; script 03.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Ce que le corpus documentaire corrobore, et ce qu'il ne lève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17_postmortem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36" y="1828800"/>
            <a:ext cx="4063823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8 ; scripts 53, 59 et 64.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La bande de capital et ses trois étages d'incertitude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4_bande_mod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11057839" cy="33707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11 ; script 48.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L'attribution par canal : trois lectures, non interchangeables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15_allocation_shapley_e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10" y="1828800"/>
            <a:ext cx="1032787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chapitre 10 ; scripts 68 et 82.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Défaillances simultanées : une sortie du modèle, pas une lacune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30_defaillances_simulta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11057839" cy="39931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annexe D ; script 74.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Les hypothèses, par ordre de ce qu'elles coûtent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32_tornado_normal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annexe D ; scripts 76 et 81.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B1E30"/>
                </a:solidFill>
                <a:latin typeface="Segoe UI"/>
              </a:rPr>
              <a:t>Glossaire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38100"/>
          </a:xfrm>
          <a:prstGeom prst="rect">
            <a:avLst/>
          </a:prstGeom>
          <a:solidFill>
            <a:srgbClr val="4C7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36118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DORA : règlement européen sur la résilience opérationnelle numérique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SCR : capital de solvabilité requis sous Solvabilité II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VaR : quantile de la charge annuelle agrégée, ici à 99,5 %</a:t>
            </a:r>
          </a:p>
          <a:p>
            <a:pPr algn="l">
              <a:spcBef>
                <a:spcPts val="1400"/>
              </a:spcBef>
            </a:pPr>
            <a:r>
              <a:rPr sz="2100" b="1" i="0">
                <a:solidFill>
                  <a:srgbClr val="223E55"/>
                </a:solidFill>
                <a:latin typeface="Segoe UI"/>
              </a:rPr>
              <a:t>Quantile de sévérité : quantile d'un sinistre isolé, ce n'est pas un capital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GPD : loi de Pareto généralisée, pour les excès au-delà d'un seuil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Copule : structure de dépendance symétrique, sans direction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Shapley : convention d'attribution d'un effet total entre leviers</a:t>
            </a:r>
          </a:p>
          <a:p>
            <a:pPr algn="l">
              <a:spcBef>
                <a:spcPts val="1400"/>
              </a:spcBef>
            </a:pPr>
            <a:r>
              <a:rPr sz="2100" b="0" i="0">
                <a:solidFill>
                  <a:srgbClr val="1B1E30"/>
                </a:solidFill>
                <a:latin typeface="Segoe UI"/>
              </a:rPr>
              <a:t>Cascade : propagation dirigée entre domaines de contrôle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95959"/>
                </a:solidFill>
                <a:latin typeface="Segoe UI"/>
              </a:rPr>
              <a:t>Source : mémoire, annexe F, table des notations.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